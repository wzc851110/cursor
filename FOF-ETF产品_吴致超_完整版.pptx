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5"/>
  </p:notesMasterIdLst>
  <p:sldIdLst>
    <p:sldId id="515" r:id="rId3"/>
    <p:sldId id="516" r:id="rId4"/>
    <p:sldId id="517" r:id="rId5"/>
    <p:sldId id="557" r:id="rId6"/>
    <p:sldId id="549" r:id="rId7"/>
    <p:sldId id="552" r:id="rId8"/>
    <p:sldId id="548" r:id="rId9"/>
    <p:sldId id="538" r:id="rId10"/>
    <p:sldId id="573" r:id="rId31"/>
    <p:sldId id="553" r:id="rId11"/>
    <p:sldId id="568" r:id="rId12"/>
    <p:sldId id="567" r:id="rId13"/>
    <p:sldId id="574" r:id="rId32"/>
    <p:sldId id="575" r:id="rId33"/>
    <p:sldId id="558" r:id="rId14"/>
    <p:sldId id="559" r:id="rId17"/>
    <p:sldId id="576" r:id="rId34"/>
    <p:sldId id="577" r:id="rId35"/>
    <p:sldId id="560" r:id="rId18"/>
    <p:sldId id="572" r:id="rId16"/>
    <p:sldId id="571" r:id="rId15"/>
    <p:sldId id="578" r:id="rId36"/>
    <p:sldId id="579" r:id="rId37"/>
    <p:sldId id="580" r:id="rId38"/>
    <p:sldId id="581" r:id="rId39"/>
    <p:sldId id="582" r:id="rId40"/>
    <p:sldId id="583" r:id="rId41"/>
    <p:sldId id="566" r:id="rId19"/>
    <p:sldId id="584" r:id="rId42"/>
    <p:sldId id="556" r:id="rId20"/>
    <p:sldId id="561" r:id="rId21"/>
    <p:sldId id="569" r:id="rId22"/>
    <p:sldId id="570" r:id="rId23"/>
    <p:sldId id="530" r:id="rId2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3841602-D983-41EB-B9B4-BC5F99B58A65}">
          <p14:sldIdLst>
            <p14:sldId id="515"/>
            <p14:sldId id="516"/>
            <p14:sldId id="517"/>
            <p14:sldId id="557"/>
            <p14:sldId id="549"/>
            <p14:sldId id="552"/>
            <p14:sldId id="548"/>
            <p14:sldId id="538"/>
            <p14:sldId id="553"/>
            <p14:sldId id="568"/>
            <p14:sldId id="567"/>
            <p14:sldId id="558"/>
            <p14:sldId id="571"/>
            <p14:sldId id="572"/>
            <p14:sldId id="559"/>
            <p14:sldId id="560"/>
            <p14:sldId id="566"/>
            <p14:sldId id="556"/>
            <p14:sldId id="561"/>
            <p14:sldId id="569"/>
            <p14:sldId id="570"/>
          </p14:sldIdLst>
        </p14:section>
        <p14:section name="无标题节" id="{F5CCCAB9-007F-40C4-B68E-39603950C953}">
          <p14:sldIdLst>
            <p14:sldId id="53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0" clrIdx="0"/>
  <p:cmAuthor id="2" name="刘思蜀" initials="刘思蜀" lastIdx="0" clrIdx="1"/>
  <p:cmAuthor id="3" name="作者" initials="A" lastIdx="0" clrIdx="2"/>
  <p:cmAuthor id="4" name="reny" initials="r" lastIdx="0" clrIdx="3"/>
  <p:cmAuthor id="5" name="Evelyn Sun" initials="ES" lastIdx="0" clrIdx="4"/>
  <p:cmAuthor id="6" name="王 超特" initials="王" lastIdx="0" clrIdx="5"/>
  <p:cmAuthor id="7" name="DELL" initials="D" lastIdx="0" clrIdx="6"/>
  <p:cmAuthor id="8" name="未知" initials="未" lastIdx="0" clrIdx="7"/>
  <p:cmAuthor id="9" name="Sysceo.com" initials="S" lastIdx="0" clrIdx="8"/>
  <p:cmAuthor id="10" name="何文" initials="何文" lastIdx="0" clrIdx="9"/>
  <p:cmAuthor id="11" name="peng Jingtao" initials="pJ" lastIdx="0" clrIdx="10"/>
  <p:cmAuthor id="12" name="123" initials="p" lastIdx="0" clrIdx="11"/>
  <p:cmAuthor id="13" name="程 诗寒" initials="诗程" lastIdx="0" clrIdx="12"/>
  <p:cmAuthor id="14" name="Houru LI" initials="H" lastIdx="0" clrIdx="13"/>
  <p:cmAuthor id="15" name="gaoyu" initials="g" lastIdx="0" clrIdx="1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3835"/>
    <a:srgbClr val="F0F0F0"/>
    <a:srgbClr val="6E6E6E"/>
    <a:srgbClr val="F2F2F2"/>
    <a:srgbClr val="D8D5DA"/>
    <a:srgbClr val="F4F4F4"/>
    <a:srgbClr val="C337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96" autoAdjust="0"/>
    <p:restoredTop sz="68102" autoAdjust="0"/>
  </p:normalViewPr>
  <p:slideViewPr>
    <p:cSldViewPr snapToGrid="0" showGuides="1">
      <p:cViewPr varScale="1">
        <p:scale>
          <a:sx n="57" d="100"/>
          <a:sy n="57" d="100"/>
        </p:scale>
        <p:origin x="1230" y="4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3984"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1.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rgbClr val="C00000"/>
                </a:solidFill>
                <a:latin typeface="+mn-lt"/>
                <a:ea typeface="+mn-ea"/>
                <a:cs typeface="+mn-cs"/>
              </a:defRPr>
            </a:pPr>
            <a:r>
              <a:rPr lang="zh-CN" altLang="en-US" dirty="0">
                <a:solidFill>
                  <a:srgbClr val="C00000"/>
                </a:solidFill>
              </a:rPr>
              <a:t>多维度基金评价</a:t>
            </a:r>
          </a:p>
        </c:rich>
      </c:tx>
      <c:layout/>
      <c:overlay val="0"/>
      <c:spPr>
        <a:noFill/>
        <a:ln>
          <a:noFill/>
        </a:ln>
        <a:effectLst/>
      </c:spPr>
      <c:txPr>
        <a:bodyPr rot="0" spcFirstLastPara="1" vertOverflow="ellipsis" vert="horz" wrap="square" anchor="ctr" anchorCtr="1"/>
        <a:lstStyle/>
        <a:p>
          <a:pPr>
            <a:defRPr lang="zh-CN" sz="1860" b="0" i="0" u="none" strike="noStrike" kern="1200" spc="0" baseline="0">
              <a:solidFill>
                <a:srgbClr val="C00000"/>
              </a:solidFill>
              <a:latin typeface="+mn-lt"/>
              <a:ea typeface="+mn-ea"/>
              <a:cs typeface="+mn-cs"/>
            </a:defRPr>
          </a:pPr>
          <a:endParaRPr lang="zh-CN"/>
        </a:p>
      </c:txPr>
    </c:title>
    <c:autoTitleDeleted val="0"/>
    <c:plotArea>
      <c:layout/>
      <c:doughnutChart>
        <c:varyColors val="1"/>
        <c:ser>
          <c:idx val="0"/>
          <c:order val="0"/>
          <c:tx>
            <c:strRef>
              <c:f>Sheet1!$B$1</c:f>
              <c:strCache>
                <c:ptCount val="1"/>
                <c:pt idx="0">
                  <c:v>多维度评价</c:v>
                </c:pt>
              </c:strCache>
            </c:strRef>
          </c:tx>
          <c:dPt>
            <c:idx val="0"/>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1-929C-4B25-9313-A006AC553E64}"/>
              </c:ext>
            </c:extLst>
          </c:dPt>
          <c:dPt>
            <c:idx val="1"/>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3-929C-4B25-9313-A006AC553E64}"/>
              </c:ext>
            </c:extLst>
          </c:dPt>
          <c:dPt>
            <c:idx val="2"/>
            <c:bubble3D val="0"/>
            <c:spPr>
              <a:solidFill>
                <a:schemeClr val="accent6"/>
              </a:solidFill>
              <a:ln w="19050">
                <a:solidFill>
                  <a:schemeClr val="lt1"/>
                </a:solidFill>
              </a:ln>
              <a:effectLst/>
            </c:spPr>
            <c:extLst xmlns:c16r2="http://schemas.microsoft.com/office/drawing/2015/06/chart">
              <c:ext xmlns:c16="http://schemas.microsoft.com/office/drawing/2014/chart" uri="{C3380CC4-5D6E-409C-BE32-E72D297353CC}">
                <c16:uniqueId val="{00000005-929C-4B25-9313-A006AC553E64}"/>
              </c:ext>
            </c:extLst>
          </c:dPt>
          <c:dPt>
            <c:idx val="3"/>
            <c:bubble3D val="0"/>
            <c:spPr>
              <a:solidFill>
                <a:schemeClr val="accent2">
                  <a:lumMod val="6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7-929C-4B25-9313-A006AC553E64}"/>
              </c:ext>
            </c:extLst>
          </c:dPt>
          <c:dPt>
            <c:idx val="4"/>
            <c:bubble3D val="0"/>
            <c:spPr>
              <a:solidFill>
                <a:schemeClr val="accent4">
                  <a:lumMod val="6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9-929C-4B25-9313-A006AC553E64}"/>
              </c:ext>
            </c:extLst>
          </c:dPt>
          <c:dPt>
            <c:idx val="5"/>
            <c:bubble3D val="0"/>
            <c:spPr>
              <a:solidFill>
                <a:schemeClr val="accent6">
                  <a:lumMod val="6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B-929C-4B25-9313-A006AC553E64}"/>
              </c:ext>
            </c:extLst>
          </c:dPt>
          <c:cat>
            <c:numRef>
              <c:f>Sheet1!$A$2:$A$7</c:f>
              <c:numCache>
                <c:formatCode>General</c:formatCode>
                <c:ptCount val="6"/>
              </c:numCache>
            </c:numRef>
          </c:cat>
          <c:val>
            <c:numRef>
              <c:f>Sheet1!$B$2:$B$7</c:f>
              <c:numCache>
                <c:formatCode>General</c:formatCode>
                <c:ptCount val="6"/>
                <c:pt idx="0">
                  <c:v>1</c:v>
                </c:pt>
                <c:pt idx="1">
                  <c:v>1</c:v>
                </c:pt>
                <c:pt idx="2">
                  <c:v>1</c:v>
                </c:pt>
                <c:pt idx="3">
                  <c:v>1</c:v>
                </c:pt>
                <c:pt idx="4">
                  <c:v>1</c:v>
                </c:pt>
                <c:pt idx="5">
                  <c:v>1</c:v>
                </c:pt>
              </c:numCache>
            </c:numRef>
          </c:val>
          <c:extLst xmlns:c16r2="http://schemas.microsoft.com/office/drawing/2015/06/chart">
            <c:ext xmlns:c16="http://schemas.microsoft.com/office/drawing/2014/chart" uri="{C3380CC4-5D6E-409C-BE32-E72D297353CC}">
              <c16:uniqueId val="{0000000C-929C-4B25-9313-A006AC553E6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67853014-01b7-475b-b777-42240debb762}"/>
      </c:ext>
    </c:extLst>
  </c:chart>
  <c:spPr>
    <a:noFill/>
    <a:ln>
      <a:noFill/>
    </a:ln>
    <a:effectLst/>
  </c:spPr>
  <c:txPr>
    <a:bodyPr/>
    <a:lstStyle/>
    <a:p>
      <a:pPr>
        <a:defRPr lang="zh-CN"/>
      </a:pPr>
      <a:endParaRPr lang="zh-CN"/>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0.09802</cdr:x>
      <cdr:y>0.13933</cdr:y>
    </cdr:from>
    <cdr:to>
      <cdr:x>0.22941</cdr:x>
      <cdr:y>0.21476</cdr:y>
    </cdr:to>
    <cdr:sp macro="" textlink="">
      <cdr:nvSpPr>
        <cdr:cNvPr id="2" name="矩形 1"/>
        <cdr:cNvSpPr/>
      </cdr:nvSpPr>
      <cdr:spPr>
        <a:xfrm xmlns:a="http://schemas.openxmlformats.org/drawingml/2006/main">
          <a:off x="707491" y="695777"/>
          <a:ext cx="948266" cy="37666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933D2C8-0E77-49EC-A2A5-C19CFBCCE493}" type="datetimeFigureOut">
              <a:rPr lang="zh-CN" altLang="en-US" smtClean="0"/>
              <a:t>2026/8/28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50D21365-F1D8-47CC-8906-823C7233621A}" type="slidenum">
              <a:rPr lang="zh-CN" altLang="en-US" smtClean="0"/>
              <a:t>‹#›</a:t>
            </a:fld>
            <a:endParaRPr lang="zh-CN" altLang="en-US"/>
          </a:p>
        </p:txBody>
      </p:sp>
    </p:spTree>
    <p:extLst>
      <p:ext uri="{BB962C8B-B14F-4D97-AF65-F5344CB8AC3E}">
        <p14:creationId xmlns:p14="http://schemas.microsoft.com/office/powerpoint/2010/main" val="558303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再上升到公司层面简单介绍一下银华基金，今年刚好是银华基金成立</a:t>
            </a:r>
            <a:r>
              <a:rPr lang="en-US" altLang="zh-CN" dirty="0" smtClean="0"/>
              <a:t>25</a:t>
            </a:r>
            <a:r>
              <a:rPr lang="zh-CN" altLang="en-US" dirty="0" smtClean="0"/>
              <a:t>周年。</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作为同时具备全国社保基金、基本养老基金、企业年金和职业年金基金管理资格的老牌基金公司，</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sym typeface="+mn-ea"/>
              </a:rPr>
              <a:t>银华基金在业内树立了良好的品牌形象，为持有人提供了持续稳健的投资回报，赢得了投资者和业界的广泛认可，十次获得“金牛基金管理公司”奖。</a:t>
            </a:r>
            <a:endParaRPr lang="zh-CN" alt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j-ea"/>
                <a:ea typeface="+mn-ea"/>
                <a:cs typeface="+mn-cs"/>
              </a:rPr>
              <a:t>银华基金（含子公司）资产管理总规模超过</a:t>
            </a:r>
            <a:r>
              <a:rPr lang="en-US" altLang="zh-CN" sz="1200" kern="1200" dirty="0" smtClean="0">
                <a:solidFill>
                  <a:schemeClr val="tx1"/>
                </a:solidFill>
                <a:latin typeface="+mj-ea"/>
                <a:ea typeface="+mn-ea"/>
                <a:cs typeface="+mn-cs"/>
              </a:rPr>
              <a:t>1.1</a:t>
            </a:r>
            <a:r>
              <a:rPr lang="zh-CN" altLang="en-US" sz="1200" kern="1200" dirty="0" smtClean="0">
                <a:solidFill>
                  <a:schemeClr val="tx1"/>
                </a:solidFill>
                <a:latin typeface="+mj-ea"/>
                <a:ea typeface="+mn-ea"/>
                <a:cs typeface="+mn-cs"/>
              </a:rPr>
              <a:t>万亿元。</a:t>
            </a:r>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4</a:t>
            </a:fld>
            <a:endParaRPr lang="zh-CN" altLang="en-US"/>
          </a:p>
        </p:txBody>
      </p:sp>
    </p:spTree>
    <p:extLst>
      <p:ext uri="{BB962C8B-B14F-4D97-AF65-F5344CB8AC3E}">
        <p14:creationId xmlns:p14="http://schemas.microsoft.com/office/powerpoint/2010/main" val="3719373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sym typeface="+mn-ea"/>
              </a:rPr>
              <a:t>我本科是毕业于武汉大学软件工程专业，有计算机和金融两个硕士学位，</a:t>
            </a:r>
            <a:r>
              <a:rPr lang="en-US" altLang="zh-CN" dirty="0" smtClean="0">
                <a:latin typeface="微软雅黑" panose="020B0503020204020204" pitchFamily="34" charset="-122"/>
                <a:ea typeface="微软雅黑" panose="020B0503020204020204" pitchFamily="34" charset="-122"/>
                <a:sym typeface="+mn-ea"/>
              </a:rPr>
              <a:t>CFA</a:t>
            </a:r>
            <a:r>
              <a:rPr lang="zh-CN" altLang="en-US" dirty="0" smtClean="0">
                <a:latin typeface="微软雅黑" panose="020B0503020204020204" pitchFamily="34" charset="-122"/>
                <a:ea typeface="微软雅黑" panose="020B0503020204020204" pitchFamily="34" charset="-122"/>
                <a:sym typeface="+mn-ea"/>
              </a:rPr>
              <a:t>，目前是有</a:t>
            </a:r>
            <a:r>
              <a:rPr lang="en-US" altLang="zh-CN" dirty="0" smtClean="0">
                <a:latin typeface="微软雅黑" panose="020B0503020204020204" pitchFamily="34" charset="-122"/>
                <a:ea typeface="微软雅黑" panose="020B0503020204020204" pitchFamily="34" charset="-122"/>
                <a:sym typeface="+mn-ea"/>
              </a:rPr>
              <a:t>7</a:t>
            </a:r>
            <a:r>
              <a:rPr lang="zh-CN" altLang="en-US" dirty="0" smtClean="0">
                <a:latin typeface="微软雅黑" panose="020B0503020204020204" pitchFamily="34" charset="-122"/>
                <a:ea typeface="微软雅黑" panose="020B0503020204020204" pitchFamily="34" charset="-122"/>
                <a:sym typeface="+mn-ea"/>
              </a:rPr>
              <a:t>年的证券从业经验。</a:t>
            </a:r>
            <a:endParaRPr lang="en-US" altLang="zh-CN" dirty="0" smtClean="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sym typeface="+mn-ea"/>
              </a:rPr>
              <a:t>曾经在伦敦花旗银行、瑞士银行、法国农业信贷银行就职、有丰富的海外工作经验</a:t>
            </a:r>
            <a:endParaRPr lang="en-US" altLang="zh-CN" dirty="0" smtClean="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sym typeface="+mn-ea"/>
              </a:rPr>
              <a:t>我是</a:t>
            </a:r>
            <a:r>
              <a:rPr lang="en-US" altLang="zh-CN" dirty="0" smtClean="0">
                <a:latin typeface="微软雅黑" panose="020B0503020204020204" pitchFamily="34" charset="-122"/>
                <a:ea typeface="微软雅黑" panose="020B0503020204020204" pitchFamily="34" charset="-122"/>
                <a:sym typeface="+mn-ea"/>
              </a:rPr>
              <a:t>2019</a:t>
            </a:r>
            <a:r>
              <a:rPr lang="zh-CN" altLang="en-US" dirty="0" smtClean="0">
                <a:latin typeface="微软雅黑" panose="020B0503020204020204" pitchFamily="34" charset="-122"/>
                <a:ea typeface="微软雅黑" panose="020B0503020204020204" pitchFamily="34" charset="-122"/>
                <a:sym typeface="+mn-ea"/>
              </a:rPr>
              <a:t>年</a:t>
            </a:r>
            <a:r>
              <a:rPr lang="en-US" altLang="zh-CN" dirty="0" smtClean="0">
                <a:latin typeface="微软雅黑" panose="020B0503020204020204" pitchFamily="34" charset="-122"/>
                <a:ea typeface="微软雅黑" panose="020B0503020204020204" pitchFamily="34" charset="-122"/>
                <a:sym typeface="+mn-ea"/>
              </a:rPr>
              <a:t>5</a:t>
            </a:r>
            <a:r>
              <a:rPr lang="zh-CN" altLang="en-US" dirty="0" smtClean="0">
                <a:latin typeface="微软雅黑" panose="020B0503020204020204" pitchFamily="34" charset="-122"/>
                <a:ea typeface="微软雅黑" panose="020B0503020204020204" pitchFamily="34" charset="-122"/>
                <a:sym typeface="+mn-ea"/>
              </a:rPr>
              <a:t>月加入银华基金的，历任策略分析师、</a:t>
            </a:r>
            <a:r>
              <a:rPr lang="en-US" altLang="zh-CN" dirty="0" smtClean="0">
                <a:latin typeface="微软雅黑" panose="020B0503020204020204" pitchFamily="34" charset="-122"/>
                <a:ea typeface="微软雅黑" panose="020B0503020204020204" pitchFamily="34" charset="-122"/>
                <a:sym typeface="+mn-ea"/>
              </a:rPr>
              <a:t>FOF</a:t>
            </a:r>
            <a:r>
              <a:rPr lang="zh-CN" altLang="en-US" dirty="0" smtClean="0">
                <a:latin typeface="微软雅黑" panose="020B0503020204020204" pitchFamily="34" charset="-122"/>
                <a:ea typeface="微软雅黑" panose="020B0503020204020204" pitchFamily="34" charset="-122"/>
                <a:sym typeface="+mn-ea"/>
              </a:rPr>
              <a:t>研究员、</a:t>
            </a:r>
            <a:r>
              <a:rPr lang="en-US" altLang="zh-CN" dirty="0" smtClean="0">
                <a:latin typeface="微软雅黑" panose="020B0503020204020204" pitchFamily="34" charset="-122"/>
                <a:ea typeface="微软雅黑" panose="020B0503020204020204" pitchFamily="34" charset="-122"/>
                <a:sym typeface="+mn-ea"/>
              </a:rPr>
              <a:t>FOF</a:t>
            </a:r>
            <a:r>
              <a:rPr lang="zh-CN" altLang="en-US" dirty="0" smtClean="0">
                <a:latin typeface="微软雅黑" panose="020B0503020204020204" pitchFamily="34" charset="-122"/>
                <a:ea typeface="微软雅黑" panose="020B0503020204020204" pitchFamily="34" charset="-122"/>
                <a:sym typeface="+mn-ea"/>
              </a:rPr>
              <a:t>基金经历助理，目前是担任投资经理，负责专户的投资业务，工作的内容主要是基金产品研究、大类资产配置和组合投资工作。</a:t>
            </a:r>
            <a:endParaRPr lang="en-US" altLang="zh-CN" dirty="0" smtClean="0">
              <a:latin typeface="微软雅黑" panose="020B0503020204020204" pitchFamily="34" charset="-122"/>
              <a:ea typeface="微软雅黑" panose="020B0503020204020204" pitchFamily="34" charset="-122"/>
              <a:sym typeface="+mn-ea"/>
            </a:endParaRPr>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5</a:t>
            </a:fld>
            <a:endParaRPr lang="zh-CN" altLang="en-US"/>
          </a:p>
        </p:txBody>
      </p:sp>
    </p:spTree>
    <p:extLst>
      <p:ext uri="{BB962C8B-B14F-4D97-AF65-F5344CB8AC3E}">
        <p14:creationId xmlns:p14="http://schemas.microsoft.com/office/powerpoint/2010/main" val="1238893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介绍一下</a:t>
            </a:r>
            <a:r>
              <a:rPr lang="en-US" altLang="zh-CN" dirty="0" smtClean="0"/>
              <a:t>FOF</a:t>
            </a:r>
            <a:r>
              <a:rPr lang="zh-CN" altLang="en-US" dirty="0" smtClean="0"/>
              <a:t>投资管理部团队，目前我们有投研人员</a:t>
            </a:r>
            <a:r>
              <a:rPr lang="en-US" altLang="zh-CN" dirty="0" smtClean="0"/>
              <a:t>10</a:t>
            </a:r>
            <a:r>
              <a:rPr lang="zh-CN" altLang="en-US" dirty="0" smtClean="0"/>
              <a:t>人，</a:t>
            </a:r>
            <a:r>
              <a:rPr lang="en-US" altLang="zh-CN" dirty="0" smtClean="0"/>
              <a:t>6</a:t>
            </a:r>
            <a:r>
              <a:rPr lang="zh-CN" altLang="en-US" dirty="0" smtClean="0"/>
              <a:t>位基金经理，两位投资经理，一位基金经理助理，一位研究员。</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支持人员有银华的研究部门，其他专职的风控、交易、以及对口销售人员。</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我们的业务总监于蕾总是公司业务部副总经理，分管养老金投资部和我们</a:t>
            </a:r>
            <a:r>
              <a:rPr lang="en-US" altLang="zh-CN" dirty="0" smtClean="0"/>
              <a:t>FOF</a:t>
            </a:r>
            <a:r>
              <a:rPr lang="zh-CN" altLang="en-US" dirty="0" smtClean="0"/>
              <a:t>投资管理部</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于蕾总有</a:t>
            </a:r>
            <a:r>
              <a:rPr lang="zh-CN" altLang="en-US" sz="1200" dirty="0" smtClean="0">
                <a:solidFill>
                  <a:prstClr val="black"/>
                </a:solidFill>
                <a:latin typeface="微软雅黑" panose="020B0503020204020204" charset="-122"/>
                <a:ea typeface="微软雅黑" panose="020B0503020204020204" charset="-122"/>
                <a:cs typeface="+mn-ea"/>
                <a:sym typeface="+mn-lt"/>
              </a:rPr>
              <a:t>超过</a:t>
            </a:r>
            <a:r>
              <a:rPr lang="zh-CN" altLang="en-US" sz="1200" dirty="0" smtClean="0">
                <a:solidFill>
                  <a:prstClr val="black"/>
                </a:solidFill>
                <a:latin typeface="微软雅黑" panose="020B0503020204020204" charset="-122"/>
                <a:ea typeface="微软雅黑" panose="020B0503020204020204" charset="-122"/>
                <a:sym typeface="+mn-lt"/>
              </a:rPr>
              <a:t>二十年养老金投资管理经验，</a:t>
            </a:r>
            <a:r>
              <a:rPr lang="zh-CN" altLang="en-US" sz="1200" dirty="0" smtClean="0">
                <a:solidFill>
                  <a:prstClr val="black"/>
                </a:solidFill>
                <a:latin typeface="微软雅黑" panose="020B0503020204020204" charset="-122"/>
                <a:ea typeface="微软雅黑" panose="020B0503020204020204" charset="-122"/>
                <a:sym typeface="+mn-ea"/>
              </a:rPr>
              <a:t>历经牛熊市场周期磨练，投资经验丰富，</a:t>
            </a:r>
            <a:r>
              <a:rPr lang="zh-CN" altLang="zh-CN" sz="1200" b="1" dirty="0" smtClean="0">
                <a:solidFill>
                  <a:prstClr val="black"/>
                </a:solidFill>
                <a:latin typeface="微软雅黑" panose="020B0503020204020204" charset="-122"/>
                <a:ea typeface="微软雅黑" panose="020B0503020204020204" charset="-122"/>
                <a:sym typeface="+mn-ea"/>
              </a:rPr>
              <a:t>对</a:t>
            </a:r>
            <a:r>
              <a:rPr lang="zh-CN" altLang="en-US" sz="1200" b="1" dirty="0" smtClean="0">
                <a:solidFill>
                  <a:prstClr val="black"/>
                </a:solidFill>
                <a:latin typeface="微软雅黑" panose="020B0503020204020204" charset="-122"/>
                <a:ea typeface="微软雅黑" panose="020B0503020204020204" charset="-122"/>
                <a:sym typeface="+mn-ea"/>
              </a:rPr>
              <a:t>养老金</a:t>
            </a:r>
            <a:r>
              <a:rPr lang="zh-CN" altLang="zh-CN" sz="1200" b="1" dirty="0" smtClean="0">
                <a:solidFill>
                  <a:prstClr val="black"/>
                </a:solidFill>
                <a:latin typeface="微软雅黑" panose="020B0503020204020204" charset="-122"/>
                <a:ea typeface="微软雅黑" panose="020B0503020204020204" charset="-122"/>
                <a:sym typeface="+mn-ea"/>
              </a:rPr>
              <a:t>资金特性有深刻理解，</a:t>
            </a:r>
            <a:r>
              <a:rPr lang="zh-CN" altLang="en-US" sz="1200" b="1" dirty="0" smtClean="0">
                <a:solidFill>
                  <a:prstClr val="black"/>
                </a:solidFill>
                <a:latin typeface="微软雅黑" panose="020B0503020204020204" charset="-122"/>
                <a:ea typeface="微软雅黑" panose="020B0503020204020204" charset="-122"/>
                <a:sym typeface="+mn-ea"/>
              </a:rPr>
              <a:t>她也把她的这种</a:t>
            </a:r>
            <a:r>
              <a:rPr lang="zh-CN" altLang="zh-CN" sz="1200" b="1" dirty="0" smtClean="0">
                <a:solidFill>
                  <a:prstClr val="black"/>
                </a:solidFill>
                <a:latin typeface="微软雅黑" panose="020B0503020204020204" charset="-122"/>
                <a:ea typeface="微软雅黑" panose="020B0503020204020204" charset="-122"/>
                <a:sym typeface="+mn-ea"/>
              </a:rPr>
              <a:t>以长期收益最大化、控制业绩回撤为目标的投资理念、框架和方法</a:t>
            </a:r>
            <a:r>
              <a:rPr lang="zh-CN" altLang="en-US" sz="1200" b="1" dirty="0" smtClean="0">
                <a:solidFill>
                  <a:prstClr val="black"/>
                </a:solidFill>
                <a:latin typeface="微软雅黑" panose="020B0503020204020204" charset="-122"/>
                <a:ea typeface="微软雅黑" panose="020B0503020204020204" charset="-122"/>
                <a:sym typeface="+mn-ea"/>
              </a:rPr>
              <a:t>，应用到我们的资产配置里来。</a:t>
            </a:r>
            <a:endParaRPr lang="en-US" altLang="zh-CN" sz="1200" b="1" dirty="0" smtClean="0">
              <a:solidFill>
                <a:prstClr val="black"/>
              </a:solidFill>
              <a:latin typeface="微软雅黑" panose="020B0503020204020204" charset="-122"/>
              <a:ea typeface="微软雅黑" panose="020B0503020204020204" charset="-122"/>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sym typeface="+mn-ea"/>
              </a:rPr>
              <a:t>于总这两年多可以说给我们</a:t>
            </a:r>
            <a:r>
              <a:rPr lang="en-US" altLang="zh-CN" sz="1200" b="1" dirty="0" smtClean="0">
                <a:solidFill>
                  <a:prstClr val="black"/>
                </a:solidFill>
                <a:latin typeface="微软雅黑" panose="020B0503020204020204" charset="-122"/>
                <a:ea typeface="微软雅黑" panose="020B0503020204020204" charset="-122"/>
                <a:sym typeface="+mn-ea"/>
              </a:rPr>
              <a:t>FOF</a:t>
            </a:r>
            <a:r>
              <a:rPr lang="zh-CN" altLang="en-US" sz="1200" b="1" dirty="0" smtClean="0">
                <a:solidFill>
                  <a:prstClr val="black"/>
                </a:solidFill>
                <a:latin typeface="微软雅黑" panose="020B0503020204020204" charset="-122"/>
                <a:ea typeface="微软雅黑" panose="020B0503020204020204" charset="-122"/>
                <a:sym typeface="+mn-ea"/>
              </a:rPr>
              <a:t>投资管理部的投资能力带来的非常多的赋能。</a:t>
            </a:r>
            <a:endParaRPr lang="en-US" altLang="zh-CN" sz="1200" b="1" dirty="0" smtClean="0">
              <a:solidFill>
                <a:prstClr val="black"/>
              </a:solidFill>
              <a:latin typeface="微软雅黑" panose="020B0503020204020204" charset="-122"/>
              <a:ea typeface="微软雅黑" panose="020B0503020204020204" charset="-122"/>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cs typeface="+mn-ea"/>
                <a:sym typeface="+mn-ea"/>
              </a:rPr>
              <a:t>第一是给我们</a:t>
            </a:r>
            <a:r>
              <a:rPr lang="en-US" altLang="zh-CN" sz="1200" b="1" dirty="0" smtClean="0">
                <a:solidFill>
                  <a:prstClr val="black"/>
                </a:solidFill>
                <a:latin typeface="微软雅黑" panose="020B0503020204020204" charset="-122"/>
                <a:ea typeface="微软雅黑" panose="020B0503020204020204" charset="-122"/>
                <a:cs typeface="+mn-ea"/>
                <a:sym typeface="+mn-ea"/>
              </a:rPr>
              <a:t>FOF</a:t>
            </a:r>
            <a:r>
              <a:rPr lang="zh-CN" altLang="en-US" sz="1200" b="1" dirty="0" smtClean="0">
                <a:solidFill>
                  <a:prstClr val="black"/>
                </a:solidFill>
                <a:latin typeface="微软雅黑" panose="020B0503020204020204" charset="-122"/>
                <a:ea typeface="微软雅黑" panose="020B0503020204020204" charset="-122"/>
                <a:cs typeface="+mn-ea"/>
                <a:sym typeface="+mn-ea"/>
              </a:rPr>
              <a:t>投资管理部统筹资源，帮我们纳入到整个养老金投资板块里面来，让我们可以充分借力公司的整体投研能力。</a:t>
            </a:r>
            <a:endParaRPr lang="en-US" altLang="zh-CN" sz="1200" b="1" dirty="0" smtClean="0">
              <a:solidFill>
                <a:prstClr val="black"/>
              </a:solidFill>
              <a:latin typeface="微软雅黑" panose="020B0503020204020204" charset="-122"/>
              <a:ea typeface="微软雅黑" panose="020B0503020204020204" charset="-122"/>
              <a:cs typeface="+mn-ea"/>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cs typeface="+mn-ea"/>
                <a:sym typeface="+mn-ea"/>
              </a:rPr>
              <a:t>第二个就是制定了资源共享的框架，让我们和其他部门共享研究成果，这样也大幅提升了</a:t>
            </a:r>
            <a:r>
              <a:rPr lang="en-US" altLang="zh-CN" sz="1200" b="1" dirty="0" smtClean="0">
                <a:solidFill>
                  <a:prstClr val="black"/>
                </a:solidFill>
                <a:latin typeface="微软雅黑" panose="020B0503020204020204" charset="-122"/>
                <a:ea typeface="微软雅黑" panose="020B0503020204020204" charset="-122"/>
                <a:cs typeface="+mn-ea"/>
                <a:sym typeface="+mn-ea"/>
              </a:rPr>
              <a:t>FOF</a:t>
            </a:r>
            <a:r>
              <a:rPr lang="zh-CN" altLang="en-US" sz="1200" b="1" dirty="0" smtClean="0">
                <a:solidFill>
                  <a:prstClr val="black"/>
                </a:solidFill>
                <a:latin typeface="微软雅黑" panose="020B0503020204020204" charset="-122"/>
                <a:ea typeface="微软雅黑" panose="020B0503020204020204" charset="-122"/>
                <a:cs typeface="+mn-ea"/>
                <a:sym typeface="+mn-ea"/>
              </a:rPr>
              <a:t>投资决策的胜率。</a:t>
            </a:r>
            <a:endParaRPr lang="en-US" altLang="zh-CN" sz="1200" b="1" dirty="0" smtClean="0">
              <a:solidFill>
                <a:prstClr val="black"/>
              </a:solidFill>
              <a:latin typeface="微软雅黑" panose="020B0503020204020204" charset="-122"/>
              <a:ea typeface="微软雅黑" panose="020B0503020204020204" charset="-122"/>
              <a:cs typeface="+mn-ea"/>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cs typeface="+mn-ea"/>
                <a:sym typeface="+mn-ea"/>
              </a:rPr>
              <a:t>第三个就是控制回撤的理念，将养老金投资管理方法，和</a:t>
            </a:r>
            <a:r>
              <a:rPr lang="en-US" altLang="zh-CN" sz="1200" b="1" dirty="0" smtClean="0">
                <a:solidFill>
                  <a:prstClr val="black"/>
                </a:solidFill>
                <a:latin typeface="微软雅黑" panose="020B0503020204020204" charset="-122"/>
                <a:ea typeface="微软雅黑" panose="020B0503020204020204" charset="-122"/>
                <a:cs typeface="+mn-ea"/>
                <a:sym typeface="+mn-ea"/>
              </a:rPr>
              <a:t>FOF</a:t>
            </a:r>
            <a:r>
              <a:rPr lang="zh-CN" altLang="en-US" sz="1200" b="1" dirty="0" smtClean="0">
                <a:solidFill>
                  <a:prstClr val="black"/>
                </a:solidFill>
                <a:latin typeface="微软雅黑" panose="020B0503020204020204" charset="-122"/>
                <a:ea typeface="微软雅黑" panose="020B0503020204020204" charset="-122"/>
                <a:cs typeface="+mn-ea"/>
                <a:sym typeface="+mn-ea"/>
              </a:rPr>
              <a:t>的多资产配置实践等等相结合，丰富了我们的管理方法和投资的纪律。</a:t>
            </a:r>
            <a:endParaRPr lang="zh-CN" altLang="zh-CN" sz="1200" b="1" dirty="0" smtClean="0">
              <a:solidFill>
                <a:prstClr val="black"/>
              </a:solidFill>
              <a:latin typeface="微软雅黑" panose="020B0503020204020204" charset="-122"/>
              <a:ea typeface="微软雅黑" panose="020B0503020204020204" charset="-122"/>
              <a:cs typeface="+mn-ea"/>
              <a:sym typeface="+mn-lt"/>
            </a:endParaRPr>
          </a:p>
          <a:p>
            <a:endParaRPr lang="en-US" altLang="zh-CN" dirty="0" smtClean="0"/>
          </a:p>
          <a:p>
            <a:pPr marL="0" indent="0" algn="just" defTabSz="914400">
              <a:lnSpc>
                <a:spcPct val="125000"/>
              </a:lnSpc>
              <a:spcAft>
                <a:spcPts val="600"/>
              </a:spcAft>
              <a:buClr>
                <a:srgbClr val="C00000"/>
              </a:buClr>
              <a:buFont typeface="Wingdings" panose="05000000000000000000" pitchFamily="2" charset="2"/>
              <a:buNone/>
              <a:tabLst>
                <a:tab pos="903605" algn="l"/>
              </a:tabLst>
            </a:pPr>
            <a:r>
              <a:rPr lang="zh-CN" altLang="en-US" dirty="0" smtClean="0"/>
              <a:t>现在我们的</a:t>
            </a:r>
            <a:r>
              <a:rPr lang="en-US" altLang="zh-CN" dirty="0" smtClean="0"/>
              <a:t>FOF</a:t>
            </a:r>
            <a:r>
              <a:rPr lang="zh-CN" altLang="en-US" dirty="0" smtClean="0"/>
              <a:t>团队每位成员具备不同领域的专长，在领导的管理框架之下，各司其职，既能让各个成员充分发挥所长，又可互相赋能，实现能力互补与协同决策。</a:t>
            </a:r>
          </a:p>
          <a:p>
            <a:pPr marL="285750" indent="-285750" algn="just" defTabSz="914400">
              <a:lnSpc>
                <a:spcPct val="125000"/>
              </a:lnSpc>
              <a:spcAft>
                <a:spcPts val="600"/>
              </a:spcAft>
              <a:buClr>
                <a:srgbClr val="C00000"/>
              </a:buClr>
              <a:buFont typeface="Wingdings" panose="05000000000000000000" pitchFamily="2" charset="2"/>
              <a:buChar char="p"/>
              <a:tabLst>
                <a:tab pos="903605" algn="l"/>
              </a:tabLst>
            </a:pPr>
            <a:r>
              <a:rPr lang="zh-CN" altLang="en-US" i="1" dirty="0" smtClean="0"/>
              <a:t>定性团队和定性团队密切协作。</a:t>
            </a:r>
          </a:p>
          <a:p>
            <a:pPr marL="742950" lvl="1" indent="-285750" algn="just" defTabSz="914400">
              <a:lnSpc>
                <a:spcPct val="125000"/>
              </a:lnSpc>
              <a:spcAft>
                <a:spcPts val="600"/>
              </a:spcAft>
              <a:buClr>
                <a:srgbClr val="C00000"/>
              </a:buClr>
              <a:buFont typeface="Arial" panose="020B0604020202020204" pitchFamily="34" charset="0"/>
              <a:buChar char="•"/>
              <a:tabLst>
                <a:tab pos="903605" algn="l"/>
              </a:tabLst>
            </a:pPr>
            <a:r>
              <a:rPr lang="zh-CN" altLang="en-US" i="1" dirty="0" smtClean="0"/>
              <a:t>定量团队将严谨的数学思维融入投资决策，建立起以数据驱动、以模型支撑的理性投资框架；</a:t>
            </a:r>
          </a:p>
          <a:p>
            <a:pPr marL="742950" lvl="1" indent="-285750" algn="just" defTabSz="914400">
              <a:lnSpc>
                <a:spcPct val="125000"/>
              </a:lnSpc>
              <a:spcAft>
                <a:spcPts val="600"/>
              </a:spcAft>
              <a:buClr>
                <a:srgbClr val="C00000"/>
              </a:buClr>
              <a:buFont typeface="Arial" panose="020B0604020202020204" pitchFamily="34" charset="0"/>
              <a:buChar char="•"/>
              <a:tabLst>
                <a:tab pos="903605" algn="l"/>
              </a:tabLst>
            </a:pPr>
            <a:r>
              <a:rPr lang="zh-CN" altLang="en-US" i="1" dirty="0" smtClean="0"/>
              <a:t>定性团队则补充定量研究盲区，以及规避量化分析无法覆盖的负面因素。</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6</a:t>
            </a:fld>
            <a:endParaRPr lang="zh-CN" altLang="en-US"/>
          </a:p>
        </p:txBody>
      </p:sp>
    </p:spTree>
    <p:extLst>
      <p:ext uri="{BB962C8B-B14F-4D97-AF65-F5344CB8AC3E}">
        <p14:creationId xmlns:p14="http://schemas.microsoft.com/office/powerpoint/2010/main" val="2105868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在介绍具体的投资框架之前，先说一下</a:t>
            </a:r>
            <a:r>
              <a:rPr lang="en-US" altLang="zh-CN" dirty="0" smtClean="0"/>
              <a:t>FOF</a:t>
            </a:r>
            <a:r>
              <a:rPr lang="zh-CN" altLang="en-US" dirty="0" smtClean="0"/>
              <a:t>投资管理部的投研文化。一颗茁壮成长的树苗脚下一定是一篇沃土。可以说是在</a:t>
            </a:r>
            <a:r>
              <a:rPr lang="en-US" altLang="zh-CN" dirty="0" smtClean="0"/>
              <a:t>FOF</a:t>
            </a:r>
            <a:r>
              <a:rPr lang="zh-CN" altLang="en-US" dirty="0" smtClean="0"/>
              <a:t>投资管理部的良好的投研机制中逐渐成长起来的。</a:t>
            </a:r>
            <a:endParaRPr lang="en-US" altLang="zh-CN" dirty="0" smtClean="0"/>
          </a:p>
          <a:p>
            <a:r>
              <a:rPr lang="zh-CN" altLang="en-US" dirty="0" smtClean="0"/>
              <a:t>得益于领导把我们部门整合到整个大的养老金板块，</a:t>
            </a:r>
            <a:r>
              <a:rPr lang="en-US" altLang="zh-CN" dirty="0" smtClean="0"/>
              <a:t>FOF</a:t>
            </a:r>
            <a:r>
              <a:rPr lang="zh-CN" altLang="en-US" dirty="0" smtClean="0"/>
              <a:t>投资管理部也是共享了更多公司给予的资源，比如我们能够参加公司的研究晨会，可以得到研究员每天，有选择性的对各个行业的重点变化以及宏观环境、政策方面的及时更新，对帮助</a:t>
            </a:r>
            <a:r>
              <a:rPr lang="en-US" altLang="zh-CN" dirty="0" smtClean="0"/>
              <a:t>FOF</a:t>
            </a:r>
            <a:r>
              <a:rPr lang="zh-CN" altLang="en-US" dirty="0" smtClean="0"/>
              <a:t>投资管理部在行业景气度的定性研究以及宏观、政策对资产配置的影响方面可以说是大幅的赋能。</a:t>
            </a:r>
            <a:endParaRPr lang="en-US" altLang="zh-CN" dirty="0" smtClean="0"/>
          </a:p>
          <a:p>
            <a:r>
              <a:rPr lang="zh-CN" altLang="en-US" dirty="0" smtClean="0"/>
              <a:t>我们每月还会举行投委会，内容包括对各个组合的业绩归因，各个投资经理分享月度的策略调整，组合调整等等，还有一些投资相关的问题和事项的研讨。</a:t>
            </a:r>
            <a:endParaRPr lang="en-US" altLang="zh-CN" dirty="0" smtClean="0"/>
          </a:p>
          <a:p>
            <a:r>
              <a:rPr lang="zh-CN" altLang="en-US" dirty="0" smtClean="0"/>
              <a:t>当然还有不定时的双周会，投资经理和研究员会进行充分的讨论，研究员会在基金调研，行业动态方面进行更新等等，经理之间也会进行有效的沟通，互相分享在大类资产配置以及基金选择方面的观点。</a:t>
            </a:r>
            <a:endParaRPr lang="en-US" altLang="zh-CN" dirty="0" smtClean="0"/>
          </a:p>
          <a:p>
            <a:r>
              <a:rPr lang="zh-CN" altLang="en-US" dirty="0" smtClean="0"/>
              <a:t>然后每季度会进行业务、投资上的战略复盘，整合资源配置，探寻投资和业务开展的新方向。</a:t>
            </a:r>
            <a:r>
              <a:rPr kumimoji="1" lang="zh-CN" altLang="en-US" sz="1200" dirty="0" smtClean="0">
                <a:latin typeface="微软雅黑" panose="020B0503020204020204" charset="-122"/>
                <a:ea typeface="微软雅黑" panose="020B0503020204020204" charset="-122"/>
                <a:sym typeface="+mn-ea"/>
              </a:rPr>
              <a:t>可以说</a:t>
            </a:r>
            <a:r>
              <a:rPr kumimoji="1" lang="en-US" altLang="zh-CN" sz="1200" dirty="0" smtClean="0">
                <a:latin typeface="微软雅黑" panose="020B0503020204020204" charset="-122"/>
                <a:ea typeface="微软雅黑" panose="020B0503020204020204" charset="-122"/>
                <a:sym typeface="+mn-ea"/>
              </a:rPr>
              <a:t>FOF</a:t>
            </a:r>
            <a:r>
              <a:rPr kumimoji="1" lang="zh-CN" altLang="en-US" sz="1200" dirty="0" smtClean="0">
                <a:latin typeface="微软雅黑" panose="020B0503020204020204" charset="-122"/>
                <a:ea typeface="微软雅黑" panose="020B0503020204020204" charset="-122"/>
                <a:sym typeface="+mn-ea"/>
              </a:rPr>
              <a:t>投资管理部充分地利用了重大投资集体决策机制，突出集体智慧的形成与复用。</a:t>
            </a:r>
            <a:endParaRPr kumimoji="1" lang="en-US" altLang="zh-CN" sz="1200" dirty="0" smtClean="0">
              <a:latin typeface="微软雅黑" panose="020B0503020204020204" charset="-122"/>
              <a:ea typeface="微软雅黑" panose="020B0503020204020204" charset="-122"/>
              <a:sym typeface="+mn-ea"/>
            </a:endParaRPr>
          </a:p>
          <a:p>
            <a:r>
              <a:rPr kumimoji="1" lang="zh-CN" altLang="en-US" sz="1200" spc="0" baseline="0" dirty="0" smtClean="0">
                <a:solidFill>
                  <a:srgbClr val="3E3A39"/>
                </a:solidFill>
                <a:latin typeface="微软雅黑" panose="020B0503020204020204" charset="-122"/>
                <a:ea typeface="微软雅黑" panose="020B0503020204020204" charset="-122"/>
                <a:cs typeface="Arial" panose="020B0604020202020204"/>
                <a:sym typeface="+mn-ea"/>
                <a:rtl val="0"/>
              </a:rPr>
              <a:t>在这么多年的耳濡目染之中，我们也慢慢形成了自己的投资框架。</a:t>
            </a:r>
            <a:endParaRPr lang="zh-CN" altLang="en-US" sz="1200" spc="0" baseline="0" dirty="0" smtClean="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8</a:t>
            </a:fld>
            <a:endParaRPr lang="zh-CN" altLang="en-US"/>
          </a:p>
        </p:txBody>
      </p:sp>
    </p:spTree>
    <p:extLst>
      <p:ext uri="{BB962C8B-B14F-4D97-AF65-F5344CB8AC3E}">
        <p14:creationId xmlns:p14="http://schemas.microsoft.com/office/powerpoint/2010/main" val="648617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那接下来向各位领导汇报一下我的投资框架，我是怎么进行组合投资的。</a:t>
            </a:r>
            <a:endParaRPr lang="en-US" altLang="zh-CN" dirty="0" smtClean="0"/>
          </a:p>
          <a:p>
            <a:r>
              <a:rPr lang="zh-CN" altLang="en-US" dirty="0" smtClean="0"/>
              <a:t>整个投资框架是沿用了</a:t>
            </a:r>
            <a:r>
              <a:rPr lang="en-US" altLang="zh-CN" dirty="0" smtClean="0"/>
              <a:t>FOF</a:t>
            </a:r>
            <a:r>
              <a:rPr lang="zh-CN" altLang="en-US" dirty="0" smtClean="0"/>
              <a:t>投资管理部的定量和定性相结合的决策方式，来确定资产配置的比例，确定基金选择的标的以及</a:t>
            </a:r>
            <a:r>
              <a:rPr lang="en-US" altLang="zh-CN" dirty="0" smtClean="0"/>
              <a:t>ETF</a:t>
            </a:r>
            <a:r>
              <a:rPr lang="zh-CN" altLang="en-US" dirty="0" smtClean="0"/>
              <a:t>的投资。</a:t>
            </a:r>
            <a:endParaRPr lang="en-US" altLang="zh-CN" dirty="0" smtClean="0"/>
          </a:p>
          <a:p>
            <a:r>
              <a:rPr lang="zh-CN" altLang="en-US" dirty="0" smtClean="0"/>
              <a:t>主要分为资产配置、选基、</a:t>
            </a:r>
            <a:r>
              <a:rPr lang="en-US" altLang="zh-CN" dirty="0" smtClean="0"/>
              <a:t>ETF</a:t>
            </a:r>
            <a:r>
              <a:rPr lang="zh-CN" altLang="en-US" dirty="0" smtClean="0"/>
              <a:t>轮动三个维度。</a:t>
            </a:r>
            <a:endParaRPr lang="en-US" altLang="zh-CN" dirty="0" smtClean="0"/>
          </a:p>
          <a:p>
            <a:r>
              <a:rPr lang="zh-CN" altLang="en-US" dirty="0" smtClean="0"/>
              <a:t>第一步的资产配置，主要是对整体组合资产达成风险预算，还有一个比较重要的就是控制组合的回撤。</a:t>
            </a:r>
            <a:endParaRPr lang="en-US" altLang="zh-CN" dirty="0" smtClean="0"/>
          </a:p>
          <a:p>
            <a:r>
              <a:rPr lang="zh-CN" altLang="en-US" dirty="0" smtClean="0"/>
              <a:t>我之前也担任过公募基金的助理</a:t>
            </a:r>
            <a:endParaRPr lang="en-US" altLang="zh-CN" dirty="0" smtClean="0"/>
          </a:p>
          <a:p>
            <a:r>
              <a:rPr lang="zh-CN" altLang="en-US" dirty="0" smtClean="0"/>
              <a:t>如果是公募基金产品，因为有产品的基准，所以是围绕基准来进行大类资产的配置，如果是专户的产品，那就是根据客户定制的需求来进行配置。</a:t>
            </a:r>
            <a:endParaRPr lang="en-US" altLang="zh-CN" dirty="0" smtClean="0"/>
          </a:p>
          <a:p>
            <a:r>
              <a:rPr lang="zh-CN" altLang="en-US" dirty="0" smtClean="0"/>
              <a:t>首先是量化的方式，使用各类资产的历史数据，进行量化的分析，然后结合当前的宏观指标、估值分位等等指标，进行参数的调整，得出大致的在规定的风险预算之下的配置，</a:t>
            </a:r>
            <a:endParaRPr lang="en-US" altLang="zh-CN" dirty="0" smtClean="0"/>
          </a:p>
          <a:p>
            <a:r>
              <a:rPr lang="zh-CN" altLang="en-US" dirty="0" smtClean="0"/>
              <a:t>然后对配置进行模拟，对各类资产的未来走势的分布就行预测。</a:t>
            </a:r>
            <a:endParaRPr lang="en-US" altLang="zh-CN" dirty="0" smtClean="0"/>
          </a:p>
          <a:p>
            <a:r>
              <a:rPr lang="zh-CN" altLang="en-US" dirty="0" smtClean="0"/>
              <a:t>这样我就能得到一个大致的资产配置比例作为底线配置，以及未来一段时间内的收益预测。</a:t>
            </a:r>
            <a:endParaRPr lang="en-US" altLang="zh-CN" dirty="0" smtClean="0"/>
          </a:p>
          <a:p>
            <a:endParaRPr lang="en-US" altLang="zh-CN" dirty="0" smtClean="0"/>
          </a:p>
          <a:p>
            <a:r>
              <a:rPr lang="zh-CN" altLang="en-US" dirty="0" smtClean="0"/>
              <a:t>然后比较重要的一步是定性把关，这有个人的判断，也有依托的团队的集体力量，我会和其他经理、以及助理一起开会讨论，结合市场周期、估值性价比、宏观基本面等等因素，进行一些调整。</a:t>
            </a:r>
            <a:endParaRPr lang="en-US" altLang="zh-CN" dirty="0" smtClean="0"/>
          </a:p>
          <a:p>
            <a:r>
              <a:rPr lang="zh-CN" altLang="en-US" dirty="0" smtClean="0"/>
              <a:t>各类资产的基本面支撑条件是有差异化的，不同的市场环境会引发不同资产的收益差异，通过在多资产间进行性价比排序，从多个角度比如基本面、流动性、估值、市场情绪等等，对各个资产进行优胜劣汰，筛选出环境受益的前几名进行优先配置，避免投资组合的</a:t>
            </a:r>
            <a:r>
              <a:rPr lang="en-US" altLang="zh-CN" dirty="0" smtClean="0"/>
              <a:t>Beta</a:t>
            </a:r>
            <a:r>
              <a:rPr lang="zh-CN" altLang="en-US" dirty="0" smtClean="0"/>
              <a:t>出现失速下滑。</a:t>
            </a:r>
            <a:endParaRPr lang="en-US" altLang="zh-CN" dirty="0" smtClean="0"/>
          </a:p>
          <a:p>
            <a:endParaRPr lang="en-US" altLang="zh-CN" dirty="0" smtClean="0"/>
          </a:p>
          <a:p>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9</a:t>
            </a:fld>
            <a:endParaRPr lang="zh-CN" altLang="en-US"/>
          </a:p>
        </p:txBody>
      </p:sp>
    </p:spTree>
    <p:extLst>
      <p:ext uri="{BB962C8B-B14F-4D97-AF65-F5344CB8AC3E}">
        <p14:creationId xmlns:p14="http://schemas.microsoft.com/office/powerpoint/2010/main" val="2923992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在这个海量数据的年代，我觉得投资还是离不开对数据的高效精确的处理。</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对于</a:t>
            </a:r>
            <a:r>
              <a:rPr lang="en-US" altLang="zh-CN" dirty="0" smtClean="0"/>
              <a:t>FOF</a:t>
            </a:r>
            <a:r>
              <a:rPr lang="zh-CN" altLang="en-US" dirty="0" smtClean="0"/>
              <a:t>的资产配置那就是对不同资产的市场行数据进行多个角度的分析。</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得益于近两年</a:t>
            </a:r>
            <a:r>
              <a:rPr lang="en-US" altLang="zh-CN" dirty="0" smtClean="0"/>
              <a:t>AI</a:t>
            </a:r>
            <a:r>
              <a:rPr lang="zh-CN" altLang="en-US" dirty="0" smtClean="0"/>
              <a:t>的飞速发展，加上我本身是软件工程出身，借助</a:t>
            </a:r>
            <a:r>
              <a:rPr lang="en-US" altLang="zh-CN" dirty="0" smtClean="0"/>
              <a:t>AI</a:t>
            </a:r>
            <a:r>
              <a:rPr lang="zh-CN" altLang="en-US" dirty="0" smtClean="0"/>
              <a:t>模型的编程能力，我可以在短时间内根据客户的投资需求，量身定做一套适合客户大类资产配置要求的可视化分析系统。</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PPT</a:t>
            </a:r>
            <a:r>
              <a:rPr lang="zh-CN" altLang="en-US" dirty="0" smtClean="0"/>
              <a:t>里面的截图就是我近期根据某个专户客户提出的需求，使用</a:t>
            </a:r>
            <a:r>
              <a:rPr lang="en-US" altLang="zh-CN" dirty="0" smtClean="0"/>
              <a:t>AI</a:t>
            </a:r>
            <a:r>
              <a:rPr lang="zh-CN" altLang="en-US" dirty="0" smtClean="0"/>
              <a:t>模型开发出来的资产配置系统。</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因为每个客户的投资需求，投资目标，能投资的大类资产类别都是差别很大的，所以定制化的系统可以更高效，更精准的帮助我根据客户的收益和风险目标，结合限定范围内的大类资产进行资产配置的量化分析。比如这个系统里面就根据客户的限定投资范围纳入了纯债资产、可转债、以及黄金。</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我就可以快速的在当前的市场环境下，使用大类资产配置的很多经典的模型，比如均值</a:t>
            </a:r>
            <a:r>
              <a:rPr lang="en-US" altLang="zh-CN" dirty="0" smtClean="0"/>
              <a:t>-</a:t>
            </a:r>
            <a:r>
              <a:rPr lang="zh-CN" altLang="en-US" dirty="0" smtClean="0"/>
              <a:t>方差优化，最大夏普、风险平价等等，得到大类资产的底线配置，就是左边这个图。</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而且还可以同时得到根据不同的模型，在历史经验中，如何达到客户的收益和风险指标。</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右边的图是使用蒙特卡洛模型，对当前得出的资产配置比例进行模拟，得到一个大致的未来一年之内的组合收益分布，这样我就能大致知道组合的预期收益，以及在最好的</a:t>
            </a:r>
            <a:r>
              <a:rPr lang="en-US" altLang="zh-CN" dirty="0" smtClean="0"/>
              <a:t>90%</a:t>
            </a:r>
            <a:r>
              <a:rPr lang="zh-CN" altLang="en-US" dirty="0" smtClean="0"/>
              <a:t>分位以及最差的</a:t>
            </a:r>
            <a:r>
              <a:rPr lang="en-US" altLang="zh-CN" dirty="0" smtClean="0"/>
              <a:t>10%</a:t>
            </a:r>
            <a:r>
              <a:rPr lang="zh-CN" altLang="en-US" dirty="0" smtClean="0"/>
              <a:t>分为的模拟情境下，投资组合的收益情况。</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里只展示了其中的两个模块，我还会对不同的资产之间的相关性进行量化研究和追踪，资产之间相关性也是非常重要的一面，当某些资产的相关性开始趋同，甚至从原来的负相关变为正相关的时候，就是一个预警信号，因为某几类资产同涨同跌的情况可能加大对组合的回撤，这时候就要进行资产配置的调整。不过这也是</a:t>
            </a:r>
            <a:r>
              <a:rPr lang="en-US" altLang="zh-CN" dirty="0" smtClean="0"/>
              <a:t>FOF</a:t>
            </a:r>
            <a:r>
              <a:rPr lang="zh-CN" altLang="en-US" dirty="0" smtClean="0"/>
              <a:t>产品相对于其他类别的产品的一个优势所在，我们可以通过跨资产类别的配置去平滑组合的波动，降低组合净值的回撤，通过跨类别甚至跨国别的资产去获取收益。可能</a:t>
            </a:r>
            <a:r>
              <a:rPr lang="en-US" altLang="zh-CN" dirty="0" smtClean="0"/>
              <a:t>FOF</a:t>
            </a:r>
            <a:r>
              <a:rPr lang="zh-CN" altLang="en-US" dirty="0" smtClean="0"/>
              <a:t>产品的收益可能不会短期内又十分极致的收益表现，但是拉长来看，年化收益并不弱，组合的波动因为多资产对冲会相对较小，像夏普比率这种风险调整收益指标会比较好，也就是客户的长期的持有体验也会比较好。</a:t>
            </a:r>
            <a:endParaRPr lang="en-US" altLang="zh-CN" dirty="0" smtClean="0"/>
          </a:p>
          <a:p>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10</a:t>
            </a:fld>
            <a:endParaRPr lang="zh-CN" altLang="en-US"/>
          </a:p>
        </p:txBody>
      </p:sp>
    </p:spTree>
    <p:extLst>
      <p:ext uri="{BB962C8B-B14F-4D97-AF65-F5344CB8AC3E}">
        <p14:creationId xmlns:p14="http://schemas.microsoft.com/office/powerpoint/2010/main" val="915932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那有了量化分析的底线数据以后，如何最终去摆布以及最终确定资产配置的比例，和定性的分析是离不开的。</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量化是工具，是海量的数据分析以后保证投资经理的决策不会偏离太大。</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那下一步就是定性分析。</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u="none" dirty="0" smtClean="0">
                <a:solidFill>
                  <a:srgbClr val="9F1620"/>
                </a:solidFill>
                <a:latin typeface="微软雅黑" panose="020B0503020204020204" pitchFamily="34" charset="-122"/>
                <a:ea typeface="微软雅黑" panose="020B0503020204020204" pitchFamily="34" charset="-122"/>
                <a:cs typeface="+mn-ea"/>
              </a:rPr>
              <a:t>大类资产的收益与风险的主要因素，归纳起来共性的有四点：</a:t>
            </a:r>
            <a:r>
              <a:rPr lang="zh-CN" altLang="en-US" sz="1200" b="0" i="0" u="none" kern="0" dirty="0" smtClean="0">
                <a:solidFill>
                  <a:srgbClr val="FFFFFF"/>
                </a:solidFill>
                <a:latin typeface="微软雅黑" pitchFamily="34" charset="-122"/>
                <a:ea typeface="微软雅黑" pitchFamily="34" charset="-122"/>
              </a:rPr>
              <a:t>基本面因素、流动性因素、估值因素、供求交易因素</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不过不同类别的资产，需要分析的角度也是会有一定的差别。</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货币类资产：资金价格由资金供需所决定，货币政策松紧是关键，决定了资金面的松紧程度</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基本面分析需要观察央行的货币供给，也就是政策利率、准备金率以及其他数量型工具，还有实体经济的资金需求，主要看经济增速（</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GDP</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PMI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、工业增加值）、</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CPI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等等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流动性要看看：政策利率（</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LPR</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MLF</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）、准备金率以及货币政策工具</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估值方面需要看银行间的隔夜或者</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7</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天质押式回购利率等资金利率</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固收类资产和货币类资产类似：也要看基本面的实体经济增长以及通胀以及预期：</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CPI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，流动性因素</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 </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政策利率等等，估值方面要看期限利差、信用利差。供求方面要看：供给侧的国债、政策性银行债、地方专项债发行量；需求侧的银行、基金、保险、券商等配置行为</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权益类资产除了以上提到的因素之外，还要看基本面的整体的盈利情况，估值方面的</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PE</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PB</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PS</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、股息率、</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PEG</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；相对估值：风险溢价、</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A-H</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溢价等；情绪指标：换手率、超卖超买、</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MA60</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商品类资产商品兼备商品属性和金融属性。商品属性指作为实物的供需结构，长期需求是更为决定性的因素，而短期供给会对商品价格形成明显的扰动。金融属性指商品作为资产为持有人提供保值、增值和资金融通等功能的属性，往往与宏观因素有关，如汇率、政治、经济等。</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QDII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我把它放在单独一类，虽然资产本质是大同小异，但是因为政策、交易、包括国别层面都有区别，需要具体情况具体分析的点也很多。</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那通过的刚才提到的因素逐个资产进行综合全面的分析以后，我会得到不同资产之间的类似于多空或者中性的评价，然后根据量化的底线配置做出调整，最终确定组合资产配置的比例。</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1" i="1"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dirty="0" smtClean="0">
                <a:solidFill>
                  <a:srgbClr val="9F1620"/>
                </a:solidFill>
                <a:latin typeface="微软雅黑" panose="020B0503020204020204" pitchFamily="34" charset="-122"/>
                <a:ea typeface="微软雅黑" panose="020B0503020204020204" pitchFamily="34" charset="-122"/>
                <a:cs typeface="+mn-ea"/>
              </a:rPr>
              <a:t>我们总结了驱动了大类资产的收益与风险的主要因素，归纳起来共性的有四点：</a:t>
            </a:r>
            <a:r>
              <a:rPr lang="zh-CN" altLang="en-US" sz="1200" b="1" i="1" kern="0" dirty="0" smtClean="0">
                <a:solidFill>
                  <a:srgbClr val="FFFFFF"/>
                </a:solidFill>
                <a:latin typeface="微软雅黑" pitchFamily="34" charset="-122"/>
                <a:ea typeface="微软雅黑" pitchFamily="34" charset="-122"/>
              </a:rPr>
              <a:t>基本面因素、流动性因素、估值因素、供求交易因素</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货币类资产：资金价格由资金供需所决定，货币政策松紧是关键，决定了资金面的松紧程度</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基本面因素：央行货币政策供给：政策利率、准备金率以及其他数量型工具；实体经济资金需求：经济增速（</a:t>
            </a:r>
            <a:r>
              <a:rPr lang="en-US" altLang="zh-CN" sz="1200" b="1" i="1" kern="0" dirty="0" smtClean="0">
                <a:solidFill>
                  <a:srgbClr val="FFFFFF"/>
                </a:solidFill>
                <a:latin typeface="微软雅黑" pitchFamily="34" charset="-122"/>
                <a:ea typeface="微软雅黑" pitchFamily="34" charset="-122"/>
              </a:rPr>
              <a:t>GDP</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PMI</a:t>
            </a:r>
            <a:r>
              <a:rPr lang="zh-CN" altLang="en-US" sz="1200" b="1" i="1" kern="0" dirty="0" smtClean="0">
                <a:solidFill>
                  <a:srgbClr val="FFFFFF"/>
                </a:solidFill>
                <a:latin typeface="微软雅黑" pitchFamily="34" charset="-122"/>
                <a:ea typeface="微软雅黑" pitchFamily="34" charset="-122"/>
              </a:rPr>
              <a:t>、工业增加值）、</a:t>
            </a:r>
            <a:r>
              <a:rPr lang="en-US" altLang="zh-CN" sz="1200" b="1" i="1" kern="0" dirty="0" smtClean="0">
                <a:solidFill>
                  <a:srgbClr val="FFFFFF"/>
                </a:solidFill>
                <a:latin typeface="微软雅黑" pitchFamily="34" charset="-122"/>
                <a:ea typeface="微软雅黑" pitchFamily="34" charset="-122"/>
              </a:rPr>
              <a:t>CPI</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PPI</a:t>
            </a:r>
            <a:r>
              <a:rPr lang="zh-CN" altLang="en-US" sz="1200" b="1" i="1" kern="0" dirty="0" smtClean="0">
                <a:solidFill>
                  <a:srgbClr val="FFFFFF"/>
                </a:solidFill>
                <a:latin typeface="微软雅黑" pitchFamily="34" charset="-122"/>
                <a:ea typeface="微软雅黑" pitchFamily="34" charset="-122"/>
              </a:rPr>
              <a:t>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  </a:t>
            </a:r>
            <a:r>
              <a:rPr lang="zh-CN" altLang="en-US" sz="1200" b="1" i="1" kern="0" dirty="0" smtClean="0">
                <a:solidFill>
                  <a:srgbClr val="FFFFFF"/>
                </a:solidFill>
                <a:latin typeface="微软雅黑" pitchFamily="34" charset="-122"/>
                <a:ea typeface="微软雅黑" pitchFamily="34" charset="-122"/>
              </a:rPr>
              <a:t>政策利率（</a:t>
            </a:r>
            <a:r>
              <a:rPr lang="en-US" altLang="zh-CN" sz="1200" b="1" i="1" kern="0" dirty="0" smtClean="0">
                <a:solidFill>
                  <a:srgbClr val="FFFFFF"/>
                </a:solidFill>
                <a:latin typeface="微软雅黑" pitchFamily="34" charset="-122"/>
                <a:ea typeface="微软雅黑" pitchFamily="34" charset="-122"/>
              </a:rPr>
              <a:t>LPR</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MLF</a:t>
            </a:r>
            <a:r>
              <a:rPr lang="zh-CN" altLang="en-US" sz="1200" b="1" i="1" kern="0" dirty="0" smtClean="0">
                <a:solidFill>
                  <a:srgbClr val="FFFFFF"/>
                </a:solidFill>
                <a:latin typeface="微软雅黑" pitchFamily="34" charset="-122"/>
                <a:ea typeface="微软雅黑" pitchFamily="34" charset="-122"/>
              </a:rPr>
              <a:t>）、准备金率以及货币政策工具</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估值因素：银行间的隔夜或者</a:t>
            </a:r>
            <a:r>
              <a:rPr lang="en-US" altLang="zh-CN" sz="1200" b="1" i="1" kern="0" dirty="0" smtClean="0">
                <a:solidFill>
                  <a:srgbClr val="FFFFFF"/>
                </a:solidFill>
                <a:latin typeface="微软雅黑" pitchFamily="34" charset="-122"/>
                <a:ea typeface="微软雅黑" pitchFamily="34" charset="-122"/>
              </a:rPr>
              <a:t>7</a:t>
            </a:r>
            <a:r>
              <a:rPr lang="zh-CN" altLang="en-US" sz="1200" b="1" i="1" kern="0" dirty="0" smtClean="0">
                <a:solidFill>
                  <a:srgbClr val="FFFFFF"/>
                </a:solidFill>
                <a:latin typeface="微软雅黑" pitchFamily="34" charset="-122"/>
                <a:ea typeface="微软雅黑" pitchFamily="34" charset="-122"/>
              </a:rPr>
              <a:t>天质押式回购利率等资金利率</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固收类资产：由基本面（增长和通胀）、流动性以及供求关系所驱动。债券类资产还可以进一步区分为利率债和信用债。</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基本面因素：实体经济增长：</a:t>
            </a:r>
            <a:r>
              <a:rPr lang="en-US" altLang="zh-CN" sz="1200" b="1" i="1" kern="0" dirty="0" smtClean="0">
                <a:solidFill>
                  <a:srgbClr val="FFFFFF"/>
                </a:solidFill>
                <a:latin typeface="微软雅黑" pitchFamily="34" charset="-122"/>
                <a:ea typeface="微软雅黑" pitchFamily="34" charset="-122"/>
              </a:rPr>
              <a:t>GDP</a:t>
            </a:r>
            <a:r>
              <a:rPr lang="zh-CN" altLang="en-US" sz="1200" b="1" i="1" kern="0" dirty="0" smtClean="0">
                <a:solidFill>
                  <a:srgbClr val="FFFFFF"/>
                </a:solidFill>
                <a:latin typeface="微软雅黑" pitchFamily="34" charset="-122"/>
                <a:ea typeface="微软雅黑" pitchFamily="34" charset="-122"/>
              </a:rPr>
              <a:t>增速、</a:t>
            </a:r>
            <a:r>
              <a:rPr lang="en-US" altLang="zh-CN" sz="1200" b="1" i="1" kern="0" dirty="0" smtClean="0">
                <a:solidFill>
                  <a:srgbClr val="FFFFFF"/>
                </a:solidFill>
                <a:latin typeface="微软雅黑" pitchFamily="34" charset="-122"/>
                <a:ea typeface="微软雅黑" pitchFamily="34" charset="-122"/>
              </a:rPr>
              <a:t>PMI</a:t>
            </a:r>
            <a:r>
              <a:rPr lang="zh-CN" altLang="en-US" sz="1200" b="1" i="1" kern="0" dirty="0" smtClean="0">
                <a:solidFill>
                  <a:srgbClr val="FFFFFF"/>
                </a:solidFill>
                <a:latin typeface="微软雅黑" pitchFamily="34" charset="-122"/>
                <a:ea typeface="微软雅黑" pitchFamily="34" charset="-122"/>
              </a:rPr>
              <a:t>、工业增加值；通胀以及预期：</a:t>
            </a:r>
            <a:r>
              <a:rPr lang="en-US" altLang="zh-CN" sz="1200" b="1" i="1" kern="0" dirty="0" smtClean="0">
                <a:solidFill>
                  <a:srgbClr val="FFFFFF"/>
                </a:solidFill>
                <a:latin typeface="微软雅黑" pitchFamily="34" charset="-122"/>
                <a:ea typeface="微软雅黑" pitchFamily="34" charset="-122"/>
              </a:rPr>
              <a:t>CPI</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PPI</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 </a:t>
            </a:r>
            <a:r>
              <a:rPr lang="zh-CN" altLang="en-US" sz="1200" b="1" i="1" kern="0" dirty="0" smtClean="0">
                <a:solidFill>
                  <a:srgbClr val="FFFFFF"/>
                </a:solidFill>
                <a:latin typeface="微软雅黑" pitchFamily="34" charset="-122"/>
                <a:ea typeface="微软雅黑" pitchFamily="34" charset="-122"/>
              </a:rPr>
              <a:t>政策利率（</a:t>
            </a:r>
            <a:r>
              <a:rPr lang="en-US" altLang="zh-CN" sz="1200" b="1" i="1" kern="0" dirty="0" smtClean="0">
                <a:solidFill>
                  <a:srgbClr val="FFFFFF"/>
                </a:solidFill>
                <a:latin typeface="微软雅黑" pitchFamily="34" charset="-122"/>
                <a:ea typeface="微软雅黑" pitchFamily="34" charset="-122"/>
              </a:rPr>
              <a:t>LPR</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MLF</a:t>
            </a:r>
            <a:r>
              <a:rPr lang="zh-CN" altLang="en-US" sz="1200" b="1" i="1" kern="0" dirty="0" smtClean="0">
                <a:solidFill>
                  <a:srgbClr val="FFFFFF"/>
                </a:solidFill>
                <a:latin typeface="微软雅黑" pitchFamily="34" charset="-122"/>
                <a:ea typeface="微软雅黑" pitchFamily="34" charset="-122"/>
              </a:rPr>
              <a:t>）、准备金率以及货币政策工具、资金利率</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估值因素：期限利差、信用利差、国别利差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供求交易因素：供给：国债、政策性银行债、地方专项债发行量；需求：银行、基金、保险、券商等配置行为</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权益类资产：由现金回报（分红等）和资本利得两部分收益构成。而后者即股价涨跌幅，由盈利变动和估值变动两部分组成</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基本面因素：宏观基本面：</a:t>
            </a:r>
            <a:r>
              <a:rPr lang="en-US" altLang="zh-CN" sz="1200" b="1" i="1" kern="0" dirty="0" smtClean="0">
                <a:solidFill>
                  <a:srgbClr val="FFFFFF"/>
                </a:solidFill>
                <a:latin typeface="微软雅黑" pitchFamily="34" charset="-122"/>
                <a:ea typeface="微软雅黑" pitchFamily="34" charset="-122"/>
              </a:rPr>
              <a:t>GDP</a:t>
            </a:r>
            <a:r>
              <a:rPr lang="zh-CN" altLang="en-US" sz="1200" b="1" i="1" kern="0" dirty="0" smtClean="0">
                <a:solidFill>
                  <a:srgbClr val="FFFFFF"/>
                </a:solidFill>
                <a:latin typeface="微软雅黑" pitchFamily="34" charset="-122"/>
                <a:ea typeface="微软雅黑" pitchFamily="34" charset="-122"/>
              </a:rPr>
              <a:t>（投资、消费、出口）、</a:t>
            </a:r>
            <a:r>
              <a:rPr lang="en-US" altLang="zh-CN" sz="1200" b="1" i="1" kern="0" dirty="0" smtClean="0">
                <a:solidFill>
                  <a:srgbClr val="FFFFFF"/>
                </a:solidFill>
                <a:latin typeface="微软雅黑" pitchFamily="34" charset="-122"/>
                <a:ea typeface="微软雅黑" pitchFamily="34" charset="-122"/>
              </a:rPr>
              <a:t>PMI</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CPI</a:t>
            </a:r>
            <a:r>
              <a:rPr lang="zh-CN" altLang="en-US" sz="1200" b="1" i="1" kern="0" dirty="0" smtClean="0">
                <a:solidFill>
                  <a:srgbClr val="FFFFFF"/>
                </a:solidFill>
                <a:latin typeface="微软雅黑" pitchFamily="34" charset="-122"/>
                <a:ea typeface="微软雅黑" pitchFamily="34" charset="-122"/>
              </a:rPr>
              <a:t>、社融；企业盈利：收入、成本、利润、杠杆、现金流等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a:t>
            </a:r>
            <a:r>
              <a:rPr lang="zh-CN" altLang="en-US" sz="1200" b="1" i="1" kern="0" dirty="0" smtClean="0">
                <a:solidFill>
                  <a:srgbClr val="FFFFFF"/>
                </a:solidFill>
                <a:latin typeface="微软雅黑" pitchFamily="34" charset="-122"/>
                <a:ea typeface="微软雅黑" pitchFamily="34" charset="-122"/>
              </a:rPr>
              <a:t>政策利率（</a:t>
            </a:r>
            <a:r>
              <a:rPr lang="en-US" altLang="zh-CN" sz="1200" b="1" i="1" kern="0" dirty="0" smtClean="0">
                <a:solidFill>
                  <a:srgbClr val="FFFFFF"/>
                </a:solidFill>
                <a:latin typeface="微软雅黑" pitchFamily="34" charset="-122"/>
                <a:ea typeface="微软雅黑" pitchFamily="34" charset="-122"/>
              </a:rPr>
              <a:t>LPR</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MLF</a:t>
            </a:r>
            <a:r>
              <a:rPr lang="zh-CN" altLang="en-US" sz="1200" b="1" i="1" kern="0" dirty="0" smtClean="0">
                <a:solidFill>
                  <a:srgbClr val="FFFFFF"/>
                </a:solidFill>
                <a:latin typeface="微软雅黑" pitchFamily="34" charset="-122"/>
                <a:ea typeface="微软雅黑" pitchFamily="34" charset="-122"/>
              </a:rPr>
              <a:t>）、准备金率以及货币政策工具、资金利率、国债收益率等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估值因素：绝对估值：</a:t>
            </a:r>
            <a:r>
              <a:rPr lang="en-US" altLang="zh-CN" sz="1200" b="1" i="1" kern="0" dirty="0" smtClean="0">
                <a:solidFill>
                  <a:srgbClr val="FFFFFF"/>
                </a:solidFill>
                <a:latin typeface="微软雅黑" pitchFamily="34" charset="-122"/>
                <a:ea typeface="微软雅黑" pitchFamily="34" charset="-122"/>
              </a:rPr>
              <a:t>PE</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PB</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PS</a:t>
            </a:r>
            <a:r>
              <a:rPr lang="zh-CN" altLang="en-US" sz="1200" b="1" i="1" kern="0" dirty="0" smtClean="0">
                <a:solidFill>
                  <a:srgbClr val="FFFFFF"/>
                </a:solidFill>
                <a:latin typeface="微软雅黑" pitchFamily="34" charset="-122"/>
                <a:ea typeface="微软雅黑" pitchFamily="34" charset="-122"/>
              </a:rPr>
              <a:t>、股息率、</a:t>
            </a:r>
            <a:r>
              <a:rPr lang="en-US" altLang="zh-CN" sz="1200" b="1" i="1" kern="0" dirty="0" smtClean="0">
                <a:solidFill>
                  <a:srgbClr val="FFFFFF"/>
                </a:solidFill>
                <a:latin typeface="微软雅黑" pitchFamily="34" charset="-122"/>
                <a:ea typeface="微软雅黑" pitchFamily="34" charset="-122"/>
              </a:rPr>
              <a:t>PEG</a:t>
            </a:r>
            <a:r>
              <a:rPr lang="zh-CN" altLang="en-US" sz="1200" b="1" i="1" kern="0" dirty="0" smtClean="0">
                <a:solidFill>
                  <a:srgbClr val="FFFFFF"/>
                </a:solidFill>
                <a:latin typeface="微软雅黑" pitchFamily="34" charset="-122"/>
                <a:ea typeface="微软雅黑" pitchFamily="34" charset="-122"/>
              </a:rPr>
              <a:t>；相对估值：股权风险溢价、</a:t>
            </a:r>
            <a:r>
              <a:rPr lang="en-US" altLang="zh-CN" sz="1200" b="1" i="1" kern="0" dirty="0" smtClean="0">
                <a:solidFill>
                  <a:srgbClr val="FFFFFF"/>
                </a:solidFill>
                <a:latin typeface="微软雅黑" pitchFamily="34" charset="-122"/>
                <a:ea typeface="微软雅黑" pitchFamily="34" charset="-122"/>
              </a:rPr>
              <a:t>A-H</a:t>
            </a:r>
            <a:r>
              <a:rPr lang="zh-CN" altLang="en-US" sz="1200" b="1" i="1" kern="0" dirty="0" smtClean="0">
                <a:solidFill>
                  <a:srgbClr val="FFFFFF"/>
                </a:solidFill>
                <a:latin typeface="微软雅黑" pitchFamily="34" charset="-122"/>
                <a:ea typeface="微软雅黑" pitchFamily="34" charset="-122"/>
              </a:rPr>
              <a:t>溢价等；情绪指标：换手率、超卖超买、</a:t>
            </a:r>
            <a:r>
              <a:rPr lang="en-US" altLang="zh-CN" sz="1200" b="1" i="1" kern="0" dirty="0" smtClean="0">
                <a:solidFill>
                  <a:srgbClr val="FFFFFF"/>
                </a:solidFill>
                <a:latin typeface="微软雅黑" pitchFamily="34" charset="-122"/>
                <a:ea typeface="微软雅黑" pitchFamily="34" charset="-122"/>
              </a:rPr>
              <a:t>MA60</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供求交易因素：供给：</a:t>
            </a:r>
            <a:r>
              <a:rPr lang="en-US" altLang="zh-CN" sz="1200" b="1" i="1" kern="0" dirty="0" smtClean="0">
                <a:solidFill>
                  <a:srgbClr val="FFFFFF"/>
                </a:solidFill>
                <a:latin typeface="微软雅黑" pitchFamily="34" charset="-122"/>
                <a:ea typeface="微软雅黑" pitchFamily="34" charset="-122"/>
              </a:rPr>
              <a:t>IPO</a:t>
            </a:r>
            <a:r>
              <a:rPr lang="zh-CN" altLang="en-US" sz="1200" b="1" i="1" kern="0" dirty="0" smtClean="0">
                <a:solidFill>
                  <a:srgbClr val="FFFFFF"/>
                </a:solidFill>
                <a:latin typeface="微软雅黑" pitchFamily="34" charset="-122"/>
                <a:ea typeface="微软雅黑" pitchFamily="34" charset="-122"/>
              </a:rPr>
              <a:t>、定增、限售股解禁等；需求：基金、外资、保险、私募等机构行为等</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商品资产：商品兼备商品属性和金融属性。商品属性指作为实物的供需结构，长期需求是更为决定性的因素，而短期供给会对商品价格形成明显的扰动。金融属性指商品作为资产为持有人提供保值、增值和资金融通等功能的属性，往往与宏观因素有关，如汇率、政治、经济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基本面因素：各类产品自身供需格局；需求：全球主要经济体消费、投资增速等；供给：主要大宗商品产能、产量、资本开支等；库存水平、增速等；黄金：美国国债实际利率水平：美国</a:t>
            </a:r>
            <a:r>
              <a:rPr lang="en-US" altLang="zh-CN" sz="1200" b="1" i="1" kern="0" dirty="0" smtClean="0">
                <a:solidFill>
                  <a:srgbClr val="FFFFFF"/>
                </a:solidFill>
                <a:latin typeface="微软雅黑" pitchFamily="34" charset="-122"/>
                <a:ea typeface="微软雅黑" pitchFamily="34" charset="-122"/>
              </a:rPr>
              <a:t>10</a:t>
            </a:r>
            <a:r>
              <a:rPr lang="zh-CN" altLang="en-US" sz="1200" b="1" i="1" kern="0" dirty="0" smtClean="0">
                <a:solidFill>
                  <a:srgbClr val="FFFFFF"/>
                </a:solidFill>
                <a:latin typeface="微软雅黑" pitchFamily="34" charset="-122"/>
                <a:ea typeface="微软雅黑" pitchFamily="34" charset="-122"/>
              </a:rPr>
              <a:t>年期国债收益率</a:t>
            </a:r>
            <a:r>
              <a:rPr lang="en-US" altLang="zh-CN" sz="1200" b="1" i="1" kern="0" dirty="0" smtClean="0">
                <a:solidFill>
                  <a:srgbClr val="FFFFFF"/>
                </a:solidFill>
                <a:latin typeface="微软雅黑" pitchFamily="34" charset="-122"/>
                <a:ea typeface="微软雅黑" pitchFamily="34" charset="-122"/>
              </a:rPr>
              <a:t>-10</a:t>
            </a:r>
            <a:r>
              <a:rPr lang="zh-CN" altLang="en-US" sz="1200" b="1" i="1" kern="0" dirty="0" smtClean="0">
                <a:solidFill>
                  <a:srgbClr val="FFFFFF"/>
                </a:solidFill>
                <a:latin typeface="微软雅黑" pitchFamily="34" charset="-122"/>
                <a:ea typeface="微软雅黑" pitchFamily="34" charset="-122"/>
              </a:rPr>
              <a:t>年通胀预期</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a:t>
            </a:r>
            <a:r>
              <a:rPr lang="zh-CN" altLang="en-US" sz="1200" b="1" i="1" kern="0" dirty="0" smtClean="0">
                <a:solidFill>
                  <a:srgbClr val="FFFFFF"/>
                </a:solidFill>
                <a:latin typeface="微软雅黑" pitchFamily="34" charset="-122"/>
                <a:ea typeface="微软雅黑" pitchFamily="34" charset="-122"/>
              </a:rPr>
              <a:t>全球央行货币政策松紧变化，如美、欧、日、中联储政策利率变化、资产负债表变化</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估值因素：相对估值：铜油比、金油比。黄金：铜金比、美元、美债实际利率、全球负利率债券规模</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供求交易因素：需求：全球主要经济体消费、投资增速、地缘政治、金融经济危机、突发事件；供给：主要大宗商品产能、产量、资本开支等；库存水平和增速、央行、主权基金行为</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i="1" kern="0" dirty="0" smtClean="0">
                <a:solidFill>
                  <a:srgbClr val="FFFFFF"/>
                </a:solidFill>
                <a:latin typeface="微软雅黑" pitchFamily="34" charset="-122"/>
                <a:ea typeface="微软雅黑" pitchFamily="34" charset="-122"/>
              </a:rPr>
              <a:t>QDII:</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基本面因素：经济强弱、通胀、就业、企业盈利、政策目标</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流动性因素：市场资金松紧、利率水平、货币宽松 </a:t>
            </a:r>
            <a:r>
              <a:rPr lang="en-US" altLang="zh-CN" sz="1200" b="1" i="1" kern="0" dirty="0" smtClean="0">
                <a:solidFill>
                  <a:srgbClr val="FFFFFF"/>
                </a:solidFill>
                <a:latin typeface="微软雅黑" pitchFamily="34" charset="-122"/>
                <a:ea typeface="微软雅黑" pitchFamily="34" charset="-122"/>
              </a:rPr>
              <a:t>/ </a:t>
            </a:r>
            <a:r>
              <a:rPr lang="zh-CN" altLang="en-US" sz="1200" b="1" i="1" kern="0" dirty="0" smtClean="0">
                <a:solidFill>
                  <a:srgbClr val="FFFFFF"/>
                </a:solidFill>
                <a:latin typeface="微软雅黑" pitchFamily="34" charset="-122"/>
                <a:ea typeface="微软雅黑" pitchFamily="34" charset="-122"/>
              </a:rPr>
              <a:t>紧缩</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估值因素：相对估值、绝对估值、风险溢价、比价关系</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供求交易因素：买卖力量、机构行为、资金流向、衍生品、情绪</a:t>
            </a:r>
            <a:endParaRPr lang="zh-CN" altLang="en-US" i="1"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i="1"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11</a:t>
            </a:fld>
            <a:endParaRPr lang="zh-CN" altLang="en-US"/>
          </a:p>
        </p:txBody>
      </p:sp>
    </p:spTree>
    <p:extLst>
      <p:ext uri="{BB962C8B-B14F-4D97-AF65-F5344CB8AC3E}">
        <p14:creationId xmlns:p14="http://schemas.microsoft.com/office/powerpoint/2010/main" val="3968302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首先选基模型的表现需要一个锚来判定这个模型的效果的好坏。</a:t>
            </a:r>
            <a:endParaRPr lang="en-US" altLang="zh-CN" dirty="0" smtClean="0"/>
          </a:p>
          <a:p>
            <a:r>
              <a:rPr lang="zh-CN" altLang="en-US" dirty="0" smtClean="0"/>
              <a:t>我们定的目标是，模型选出的组合要能长期战胜</a:t>
            </a:r>
            <a:r>
              <a:rPr lang="en-US" altLang="zh-CN" dirty="0" smtClean="0"/>
              <a:t>930950</a:t>
            </a:r>
            <a:r>
              <a:rPr lang="zh-CN" altLang="en-US" dirty="0" smtClean="0"/>
              <a:t>这个偏股基金指数。</a:t>
            </a:r>
            <a:endParaRPr lang="en-US" altLang="zh-CN" dirty="0" smtClean="0"/>
          </a:p>
          <a:p>
            <a:r>
              <a:rPr lang="zh-CN" altLang="en-US" dirty="0" smtClean="0"/>
              <a:t>因为我们研究发现，如果能长期跟住甚至战胜这个基金指数的收益，可以获取长期的较好的年度收益的同时，也可以获得好的相对收益。</a:t>
            </a:r>
            <a:endParaRPr lang="en-US" altLang="zh-CN" dirty="0" smtClean="0"/>
          </a:p>
          <a:p>
            <a:endParaRPr lang="en-US" altLang="zh-CN" dirty="0" smtClean="0"/>
          </a:p>
          <a:p>
            <a:r>
              <a:rPr lang="zh-CN" altLang="en-US" dirty="0" smtClean="0"/>
              <a:t>左上图展示的是在过去</a:t>
            </a:r>
            <a:r>
              <a:rPr lang="en-US" altLang="zh-CN" dirty="0" smtClean="0"/>
              <a:t>5</a:t>
            </a:r>
            <a:r>
              <a:rPr lang="zh-CN" altLang="en-US" dirty="0" smtClean="0"/>
              <a:t>年区间全市场的权益类基金的收益率和偏股基金指数的收益率的比较结果。</a:t>
            </a:r>
            <a:endParaRPr lang="en-US" altLang="zh-CN" dirty="0" smtClean="0"/>
          </a:p>
          <a:p>
            <a:r>
              <a:rPr lang="zh-CN" altLang="en-US" dirty="0" smtClean="0"/>
              <a:t>可以看到，总体来看只有大概一半多的权益基金的收益率能够超越偏股基金指数，</a:t>
            </a:r>
            <a:endParaRPr lang="en-US" altLang="zh-CN" dirty="0" smtClean="0"/>
          </a:p>
          <a:p>
            <a:r>
              <a:rPr lang="zh-CN" altLang="en-US" dirty="0" smtClean="0"/>
              <a:t>如果我们收紧筛选条件，把它定为过去</a:t>
            </a:r>
            <a:r>
              <a:rPr lang="en-US" altLang="zh-CN" dirty="0" smtClean="0"/>
              <a:t>5</a:t>
            </a:r>
            <a:r>
              <a:rPr lang="zh-CN" altLang="en-US" dirty="0" smtClean="0"/>
              <a:t>年每个年度都能战胜偏股基金指数的权益基金的数量和比例，可以看到，右下的图，那</a:t>
            </a:r>
            <a:r>
              <a:rPr lang="en-US" altLang="zh-CN" dirty="0" smtClean="0"/>
              <a:t>5</a:t>
            </a:r>
            <a:r>
              <a:rPr lang="zh-CN" altLang="en-US" dirty="0" smtClean="0"/>
              <a:t>年累计下来就只有</a:t>
            </a:r>
            <a:r>
              <a:rPr lang="en-US" altLang="zh-CN" dirty="0" smtClean="0"/>
              <a:t>3%</a:t>
            </a:r>
            <a:r>
              <a:rPr lang="zh-CN" altLang="en-US" dirty="0" smtClean="0"/>
              <a:t>左右的权益基金能达到每年都战胜指数的效果了。</a:t>
            </a:r>
            <a:endParaRPr lang="en-US" altLang="zh-CN" dirty="0" smtClean="0"/>
          </a:p>
          <a:p>
            <a:endParaRPr lang="en-US" altLang="zh-CN" dirty="0" smtClean="0"/>
          </a:p>
          <a:p>
            <a:r>
              <a:rPr lang="zh-CN" altLang="en-US" dirty="0" smtClean="0"/>
              <a:t>那右边这个图，展示的是过去近十年偏股基金指数每个年度和全市场权益基金的收益比较的结果，可以看到每年几乎都排在</a:t>
            </a:r>
            <a:r>
              <a:rPr lang="en-US" altLang="zh-CN" dirty="0" smtClean="0"/>
              <a:t>50%</a:t>
            </a:r>
            <a:r>
              <a:rPr lang="zh-CN" altLang="en-US" dirty="0" smtClean="0"/>
              <a:t>左右的位置。</a:t>
            </a:r>
            <a:endParaRPr lang="en-US" altLang="zh-CN" dirty="0" smtClean="0"/>
          </a:p>
          <a:p>
            <a:endParaRPr lang="en-US" altLang="zh-CN" dirty="0" smtClean="0"/>
          </a:p>
          <a:p>
            <a:r>
              <a:rPr lang="zh-CN" altLang="en-US" dirty="0" smtClean="0"/>
              <a:t>也就是说，如果每年都能够跟上甚至战胜这个基金指数的收益，可以给投资者带来很好的持有体验，并且能够获得较好的相对收益，而且偏股基金指数的年化收益在</a:t>
            </a:r>
            <a:r>
              <a:rPr lang="en-US" altLang="zh-CN" dirty="0" smtClean="0"/>
              <a:t>10%</a:t>
            </a:r>
            <a:r>
              <a:rPr lang="zh-CN" altLang="en-US" dirty="0" smtClean="0"/>
              <a:t>左右，也能得到较好的长期绝对收益。</a:t>
            </a:r>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12</a:t>
            </a:fld>
            <a:endParaRPr lang="zh-CN" altLang="en-US"/>
          </a:p>
        </p:txBody>
      </p:sp>
    </p:spTree>
    <p:extLst>
      <p:ext uri="{BB962C8B-B14F-4D97-AF65-F5344CB8AC3E}">
        <p14:creationId xmlns:p14="http://schemas.microsoft.com/office/powerpoint/2010/main" val="2510585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13</a:t>
            </a:fld>
            <a:endParaRPr lang="zh-CN" altLang="en-US"/>
          </a:p>
        </p:txBody>
      </p:sp>
    </p:spTree>
    <p:extLst>
      <p:ext uri="{BB962C8B-B14F-4D97-AF65-F5344CB8AC3E}">
        <p14:creationId xmlns:p14="http://schemas.microsoft.com/office/powerpoint/2010/main" val="780282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14</a:t>
            </a:fld>
            <a:endParaRPr lang="zh-CN" altLang="en-US"/>
          </a:p>
        </p:txBody>
      </p:sp>
    </p:spTree>
    <p:extLst>
      <p:ext uri="{BB962C8B-B14F-4D97-AF65-F5344CB8AC3E}">
        <p14:creationId xmlns:p14="http://schemas.microsoft.com/office/powerpoint/2010/main" val="630546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那模型效果如何呢？</a:t>
            </a:r>
            <a:endParaRPr lang="en-US" altLang="zh-CN" dirty="0" smtClean="0"/>
          </a:p>
          <a:p>
            <a:endParaRPr lang="en-US" altLang="zh-CN" dirty="0" smtClean="0"/>
          </a:p>
          <a:p>
            <a:r>
              <a:rPr lang="zh-CN" altLang="en-US" dirty="0" smtClean="0"/>
              <a:t>这是净值走势和偏股基金的走势比较。</a:t>
            </a:r>
            <a:endParaRPr lang="en-US" altLang="zh-CN" dirty="0" smtClean="0"/>
          </a:p>
          <a:p>
            <a:r>
              <a:rPr lang="zh-CN" altLang="en-US" dirty="0" smtClean="0"/>
              <a:t>因为合规要求不能展示模型的具体的收益和风险数据，那我来口诉一下模型的效果。</a:t>
            </a:r>
            <a:endParaRPr lang="en-US" altLang="zh-CN" dirty="0" smtClean="0"/>
          </a:p>
          <a:p>
            <a:r>
              <a:rPr lang="zh-CN" altLang="en-US" dirty="0" smtClean="0"/>
              <a:t>从</a:t>
            </a:r>
            <a:r>
              <a:rPr lang="en-US" altLang="zh-CN" dirty="0" smtClean="0"/>
              <a:t>2017</a:t>
            </a:r>
            <a:r>
              <a:rPr lang="zh-CN" altLang="en-US" dirty="0" smtClean="0"/>
              <a:t>年到</a:t>
            </a:r>
            <a:r>
              <a:rPr lang="en-US" altLang="zh-CN" dirty="0" smtClean="0"/>
              <a:t>2025</a:t>
            </a:r>
            <a:r>
              <a:rPr lang="zh-CN" altLang="en-US" dirty="0" smtClean="0"/>
              <a:t>年的每个年度，包括</a:t>
            </a:r>
            <a:r>
              <a:rPr lang="en-US" altLang="zh-CN" dirty="0" smtClean="0"/>
              <a:t>2026</a:t>
            </a:r>
            <a:r>
              <a:rPr lang="zh-CN" altLang="en-US" dirty="0" smtClean="0"/>
              <a:t>年至今，相对偏股基金都是由超额收益的，累计下来年化的超额收益将近</a:t>
            </a:r>
            <a:r>
              <a:rPr lang="en-US" altLang="zh-CN" dirty="0" smtClean="0"/>
              <a:t>6%</a:t>
            </a:r>
            <a:r>
              <a:rPr lang="zh-CN" altLang="en-US" dirty="0" smtClean="0"/>
              <a:t>。</a:t>
            </a:r>
            <a:endParaRPr lang="en-US" altLang="zh-CN" dirty="0" smtClean="0"/>
          </a:p>
          <a:p>
            <a:r>
              <a:rPr lang="zh-CN" altLang="en-US" dirty="0" smtClean="0"/>
              <a:t>而且在日度、周度、月度的胜率上都在</a:t>
            </a:r>
            <a:r>
              <a:rPr lang="en-US" altLang="zh-CN" dirty="0" smtClean="0"/>
              <a:t>50%-60%</a:t>
            </a:r>
            <a:r>
              <a:rPr lang="zh-CN" altLang="en-US" dirty="0" smtClean="0"/>
              <a:t>之间</a:t>
            </a:r>
            <a:endParaRPr lang="en-US" altLang="zh-CN" dirty="0" smtClean="0"/>
          </a:p>
          <a:p>
            <a:endParaRPr lang="en-US" altLang="zh-CN" dirty="0" smtClean="0"/>
          </a:p>
          <a:p>
            <a:endParaRPr lang="en-US" altLang="zh-CN" dirty="0" smtClean="0"/>
          </a:p>
          <a:p>
            <a:r>
              <a:rPr lang="zh-CN" altLang="en-US" dirty="0" smtClean="0"/>
              <a:t>这是模型选出的一个行业中性组合，也就是在每一期的备选池之中，选出和指数相比行业配置偏离最小化的组合，行业偏离都控制在大概</a:t>
            </a:r>
            <a:r>
              <a:rPr lang="en-US" altLang="zh-CN" dirty="0" smtClean="0"/>
              <a:t>5%</a:t>
            </a:r>
            <a:r>
              <a:rPr lang="zh-CN" altLang="en-US" dirty="0" smtClean="0"/>
              <a:t>以内，也就是说超额收益主要来源是基金经理的选股能力，在行业配置大致相同的情况下，由基金经理的选股能力所获得的</a:t>
            </a:r>
            <a:r>
              <a:rPr lang="en-US" altLang="zh-CN" dirty="0" smtClean="0"/>
              <a:t>alpha</a:t>
            </a:r>
            <a:r>
              <a:rPr lang="zh-CN" altLang="en-US" dirty="0" smtClean="0"/>
              <a:t>。</a:t>
            </a:r>
            <a:endParaRPr lang="en-US" altLang="zh-CN" dirty="0" smtClean="0"/>
          </a:p>
          <a:p>
            <a:r>
              <a:rPr lang="zh-CN" altLang="en-US" dirty="0" smtClean="0"/>
              <a:t>模型还可以根据不同的产品的需求调整行业偏离的程度，比如如果把单个行业比例配置上限放宽到</a:t>
            </a:r>
            <a:r>
              <a:rPr lang="en-US" altLang="zh-CN" dirty="0" smtClean="0"/>
              <a:t>20%</a:t>
            </a:r>
            <a:r>
              <a:rPr lang="zh-CN" altLang="en-US" dirty="0" smtClean="0"/>
              <a:t>，那年化超额收益能够增加</a:t>
            </a:r>
            <a:r>
              <a:rPr lang="en-US" altLang="zh-CN" dirty="0" smtClean="0"/>
              <a:t>2-3%</a:t>
            </a:r>
            <a:r>
              <a:rPr lang="zh-CN" altLang="en-US" dirty="0" smtClean="0"/>
              <a:t>，不过放大行业偏离度，可以在长时间维度上获取行业超配的超额收益，但是也会增加超额收益的波动率，会导致比如某个年度持续跑输偏股基金指数。</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15</a:t>
            </a:fld>
            <a:endParaRPr lang="zh-CN" altLang="en-US"/>
          </a:p>
        </p:txBody>
      </p:sp>
    </p:spTree>
    <p:extLst>
      <p:ext uri="{BB962C8B-B14F-4D97-AF65-F5344CB8AC3E}">
        <p14:creationId xmlns:p14="http://schemas.microsoft.com/office/powerpoint/2010/main" val="259056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我使用的机器学习选基模型，简单来说就是右边这个图显示的，当然，这个展示的是特征如果只有</a:t>
            </a:r>
            <a:r>
              <a:rPr lang="en-US" altLang="zh-CN" dirty="0" smtClean="0"/>
              <a:t>3</a:t>
            </a:r>
            <a:r>
              <a:rPr lang="zh-CN" altLang="en-US" dirty="0" smtClean="0"/>
              <a:t>个的情况下，在三维空间之中找到一个平面去区分选择出表现优秀的前</a:t>
            </a:r>
            <a:r>
              <a:rPr lang="en-US" altLang="zh-CN" dirty="0" smtClean="0"/>
              <a:t>N</a:t>
            </a:r>
            <a:r>
              <a:rPr lang="zh-CN" altLang="en-US" dirty="0" smtClean="0"/>
              <a:t>支基金。如果特征超过</a:t>
            </a:r>
            <a:r>
              <a:rPr lang="en-US" altLang="zh-CN" dirty="0" smtClean="0"/>
              <a:t>3</a:t>
            </a:r>
            <a:r>
              <a:rPr lang="zh-CN" altLang="en-US" dirty="0" smtClean="0"/>
              <a:t>个的时候，那就是在多维度空间去寻找一个超平面来达到选基效果。</a:t>
            </a:r>
            <a:endParaRPr lang="en-US" altLang="zh-CN" dirty="0" smtClean="0"/>
          </a:p>
          <a:p>
            <a:endParaRPr lang="en-US" altLang="zh-CN" dirty="0" smtClean="0"/>
          </a:p>
          <a:p>
            <a:r>
              <a:rPr lang="zh-CN" altLang="en-US" dirty="0" smtClean="0"/>
              <a:t>选择这个模型和传统的线性回归模型优势主要有三个：</a:t>
            </a:r>
            <a:endParaRPr lang="en-US" altLang="zh-CN" dirty="0" smtClean="0"/>
          </a:p>
          <a:p>
            <a:r>
              <a:rPr lang="en-US" altLang="zh-CN" dirty="0" smtClean="0"/>
              <a:t>1.</a:t>
            </a:r>
            <a:r>
              <a:rPr lang="zh-CN" altLang="en-US" dirty="0" smtClean="0"/>
              <a:t>更契合“分类”而非“预测”的投资逻辑</a:t>
            </a:r>
          </a:p>
          <a:p>
            <a:r>
              <a:rPr lang="zh-CN" altLang="en-US" dirty="0" smtClean="0"/>
              <a:t>在实际的投资组合构建中，我们往往不需要精准预测某只标的下个月的绝对收益率究竟是 </a:t>
            </a:r>
            <a:r>
              <a:rPr lang="en-US" altLang="zh-CN" dirty="0" smtClean="0"/>
              <a:t>2.1% </a:t>
            </a:r>
            <a:r>
              <a:rPr lang="zh-CN" altLang="en-US" dirty="0" smtClean="0"/>
              <a:t>还是 </a:t>
            </a:r>
            <a:r>
              <a:rPr lang="en-US" altLang="zh-CN" dirty="0" smtClean="0"/>
              <a:t>2.3%</a:t>
            </a:r>
            <a:r>
              <a:rPr lang="zh-CN" altLang="en-US" dirty="0" smtClean="0"/>
              <a:t>。我们更关心的是横截面上的相对强弱</a:t>
            </a:r>
            <a:r>
              <a:rPr lang="en-US" altLang="zh-CN" dirty="0" smtClean="0"/>
              <a:t>——</a:t>
            </a:r>
            <a:r>
              <a:rPr lang="zh-CN" altLang="en-US" dirty="0" smtClean="0"/>
              <a:t>例如，它能否进入前 </a:t>
            </a:r>
            <a:r>
              <a:rPr lang="en-US" altLang="zh-CN" dirty="0" smtClean="0"/>
              <a:t>20% </a:t>
            </a:r>
            <a:r>
              <a:rPr lang="zh-CN" altLang="en-US" dirty="0" smtClean="0"/>
              <a:t>的“多头池”（</a:t>
            </a:r>
            <a:r>
              <a:rPr lang="en-US" altLang="zh-CN" dirty="0" smtClean="0"/>
              <a:t>Top Quintile</a:t>
            </a:r>
            <a:r>
              <a:rPr lang="zh-CN" altLang="en-US" dirty="0" smtClean="0"/>
              <a:t>），或者跑赢特定的宽基指数。</a:t>
            </a:r>
            <a:r>
              <a:rPr lang="en-US" altLang="zh-CN" dirty="0" smtClean="0"/>
              <a:t>SVM</a:t>
            </a:r>
            <a:r>
              <a:rPr lang="zh-CN" altLang="en-US" dirty="0" smtClean="0"/>
              <a:t>作为一种原生的强分类器（</a:t>
            </a:r>
            <a:r>
              <a:rPr lang="en-US" altLang="zh-CN" dirty="0" smtClean="0"/>
              <a:t>SVC</a:t>
            </a:r>
            <a:r>
              <a:rPr lang="zh-CN" altLang="en-US" dirty="0" smtClean="0"/>
              <a:t>），在处理这种离散状态的边界划分时，往往比用连续预测再人为切分的回归模型更加准确。</a:t>
            </a:r>
            <a:endParaRPr lang="en-US" altLang="zh-CN" dirty="0" smtClean="0"/>
          </a:p>
          <a:p>
            <a:r>
              <a:rPr lang="en-US" altLang="zh-CN" dirty="0" smtClean="0"/>
              <a:t>2.</a:t>
            </a:r>
            <a:r>
              <a:rPr lang="zh-CN" altLang="en-US" dirty="0" smtClean="0"/>
              <a:t>对非线性的处理：显式定义 </a:t>
            </a:r>
            <a:r>
              <a:rPr lang="en-US" altLang="zh-CN" dirty="0" smtClean="0"/>
              <a:t>vs. </a:t>
            </a:r>
            <a:r>
              <a:rPr lang="zh-CN" altLang="en-US" dirty="0" smtClean="0"/>
              <a:t>隐式映射</a:t>
            </a:r>
          </a:p>
          <a:p>
            <a:r>
              <a:rPr lang="zh-CN" altLang="en-US" dirty="0" smtClean="0"/>
              <a:t>传统回归： 本质上是线性的。如果因变量和自变量之间存在非线性关系，通常需要人工进行优化。</a:t>
            </a:r>
          </a:p>
          <a:p>
            <a:r>
              <a:rPr lang="en-US" altLang="zh-CN" dirty="0" smtClean="0"/>
              <a:t>SVM</a:t>
            </a:r>
            <a:r>
              <a:rPr lang="zh-CN" altLang="en-US" dirty="0" smtClean="0"/>
              <a:t>模型： 可以把量价特征映射到无限维的高维空间，让原本非线性的数据就变得线性可分了。</a:t>
            </a:r>
            <a:endParaRPr lang="en-US" altLang="zh-CN" dirty="0" smtClean="0"/>
          </a:p>
          <a:p>
            <a:r>
              <a:rPr lang="en-US" altLang="zh-CN" dirty="0" smtClean="0"/>
              <a:t>3.</a:t>
            </a:r>
            <a:r>
              <a:rPr lang="zh-CN" altLang="en-US" dirty="0" smtClean="0"/>
              <a:t>对数据分布的敏感度</a:t>
            </a:r>
          </a:p>
          <a:p>
            <a:r>
              <a:rPr lang="zh-CN" altLang="en-US" dirty="0" smtClean="0"/>
              <a:t>传统回归： 会受到所有样本点的影响。由于金融市场数据呈现典型的“尖峰肥尾”特征，少量的极端异常收益往往会大幅度扭曲回归直线的斜率。</a:t>
            </a:r>
          </a:p>
          <a:p>
            <a:r>
              <a:rPr lang="en-US" altLang="zh-CN" dirty="0" smtClean="0"/>
              <a:t>SVM</a:t>
            </a:r>
            <a:r>
              <a:rPr lang="zh-CN" altLang="en-US" dirty="0" smtClean="0"/>
              <a:t>模型： 它的决策边界由距离边界最近的少数几个关键样本点决定。对于那些远离边界、特征极其极端的“噪音点”或非常安全的分类点，函数不予理会，对金融市场的极端离群值具有极强的适应性。</a:t>
            </a:r>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16</a:t>
            </a:fld>
            <a:endParaRPr lang="zh-CN" altLang="en-US"/>
          </a:p>
        </p:txBody>
      </p:sp>
    </p:spTree>
    <p:extLst>
      <p:ext uri="{BB962C8B-B14F-4D97-AF65-F5344CB8AC3E}">
        <p14:creationId xmlns:p14="http://schemas.microsoft.com/office/powerpoint/2010/main" val="2227644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在使用量化筛选的方式得到初始基金组合以及基金备选池之后，在最终确认基金组合之前，还需要对基金进行全方位多维度的评价。</a:t>
            </a:r>
            <a:endParaRPr lang="en-US" altLang="zh-CN" dirty="0" smtClean="0"/>
          </a:p>
          <a:p>
            <a:endParaRPr lang="en-US" altLang="zh-CN" dirty="0" smtClean="0"/>
          </a:p>
          <a:p>
            <a:r>
              <a:rPr lang="zh-CN" altLang="en-US" dirty="0" smtClean="0"/>
              <a:t>做一个类比，左边的图是梅西年轻的时候的能力图，可以看到一个顶级前锋在攻击方面的能力是超越平均水平的，那同样的，我也希望组合中的基金也都是这种优秀的产品。</a:t>
            </a:r>
            <a:endParaRPr lang="en-US" altLang="zh-CN" dirty="0" smtClean="0"/>
          </a:p>
          <a:p>
            <a:endParaRPr lang="en-US" altLang="zh-CN" dirty="0" smtClean="0"/>
          </a:p>
          <a:p>
            <a:r>
              <a:rPr lang="zh-CN" altLang="en-US" dirty="0" smtClean="0"/>
              <a:t>所以我会从多个维度对每一只基金进行多维度的评价，在量化组合的结果之上，再争取优中选优，尽量确保基金组合的超额收益的稳定性。</a:t>
            </a:r>
            <a:endParaRPr lang="en-US" altLang="zh-CN" dirty="0" smtClean="0"/>
          </a:p>
          <a:p>
            <a:endParaRPr lang="en-US" altLang="zh-CN" dirty="0" smtClean="0"/>
          </a:p>
          <a:p>
            <a:r>
              <a:rPr lang="zh-CN" altLang="en-US" dirty="0" smtClean="0"/>
              <a:t>对基金评价有多个维度，</a:t>
            </a:r>
            <a:endParaRPr lang="en-US" altLang="zh-CN" dirty="0" smtClean="0"/>
          </a:p>
          <a:p>
            <a:endParaRPr lang="en-US" altLang="zh-CN" dirty="0" smtClean="0"/>
          </a:p>
          <a:p>
            <a:r>
              <a:rPr lang="zh-CN" altLang="en-US" dirty="0" smtClean="0"/>
              <a:t>业绩表现：业绩表现以及稳定性、风险控制能力、风险调整后收益</a:t>
            </a:r>
            <a:endParaRPr lang="en-US" altLang="zh-CN" dirty="0" smtClean="0"/>
          </a:p>
          <a:p>
            <a:r>
              <a:rPr lang="zh-CN" altLang="en-US" dirty="0" smtClean="0"/>
              <a:t>投资偏好：赛道、风格偏好；大小盘偏好、估值偏好；行业集中度、持仓集中度</a:t>
            </a:r>
            <a:endParaRPr lang="en-US" altLang="zh-CN" dirty="0" smtClean="0"/>
          </a:p>
          <a:p>
            <a:r>
              <a:rPr lang="zh-CN" altLang="en-US" dirty="0" smtClean="0"/>
              <a:t>能力拆解：资产配置能力；行业、风格配置；个股选择</a:t>
            </a:r>
            <a:endParaRPr lang="en-US" altLang="zh-CN" dirty="0" smtClean="0"/>
          </a:p>
          <a:p>
            <a:r>
              <a:rPr lang="zh-CN" altLang="en-US" dirty="0" smtClean="0"/>
              <a:t>投资框架：景气追踪、估值安全边际、高质量等</a:t>
            </a:r>
            <a:endParaRPr lang="en-US" altLang="zh-CN" dirty="0" smtClean="0"/>
          </a:p>
          <a:p>
            <a:r>
              <a:rPr lang="zh-CN" altLang="en-US" dirty="0" smtClean="0"/>
              <a:t>基金经理：从业经历、管理年限；个人禀赋、优势能力圈；主要策略及规模容量</a:t>
            </a:r>
            <a:endParaRPr lang="en-US" altLang="zh-CN" dirty="0" smtClean="0"/>
          </a:p>
          <a:p>
            <a:r>
              <a:rPr lang="zh-CN" altLang="en-US" dirty="0" smtClean="0"/>
              <a:t>环境评价：投研团队支持、稳定性；基金公司的氛围、激励、考核等等</a:t>
            </a:r>
            <a:endParaRPr lang="en-US" altLang="zh-CN" dirty="0" smtClean="0"/>
          </a:p>
          <a:p>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17</a:t>
            </a:fld>
            <a:endParaRPr lang="zh-CN" altLang="en-US"/>
          </a:p>
        </p:txBody>
      </p:sp>
    </p:spTree>
    <p:extLst>
      <p:ext uri="{BB962C8B-B14F-4D97-AF65-F5344CB8AC3E}">
        <p14:creationId xmlns:p14="http://schemas.microsoft.com/office/powerpoint/2010/main" val="1849223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除了纯</a:t>
            </a:r>
            <a:r>
              <a:rPr lang="en-US" altLang="zh-CN" dirty="0" smtClean="0"/>
              <a:t>ETF</a:t>
            </a:r>
            <a:r>
              <a:rPr lang="zh-CN" altLang="en-US" dirty="0" smtClean="0"/>
              <a:t>策略之外，一般我们的组合</a:t>
            </a:r>
            <a:r>
              <a:rPr lang="en-US" altLang="zh-CN" dirty="0" smtClean="0"/>
              <a:t>ETF</a:t>
            </a:r>
            <a:r>
              <a:rPr lang="zh-CN" altLang="en-US" dirty="0" smtClean="0"/>
              <a:t>的占比会控制的比较低，一般来说不会超过</a:t>
            </a:r>
            <a:r>
              <a:rPr lang="en-US" altLang="zh-CN" dirty="0" smtClean="0"/>
              <a:t>5%</a:t>
            </a:r>
            <a:r>
              <a:rPr lang="zh-CN" altLang="en-US" dirty="0" smtClean="0"/>
              <a:t>，所以</a:t>
            </a:r>
            <a:r>
              <a:rPr lang="en-US" altLang="zh-CN" dirty="0" smtClean="0"/>
              <a:t>ETF</a:t>
            </a:r>
            <a:r>
              <a:rPr lang="zh-CN" altLang="en-US" dirty="0" smtClean="0"/>
              <a:t>轮动策略还是使用了</a:t>
            </a:r>
            <a:r>
              <a:rPr lang="en-US" altLang="zh-CN" dirty="0" smtClean="0"/>
              <a:t>FOF</a:t>
            </a:r>
            <a:r>
              <a:rPr lang="zh-CN" altLang="en-US" dirty="0" smtClean="0"/>
              <a:t>团队的的轮动策略池。</a:t>
            </a:r>
            <a:endParaRPr lang="en-US" altLang="zh-CN" dirty="0" smtClean="0"/>
          </a:p>
          <a:p>
            <a:r>
              <a:rPr lang="zh-CN" altLang="en-US" dirty="0" smtClean="0"/>
              <a:t>这个轮动策略池是动态调整的，我们会自行开发策略，也会关注各个卖方的策略，如果验证之后是有效的，胜率和赔率比较高，我们就会把它纳入我们的轮动策略池。</a:t>
            </a:r>
            <a:endParaRPr lang="en-US" altLang="zh-CN" dirty="0" smtClean="0"/>
          </a:p>
          <a:p>
            <a:endParaRPr lang="en-US" altLang="zh-CN" dirty="0" smtClean="0"/>
          </a:p>
          <a:p>
            <a:r>
              <a:rPr lang="zh-CN" altLang="en-US" dirty="0" smtClean="0"/>
              <a:t>各个策略之间相关性都是比较低的，这样配合起来才能增加整个组合的夏普比例。</a:t>
            </a:r>
            <a:endParaRPr lang="en-US" altLang="zh-CN" dirty="0" smtClean="0"/>
          </a:p>
          <a:p>
            <a:endParaRPr lang="en-US" altLang="zh-CN" dirty="0" smtClean="0"/>
          </a:p>
          <a:p>
            <a:r>
              <a:rPr lang="zh-CN" altLang="en-US" dirty="0" smtClean="0"/>
              <a:t>目前主要有三个</a:t>
            </a:r>
            <a:r>
              <a:rPr lang="en-US" altLang="zh-CN" dirty="0" smtClean="0"/>
              <a:t>ETF</a:t>
            </a:r>
            <a:r>
              <a:rPr lang="zh-CN" altLang="en-US" dirty="0" smtClean="0"/>
              <a:t>轮动策略，聪明资金、时点动量、和偏股复制</a:t>
            </a:r>
            <a:r>
              <a:rPr lang="en-US" altLang="zh-CN" dirty="0" smtClean="0"/>
              <a:t>ETF</a:t>
            </a:r>
            <a:r>
              <a:rPr lang="zh-CN" altLang="en-US" dirty="0" smtClean="0"/>
              <a:t>模型。</a:t>
            </a:r>
            <a:endParaRPr lang="en-US" altLang="zh-CN" dirty="0" smtClean="0"/>
          </a:p>
          <a:p>
            <a:r>
              <a:rPr lang="zh-CN" altLang="en-US" dirty="0" smtClean="0"/>
              <a:t>聪明资金轮动模型主要是跟踪优选主动行业配置基金的仓位动向，当我们发现这些优选基金有对某个行业进行增配或者减配的趋势的时候，我们会结合当下宏观环境以及行业景气度，进行综合评判，对胜率和赔率做出预估之后，决定是否参与该行业</a:t>
            </a:r>
            <a:r>
              <a:rPr lang="en-US" altLang="zh-CN" dirty="0" smtClean="0"/>
              <a:t>ETF</a:t>
            </a:r>
            <a:r>
              <a:rPr lang="zh-CN" altLang="en-US" dirty="0" smtClean="0"/>
              <a:t>配置，以及参与的大致比例。</a:t>
            </a:r>
            <a:endParaRPr lang="en-US" altLang="zh-CN" dirty="0" smtClean="0"/>
          </a:p>
          <a:p>
            <a:r>
              <a:rPr lang="zh-CN" altLang="en-US" dirty="0" smtClean="0"/>
              <a:t>时点动量</a:t>
            </a:r>
            <a:r>
              <a:rPr lang="en-US" altLang="zh-CN" dirty="0" smtClean="0"/>
              <a:t>ETF</a:t>
            </a:r>
            <a:r>
              <a:rPr lang="zh-CN" altLang="en-US" dirty="0" smtClean="0"/>
              <a:t>轮动没醒只要用来识别市场的关键点位，事件指标，比如其中的几个指标，就是通过量化的方式，通过宽基指数的涨跌幅以及各个行业的趋势变化，来预判市场是否短期见底或者见顶，如果给出信号，就会选择比如见顶回调的时候跌的少的前几个行业，或者见底反弹涨幅前几的几个行业，就行小仓位的配置，博取收益。</a:t>
            </a:r>
            <a:endParaRPr lang="en-US" altLang="zh-CN" dirty="0" smtClean="0"/>
          </a:p>
          <a:p>
            <a:r>
              <a:rPr lang="zh-CN" altLang="en-US" dirty="0" smtClean="0"/>
              <a:t>偏股复制</a:t>
            </a:r>
            <a:r>
              <a:rPr lang="en-US" altLang="zh-CN" dirty="0" smtClean="0"/>
              <a:t>ETF</a:t>
            </a:r>
            <a:r>
              <a:rPr lang="zh-CN" altLang="en-US" dirty="0" smtClean="0"/>
              <a:t>模型，就是通过行业</a:t>
            </a:r>
            <a:r>
              <a:rPr lang="en-US" altLang="zh-CN" dirty="0" smtClean="0"/>
              <a:t>ETF</a:t>
            </a:r>
            <a:r>
              <a:rPr lang="zh-CN" altLang="en-US" dirty="0" smtClean="0"/>
              <a:t>组合，动态复制偏股基金指数收益，使用场景比如进行短期的调仓的时候，因为基金申赎的日期错配，可能会出现配置比例偏差，这个时候就可以只用</a:t>
            </a:r>
            <a:r>
              <a:rPr lang="en-US" altLang="zh-CN" dirty="0" smtClean="0"/>
              <a:t>ETF</a:t>
            </a:r>
            <a:r>
              <a:rPr lang="zh-CN" altLang="en-US" dirty="0" smtClean="0"/>
              <a:t>组合来弥补这部分的配置。</a:t>
            </a:r>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18</a:t>
            </a:fld>
            <a:endParaRPr lang="zh-CN" altLang="en-US"/>
          </a:p>
        </p:txBody>
      </p:sp>
    </p:spTree>
    <p:extLst>
      <p:ext uri="{BB962C8B-B14F-4D97-AF65-F5344CB8AC3E}">
        <p14:creationId xmlns:p14="http://schemas.microsoft.com/office/powerpoint/2010/main" val="2320894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对于一些实操证明过的表现优秀的</a:t>
            </a:r>
            <a:r>
              <a:rPr lang="en-US" altLang="zh-CN" dirty="0" smtClean="0"/>
              <a:t>ETF</a:t>
            </a:r>
            <a:r>
              <a:rPr lang="zh-CN" altLang="en-US" dirty="0" smtClean="0"/>
              <a:t>轮动模型，我会把它落地在我的可视化系统里面。</a:t>
            </a:r>
            <a:endParaRPr lang="en-US" altLang="zh-CN" dirty="0" smtClean="0"/>
          </a:p>
          <a:p>
            <a:endParaRPr lang="en-US" altLang="zh-CN" dirty="0" smtClean="0"/>
          </a:p>
          <a:p>
            <a:r>
              <a:rPr lang="zh-CN" altLang="en-US" dirty="0" smtClean="0"/>
              <a:t>这几个图展示的就是我把时点动量模型落地在本地的结果。</a:t>
            </a:r>
            <a:endParaRPr lang="en-US" altLang="zh-CN" dirty="0" smtClean="0"/>
          </a:p>
          <a:p>
            <a:r>
              <a:rPr lang="zh-CN" altLang="en-US" dirty="0" smtClean="0"/>
              <a:t>效果比较好的原因是把择时和动量结合在了一起，不是单纯的去追动量，这样会在市场反转的时候损失收益，而是在市场满足某些择时条件的时候去获取动量收益，增加交易的胜率。</a:t>
            </a:r>
            <a:endParaRPr lang="en-US" altLang="zh-CN" dirty="0" smtClean="0"/>
          </a:p>
          <a:p>
            <a:endParaRPr lang="en-US" altLang="zh-CN" dirty="0" smtClean="0"/>
          </a:p>
          <a:p>
            <a:r>
              <a:rPr lang="zh-CN" altLang="en-US" dirty="0" smtClean="0"/>
              <a:t>左上图显示的是历史出现过的信号，时点动量的信号有大致三类，市场见顶回落，市场触底反弹和市场横盘突破，每个信号出现当天，会根据当天的行业涨跌幅排序选取前五的行业，我们从去年开始使用下来，证明是比较有效的，比如去年</a:t>
            </a:r>
            <a:r>
              <a:rPr lang="en-US" altLang="zh-CN" dirty="0" smtClean="0"/>
              <a:t>4</a:t>
            </a:r>
            <a:r>
              <a:rPr lang="zh-CN" altLang="en-US" dirty="0" smtClean="0"/>
              <a:t>月关税战市场大跌之后在</a:t>
            </a:r>
            <a:r>
              <a:rPr lang="en-US" altLang="zh-CN" dirty="0" smtClean="0"/>
              <a:t>4</a:t>
            </a:r>
            <a:r>
              <a:rPr lang="zh-CN" altLang="en-US" dirty="0" smtClean="0"/>
              <a:t>月</a:t>
            </a:r>
            <a:r>
              <a:rPr lang="en-US" altLang="zh-CN" dirty="0" smtClean="0"/>
              <a:t>8</a:t>
            </a:r>
            <a:r>
              <a:rPr lang="zh-CN" altLang="en-US" dirty="0" smtClean="0"/>
              <a:t>日提示的市场反弹信号，以及在</a:t>
            </a:r>
            <a:r>
              <a:rPr lang="en-US" altLang="zh-CN" dirty="0" smtClean="0"/>
              <a:t>4</a:t>
            </a:r>
            <a:r>
              <a:rPr lang="zh-CN" altLang="en-US" dirty="0" smtClean="0"/>
              <a:t>月底</a:t>
            </a:r>
            <a:r>
              <a:rPr lang="en-US" altLang="zh-CN" dirty="0" smtClean="0"/>
              <a:t>5</a:t>
            </a:r>
            <a:r>
              <a:rPr lang="zh-CN" altLang="en-US" dirty="0" smtClean="0"/>
              <a:t>月底</a:t>
            </a:r>
            <a:r>
              <a:rPr lang="en-US" altLang="zh-CN" dirty="0" smtClean="0"/>
              <a:t>7</a:t>
            </a:r>
            <a:r>
              <a:rPr lang="zh-CN" altLang="en-US" dirty="0" smtClean="0"/>
              <a:t>月初提示的市场横盘突破信号，然后在</a:t>
            </a:r>
            <a:r>
              <a:rPr lang="en-US" altLang="zh-CN" dirty="0" smtClean="0"/>
              <a:t>7</a:t>
            </a:r>
            <a:r>
              <a:rPr lang="zh-CN" altLang="en-US" dirty="0" smtClean="0"/>
              <a:t>月底、</a:t>
            </a:r>
            <a:r>
              <a:rPr lang="en-US" altLang="zh-CN" dirty="0" smtClean="0"/>
              <a:t>8</a:t>
            </a:r>
            <a:r>
              <a:rPr lang="zh-CN" altLang="en-US" dirty="0" smtClean="0"/>
              <a:t>月底提示了市场有行业见顶回落，高低切的机会，以及今年</a:t>
            </a:r>
            <a:r>
              <a:rPr lang="en-US" altLang="zh-CN" dirty="0" smtClean="0"/>
              <a:t>3</a:t>
            </a:r>
            <a:r>
              <a:rPr lang="zh-CN" altLang="en-US" dirty="0" smtClean="0"/>
              <a:t>月</a:t>
            </a:r>
            <a:r>
              <a:rPr lang="en-US" altLang="zh-CN" dirty="0" smtClean="0"/>
              <a:t>24</a:t>
            </a:r>
            <a:r>
              <a:rPr lang="zh-CN" altLang="en-US" dirty="0" smtClean="0"/>
              <a:t>美伊冲突后市场大跌之后的见底反弹信号等等</a:t>
            </a:r>
            <a:endParaRPr lang="en-US" altLang="zh-CN" dirty="0" smtClean="0"/>
          </a:p>
          <a:p>
            <a:endParaRPr lang="en-US" altLang="zh-CN" dirty="0" smtClean="0"/>
          </a:p>
          <a:p>
            <a:endParaRPr lang="en-US" altLang="zh-CN" dirty="0" smtClean="0"/>
          </a:p>
          <a:p>
            <a:r>
              <a:rPr lang="zh-CN" altLang="en-US" dirty="0" smtClean="0"/>
              <a:t>但是因为合规要求，把图中展示的行业排名里面的行业名称和涨跌幅给模糊化处理掉了哈。。。</a:t>
            </a:r>
            <a:endParaRPr lang="en-US" altLang="zh-CN" dirty="0" smtClean="0"/>
          </a:p>
          <a:p>
            <a:endParaRPr lang="en-US" altLang="zh-CN" dirty="0" smtClean="0"/>
          </a:p>
          <a:p>
            <a:r>
              <a:rPr lang="zh-CN" altLang="en-US" dirty="0" smtClean="0"/>
              <a:t>那右边两个图是时点动量模型的历史回测结果，坐上是根据每期信号当天的行业排名从高到低分</a:t>
            </a:r>
            <a:r>
              <a:rPr lang="en-US" altLang="zh-CN" dirty="0" smtClean="0"/>
              <a:t>5</a:t>
            </a:r>
            <a:r>
              <a:rPr lang="zh-CN" altLang="en-US" dirty="0" smtClean="0"/>
              <a:t>组，看后</a:t>
            </a:r>
            <a:r>
              <a:rPr lang="en-US" altLang="zh-CN" dirty="0" smtClean="0"/>
              <a:t>20</a:t>
            </a:r>
            <a:r>
              <a:rPr lang="zh-CN" altLang="en-US" dirty="0" smtClean="0"/>
              <a:t>个交易日相对中证全指的超额收益，可以看到明显超额收益的有效性。</a:t>
            </a:r>
            <a:endParaRPr lang="en-US" altLang="zh-CN" dirty="0" smtClean="0"/>
          </a:p>
          <a:p>
            <a:r>
              <a:rPr lang="zh-CN" altLang="en-US" dirty="0" smtClean="0"/>
              <a:t>右下是过去两年根据时点动量其中的横盘突破信号去交易</a:t>
            </a:r>
            <a:r>
              <a:rPr lang="en-US" altLang="zh-CN" dirty="0" smtClean="0"/>
              <a:t>ETF</a:t>
            </a:r>
            <a:r>
              <a:rPr lang="zh-CN" altLang="en-US" dirty="0" smtClean="0"/>
              <a:t>的效果，可以看出比指数的收益是要好很多的。</a:t>
            </a:r>
            <a:endParaRPr lang="en-US" altLang="zh-CN" dirty="0" smtClean="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19</a:t>
            </a:fld>
            <a:endParaRPr lang="zh-CN" altLang="en-US"/>
          </a:p>
        </p:txBody>
      </p:sp>
    </p:spTree>
    <p:extLst>
      <p:ext uri="{BB962C8B-B14F-4D97-AF65-F5344CB8AC3E}">
        <p14:creationId xmlns:p14="http://schemas.microsoft.com/office/powerpoint/2010/main" val="1229347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22</a:t>
            </a:fld>
            <a:endParaRPr lang="zh-CN" altLang="en-US"/>
          </a:p>
        </p:txBody>
      </p:sp>
    </p:spTree>
    <p:extLst>
      <p:ext uri="{BB962C8B-B14F-4D97-AF65-F5344CB8AC3E}">
        <p14:creationId xmlns:p14="http://schemas.microsoft.com/office/powerpoint/2010/main" val="860532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hasCustomPrompt="1"/>
          </p:nvPr>
        </p:nvSpPr>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编辑母版文本样式</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日期占位符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7" name="日期占位符 6"/>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编辑母版文本样式</a:t>
            </a:r>
          </a:p>
        </p:txBody>
      </p:sp>
      <p:sp>
        <p:nvSpPr>
          <p:cNvPr id="5" name="日期占位符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编辑母版文本样式</a:t>
            </a:r>
          </a:p>
        </p:txBody>
      </p:sp>
      <p:sp>
        <p:nvSpPr>
          <p:cNvPr id="5" name="日期占位符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hasCustomPrompt="1"/>
          </p:nvPr>
        </p:nvSpPr>
        <p:spPr/>
        <p:txBody>
          <a:bodyPr vert="eaVert"/>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hasCustomPrompt="1"/>
          </p:nvPr>
        </p:nvSpPr>
        <p:spPr>
          <a:xfrm>
            <a:off x="838200" y="365125"/>
            <a:ext cx="7734300" cy="5811838"/>
          </a:xfrm>
        </p:spPr>
        <p:txBody>
          <a:bodyPr vert="eaVert"/>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screen"/>
          <a:stretch>
            <a:fillRect/>
          </a:stretch>
        </p:blipFill>
        <p:spPr>
          <a:xfrm>
            <a:off x="0" y="0"/>
            <a:ext cx="12192000" cy="6858000"/>
          </a:xfrm>
          <a:prstGeom prst="rect">
            <a:avLst/>
          </a:prstGeom>
        </p:spPr>
      </p:pic>
      <p:sp>
        <p:nvSpPr>
          <p:cNvPr id="9" name="内容占位符 2"/>
          <p:cNvSpPr>
            <a:spLocks noGrp="1"/>
          </p:cNvSpPr>
          <p:nvPr>
            <p:ph sz="half" idx="1" hasCustomPrompt="1"/>
          </p:nvPr>
        </p:nvSpPr>
        <p:spPr>
          <a:xfrm>
            <a:off x="506999" y="1664413"/>
            <a:ext cx="11118850" cy="3723563"/>
          </a:xfrm>
          <a:prstGeom prst="rect">
            <a:avLst/>
          </a:prstGeom>
        </p:spPr>
        <p:txBody>
          <a:bodyPr anchor="ctr"/>
          <a:lstStyle>
            <a:lvl1pPr marL="285750" marR="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sz="1400" b="0">
                <a:solidFill>
                  <a:schemeClr val="bg2">
                    <a:lumMod val="25000"/>
                  </a:schemeClr>
                </a:solidFill>
                <a:latin typeface="微软雅黑" panose="020B0503020204020204" pitchFamily="34" charset="-122"/>
                <a:ea typeface="微软雅黑" panose="020B0503020204020204" pitchFamily="34" charset="-122"/>
              </a:defRPr>
            </a:lvl1pPr>
          </a:lstStyle>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本文件所包含的资料仅供一般性参考，不应视为任何形式的要约、要约邀请，亦非对任何交易的正式确认。本文件所提供的信息和资料不作为向本文件接收者提出的任何建议。银华基金及其雇员不对本文件信息资料的真实性、准确性、可靠性、完整性或其他方面作出保证或承诺，也不就该等信息的任何错误或遗漏承担任何责任。</a:t>
            </a:r>
          </a:p>
          <a:p>
            <a:pPr marL="285750" marR="0" lvl="0" indent="-285750" algn="l" defTabSz="914400" rtl="0" eaLnBrk="1" fontAlgn="auto" latinLnBrk="0" hangingPunct="1">
              <a:lnSpc>
                <a:spcPct val="110000"/>
              </a:lnSpc>
              <a:spcBef>
                <a:spcPts val="0"/>
              </a:spcBef>
              <a:spcAft>
                <a:spcPts val="0"/>
              </a:spcAft>
              <a:buClrTx/>
              <a:buSzTx/>
              <a:defRPr/>
            </a:pPr>
            <a:endParaRPr kumimoji="1" lang="zh-CN" altLang="en-US"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任何通过本文件而获得的信息（包括但不限于产品信息、企业信息、行业资讯等），接收者应自行确认信息的真实性、准确性、完整性、时效性。</a:t>
            </a:r>
          </a:p>
          <a:p>
            <a:pPr marL="285750" marR="0" lvl="0" indent="-285750" algn="l" defTabSz="914400" rtl="0" eaLnBrk="1" fontAlgn="auto" latinLnBrk="0" hangingPunct="1">
              <a:lnSpc>
                <a:spcPct val="110000"/>
              </a:lnSpc>
              <a:spcBef>
                <a:spcPts val="0"/>
              </a:spcBef>
              <a:spcAft>
                <a:spcPts val="0"/>
              </a:spcAft>
              <a:buClrTx/>
              <a:buSzTx/>
              <a:defRPr/>
            </a:pPr>
            <a:endParaRPr kumimoji="1" lang="zh-CN" altLang="en-US"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投资有风险，投资者在作出投资决策前应认真阅读相关产品正式法律文件以及银华基金相关公告的信息，以其作准，并自主决策、自行承担投资风险。</a:t>
            </a:r>
          </a:p>
          <a:p>
            <a:pPr marL="285750" marR="0" lvl="0" indent="-285750" algn="l" defTabSz="914400" rtl="0" eaLnBrk="1" fontAlgn="auto" latinLnBrk="0" hangingPunct="1">
              <a:lnSpc>
                <a:spcPct val="110000"/>
              </a:lnSpc>
              <a:spcBef>
                <a:spcPts val="0"/>
              </a:spcBef>
              <a:spcAft>
                <a:spcPts val="0"/>
              </a:spcAft>
              <a:buClrTx/>
              <a:buSzTx/>
              <a:defRPr/>
            </a:pPr>
            <a:endParaRPr kumimoji="1" lang="zh-CN" altLang="en-US"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接收者应当对本文件进行严格保密，未经许可，不得向第三方披露、援引或用于其他用途、亦不得复制或传播本文件。</a:t>
            </a:r>
          </a:p>
        </p:txBody>
      </p:sp>
      <p:sp>
        <p:nvSpPr>
          <p:cNvPr id="7" name="标题 1"/>
          <p:cNvSpPr>
            <a:spLocks noGrp="1"/>
          </p:cNvSpPr>
          <p:nvPr>
            <p:ph type="title" hasCustomPrompt="1"/>
          </p:nvPr>
        </p:nvSpPr>
        <p:spPr>
          <a:xfrm>
            <a:off x="506999" y="373357"/>
            <a:ext cx="4411266" cy="751963"/>
          </a:xfrm>
          <a:prstGeom prst="rect">
            <a:avLst/>
          </a:prstGeom>
        </p:spPr>
        <p:txBody>
          <a:bodyPr anchor="ctr"/>
          <a:lstStyle>
            <a:lvl1pPr>
              <a:defRPr sz="2400" b="1" spc="400" baseline="0">
                <a:solidFill>
                  <a:srgbClr val="D12920"/>
                </a:solidFill>
              </a:defRPr>
            </a:lvl1pPr>
          </a:lstStyle>
          <a:p>
            <a:r>
              <a:rPr kumimoji="1" lang="zh-CN" altLang="en-US" dirty="0"/>
              <a:t>声明页</a:t>
            </a:r>
          </a:p>
        </p:txBody>
      </p:sp>
      <p:sp>
        <p:nvSpPr>
          <p:cNvPr id="12" name="矩形 11"/>
          <p:cNvSpPr/>
          <p:nvPr userDrawn="1"/>
        </p:nvSpPr>
        <p:spPr>
          <a:xfrm>
            <a:off x="0" y="605018"/>
            <a:ext cx="171880" cy="368181"/>
          </a:xfrm>
          <a:prstGeom prst="rect">
            <a:avLst/>
          </a:prstGeom>
          <a:solidFill>
            <a:srgbClr val="D02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C711FC-F966-DD4A-8ACA-D3C45381323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C711FC-F966-DD4A-8ACA-D3C45381323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slideLayout" Target="../slideLayouts/slideLayout19.xml"/><Relationship Id="rId9" Type="http://schemas.openxmlformats.org/officeDocument/2006/relationships/notesSlide" Target="../notesSlides/notesSlide1.xml"/><Relationship Id="rId10"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tags" Target="../tags/tag11.xml"/><Relationship Id="rId5" Type="http://schemas.openxmlformats.org/officeDocument/2006/relationships/tags" Target="../tags/tag12.xml"/><Relationship Id="rId6" Type="http://schemas.openxmlformats.org/officeDocument/2006/relationships/tags" Target="../tags/tag13.xml"/><Relationship Id="rId7" Type="http://schemas.openxmlformats.org/officeDocument/2006/relationships/tags" Target="../tags/tag14.xml"/><Relationship Id="rId8" Type="http://schemas.openxmlformats.org/officeDocument/2006/relationships/tags" Target="../tags/tag15.xml"/><Relationship Id="rId9" Type="http://schemas.openxmlformats.org/officeDocument/2006/relationships/tags" Target="../tags/tag16.xml"/><Relationship Id="rId10" Type="http://schemas.openxmlformats.org/officeDocument/2006/relationships/tags" Target="../tags/tag17.xml"/><Relationship Id="rId11" Type="http://schemas.openxmlformats.org/officeDocument/2006/relationships/tags" Target="../tags/tag18.xml"/><Relationship Id="rId12" Type="http://schemas.openxmlformats.org/officeDocument/2006/relationships/tags" Target="../tags/tag19.xml"/><Relationship Id="rId13" Type="http://schemas.openxmlformats.org/officeDocument/2006/relationships/tags" Target="../tags/tag20.xml"/><Relationship Id="rId14" Type="http://schemas.openxmlformats.org/officeDocument/2006/relationships/tags" Target="../tags/tag21.xml"/><Relationship Id="rId15" Type="http://schemas.openxmlformats.org/officeDocument/2006/relationships/tags" Target="../tags/tag22.xml"/><Relationship Id="rId16" Type="http://schemas.openxmlformats.org/officeDocument/2006/relationships/tags" Target="../tags/tag23.xml"/><Relationship Id="rId17" Type="http://schemas.openxmlformats.org/officeDocument/2006/relationships/tags" Target="../tags/tag24.xml"/><Relationship Id="rId18" Type="http://schemas.openxmlformats.org/officeDocument/2006/relationships/tags" Target="../tags/tag25.xml"/><Relationship Id="rId19" Type="http://schemas.openxmlformats.org/officeDocument/2006/relationships/tags" Target="../tags/tag26.xml"/><Relationship Id="rId20" Type="http://schemas.openxmlformats.org/officeDocument/2006/relationships/tags" Target="../tags/tag27.xml"/><Relationship Id="rId21" Type="http://schemas.openxmlformats.org/officeDocument/2006/relationships/tags" Target="../tags/tag28.xml"/><Relationship Id="rId22" Type="http://schemas.openxmlformats.org/officeDocument/2006/relationships/tags" Target="../tags/tag29.xml"/><Relationship Id="rId23" Type="http://schemas.openxmlformats.org/officeDocument/2006/relationships/tags" Target="../tags/tag30.xml"/><Relationship Id="rId24" Type="http://schemas.openxmlformats.org/officeDocument/2006/relationships/tags" Target="../tags/tag31.xml"/><Relationship Id="rId25" Type="http://schemas.openxmlformats.org/officeDocument/2006/relationships/tags" Target="../tags/tag32.xml"/><Relationship Id="rId26" Type="http://schemas.openxmlformats.org/officeDocument/2006/relationships/tags" Target="../tags/tag33.xml"/><Relationship Id="rId27" Type="http://schemas.openxmlformats.org/officeDocument/2006/relationships/tags" Target="../tags/tag34.xml"/><Relationship Id="rId28" Type="http://schemas.openxmlformats.org/officeDocument/2006/relationships/tags" Target="../tags/tag35.xml"/><Relationship Id="rId29" Type="http://schemas.openxmlformats.org/officeDocument/2006/relationships/tags" Target="../tags/tag36.xml"/><Relationship Id="rId30" Type="http://schemas.openxmlformats.org/officeDocument/2006/relationships/tags" Target="../tags/tag37.xml"/><Relationship Id="rId31" Type="http://schemas.openxmlformats.org/officeDocument/2006/relationships/tags" Target="../tags/tag38.xml"/><Relationship Id="rId32" Type="http://schemas.openxmlformats.org/officeDocument/2006/relationships/tags" Target="../tags/tag39.xml"/><Relationship Id="rId33" Type="http://schemas.openxmlformats.org/officeDocument/2006/relationships/tags" Target="../tags/tag40.xml"/><Relationship Id="rId34" Type="http://schemas.openxmlformats.org/officeDocument/2006/relationships/tags" Target="../tags/tag41.xml"/><Relationship Id="rId35" Type="http://schemas.openxmlformats.org/officeDocument/2006/relationships/tags" Target="../tags/tag42.xml"/><Relationship Id="rId36" Type="http://schemas.openxmlformats.org/officeDocument/2006/relationships/tags" Target="../tags/tag43.xml"/><Relationship Id="rId37" Type="http://schemas.openxmlformats.org/officeDocument/2006/relationships/tags" Target="../tags/tag44.xml"/><Relationship Id="rId38" Type="http://schemas.openxmlformats.org/officeDocument/2006/relationships/tags" Target="../tags/tag45.xml"/><Relationship Id="rId39" Type="http://schemas.openxmlformats.org/officeDocument/2006/relationships/tags" Target="../tags/tag46.xml"/><Relationship Id="rId40" Type="http://schemas.openxmlformats.org/officeDocument/2006/relationships/tags" Target="../tags/tag47.xml"/><Relationship Id="rId41" Type="http://schemas.openxmlformats.org/officeDocument/2006/relationships/tags" Target="../tags/tag48.xml"/><Relationship Id="rId42" Type="http://schemas.openxmlformats.org/officeDocument/2006/relationships/tags" Target="../tags/tag49.xml"/><Relationship Id="rId43" Type="http://schemas.openxmlformats.org/officeDocument/2006/relationships/tags" Target="../tags/tag50.xml"/><Relationship Id="rId44" Type="http://schemas.openxmlformats.org/officeDocument/2006/relationships/tags" Target="../tags/tag51.xml"/><Relationship Id="rId45" Type="http://schemas.openxmlformats.org/officeDocument/2006/relationships/tags" Target="../tags/tag52.xml"/><Relationship Id="rId46" Type="http://schemas.openxmlformats.org/officeDocument/2006/relationships/tags" Target="../tags/tag53.xml"/><Relationship Id="rId47" Type="http://schemas.openxmlformats.org/officeDocument/2006/relationships/tags" Target="../tags/tag54.xml"/><Relationship Id="rId48" Type="http://schemas.openxmlformats.org/officeDocument/2006/relationships/slideLayout" Target="../slideLayouts/slideLayout24.xml"/><Relationship Id="rId49" Type="http://schemas.openxmlformats.org/officeDocument/2006/relationships/notesSlide" Target="../notesSlides/notesSlide4.xml"/><Relationship Id="rId50" Type="http://schemas.openxmlformats.org/officeDocument/2006/relationships/image" Target="../media/image7.png"/><Relationship Id="rId51" Type="http://schemas.openxmlformats.org/officeDocument/2006/relationships/image" Target="../media/image8.png"/><Relationship Id="rId52" Type="http://schemas.openxmlformats.org/officeDocument/2006/relationships/image" Target="../media/image9.png"/><Relationship Id="rId53" Type="http://schemas.openxmlformats.org/officeDocument/2006/relationships/image" Target="../media/image10.png"/><Relationship Id="rId54" Type="http://schemas.openxmlformats.org/officeDocument/2006/relationships/image" Target="../media/image11.png"/><Relationship Id="rId55" Type="http://schemas.openxmlformats.org/officeDocument/2006/relationships/image" Target="../media/image12.png"/><Relationship Id="rId56" Type="http://schemas.openxmlformats.org/officeDocument/2006/relationships/image" Target="../media/image13.png"/><Relationship Id="rId57"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26.emf"/><Relationship Id="rId4" Type="http://schemas.openxmlformats.org/officeDocument/2006/relationships/image" Target="../media/image27.emf"/><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067800" y="4060504"/>
            <a:ext cx="1485900" cy="1143000"/>
          </a:xfrm>
          <a:prstGeom prst="roundRect">
            <a:avLst>
              <a:gd name="adj" fmla="val 10000"/>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6810" y="1568444"/>
            <a:ext cx="11313725" cy="899349"/>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4600" b="1" dirty="0">
                <a:solidFill>
                  <a:schemeClr val="tx1">
                    <a:lumMod val="75000"/>
                    <a:lumOff val="25000"/>
                  </a:schemeClr>
                </a:solidFill>
                <a:latin typeface="Century Gothic" panose="020B0502020202020204" pitchFamily="34" charset="0"/>
                <a:ea typeface="+mj-ea"/>
              </a:rPr>
              <a:t>银华基金</a:t>
            </a:r>
            <a:r>
              <a:rPr lang="en-US" altLang="zh-CN" sz="4600" b="1" dirty="0">
                <a:solidFill>
                  <a:schemeClr val="tx1">
                    <a:lumMod val="75000"/>
                    <a:lumOff val="25000"/>
                  </a:schemeClr>
                </a:solidFill>
                <a:latin typeface="Century Gothic" panose="020B0502020202020204" pitchFamily="34" charset="0"/>
                <a:ea typeface="+mj-ea"/>
              </a:rPr>
              <a:t>FOF</a:t>
            </a:r>
            <a:r>
              <a:rPr lang="zh-CN" altLang="en-US" sz="4600" b="1" dirty="0">
                <a:solidFill>
                  <a:schemeClr val="tx1">
                    <a:lumMod val="75000"/>
                    <a:lumOff val="25000"/>
                  </a:schemeClr>
                </a:solidFill>
                <a:latin typeface="Century Gothic" panose="020B0502020202020204" pitchFamily="34" charset="0"/>
                <a:ea typeface="+mj-ea"/>
              </a:rPr>
              <a:t>投资管理部</a:t>
            </a:r>
            <a:r>
              <a:rPr lang="en-US" altLang="zh-CN" sz="4600" b="1" dirty="0">
                <a:solidFill>
                  <a:schemeClr val="tx1">
                    <a:lumMod val="75000"/>
                    <a:lumOff val="25000"/>
                  </a:schemeClr>
                </a:solidFill>
                <a:latin typeface="Century Gothic" panose="020B0502020202020204" pitchFamily="34" charset="0"/>
                <a:ea typeface="+mj-ea"/>
              </a:rPr>
              <a:t>-</a:t>
            </a:r>
            <a:r>
              <a:rPr lang="zh-CN" altLang="en-US" sz="4600" b="1" dirty="0">
                <a:solidFill>
                  <a:schemeClr val="tx1">
                    <a:lumMod val="75000"/>
                    <a:lumOff val="25000"/>
                  </a:schemeClr>
                </a:solidFill>
                <a:latin typeface="Century Gothic" panose="020B0502020202020204" pitchFamily="34" charset="0"/>
                <a:ea typeface="+mj-ea"/>
              </a:rPr>
              <a:t>投资</a:t>
            </a:r>
            <a:r>
              <a:rPr lang="zh-CN" altLang="en-US" sz="4600" b="1" dirty="0" smtClean="0">
                <a:solidFill>
                  <a:schemeClr val="tx1">
                    <a:lumMod val="75000"/>
                    <a:lumOff val="25000"/>
                  </a:schemeClr>
                </a:solidFill>
                <a:latin typeface="Century Gothic" panose="020B0502020202020204" pitchFamily="34" charset="0"/>
                <a:ea typeface="+mj-ea"/>
              </a:rPr>
              <a:t>框架</a:t>
            </a:r>
            <a:endParaRPr lang="en-US" altLang="zh-CN" sz="4600" b="1" dirty="0">
              <a:solidFill>
                <a:srgbClr val="B83835"/>
              </a:solidFill>
              <a:latin typeface="Century Gothic" panose="020B0502020202020204" pitchFamily="34" charset="0"/>
              <a:ea typeface="+mj-ea"/>
            </a:endParaRPr>
          </a:p>
        </p:txBody>
      </p:sp>
      <p:sp>
        <p:nvSpPr>
          <p:cNvPr id="4" name="椭圆 3"/>
          <p:cNvSpPr/>
          <p:nvPr/>
        </p:nvSpPr>
        <p:spPr>
          <a:xfrm>
            <a:off x="8314835" y="5846029"/>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30"/>
          <p:cNvSpPr/>
          <p:nvPr/>
        </p:nvSpPr>
        <p:spPr>
          <a:xfrm>
            <a:off x="0" y="4060504"/>
            <a:ext cx="7277100" cy="1143000"/>
          </a:xfrm>
          <a:custGeom>
            <a:avLst/>
            <a:gdLst>
              <a:gd name="connsiteX0" fmla="*/ 0 w 7277100"/>
              <a:gd name="connsiteY0" fmla="*/ 0 h 1143000"/>
              <a:gd name="connsiteX1" fmla="*/ 114300 w 7277100"/>
              <a:gd name="connsiteY1" fmla="*/ 0 h 1143000"/>
              <a:gd name="connsiteX2" fmla="*/ 3773714 w 7277100"/>
              <a:gd name="connsiteY2" fmla="*/ 0 h 1143000"/>
              <a:gd name="connsiteX3" fmla="*/ 7162800 w 7277100"/>
              <a:gd name="connsiteY3" fmla="*/ 0 h 1143000"/>
              <a:gd name="connsiteX4" fmla="*/ 7277100 w 7277100"/>
              <a:gd name="connsiteY4" fmla="*/ 114300 h 1143000"/>
              <a:gd name="connsiteX5" fmla="*/ 7277100 w 7277100"/>
              <a:gd name="connsiteY5" fmla="*/ 1028700 h 1143000"/>
              <a:gd name="connsiteX6" fmla="*/ 7162800 w 7277100"/>
              <a:gd name="connsiteY6" fmla="*/ 1143000 h 1143000"/>
              <a:gd name="connsiteX7" fmla="*/ 3773714 w 7277100"/>
              <a:gd name="connsiteY7" fmla="*/ 1143000 h 1143000"/>
              <a:gd name="connsiteX8" fmla="*/ 114300 w 7277100"/>
              <a:gd name="connsiteY8" fmla="*/ 1143000 h 1143000"/>
              <a:gd name="connsiteX9" fmla="*/ 0 w 7277100"/>
              <a:gd name="connsiteY9" fmla="*/ 1143000 h 1143000"/>
              <a:gd name="connsiteX10" fmla="*/ 0 w 7277100"/>
              <a:gd name="connsiteY10" fmla="*/ 1028700 h 1143000"/>
              <a:gd name="connsiteX11" fmla="*/ 0 w 7277100"/>
              <a:gd name="connsiteY11" fmla="*/ 114300 h 1143000"/>
              <a:gd name="connsiteX0-1" fmla="*/ 0 w 7277100"/>
              <a:gd name="connsiteY0-2" fmla="*/ 0 h 1143000"/>
              <a:gd name="connsiteX1-3" fmla="*/ 114300 w 7277100"/>
              <a:gd name="connsiteY1-4" fmla="*/ 0 h 1143000"/>
              <a:gd name="connsiteX2-5" fmla="*/ 7162800 w 7277100"/>
              <a:gd name="connsiteY2-6" fmla="*/ 0 h 1143000"/>
              <a:gd name="connsiteX3-7" fmla="*/ 7277100 w 7277100"/>
              <a:gd name="connsiteY3-8" fmla="*/ 114300 h 1143000"/>
              <a:gd name="connsiteX4-9" fmla="*/ 7277100 w 7277100"/>
              <a:gd name="connsiteY4-10" fmla="*/ 1028700 h 1143000"/>
              <a:gd name="connsiteX5-11" fmla="*/ 7162800 w 7277100"/>
              <a:gd name="connsiteY5-12" fmla="*/ 1143000 h 1143000"/>
              <a:gd name="connsiteX6-13" fmla="*/ 3773714 w 7277100"/>
              <a:gd name="connsiteY6-14" fmla="*/ 1143000 h 1143000"/>
              <a:gd name="connsiteX7-15" fmla="*/ 114300 w 7277100"/>
              <a:gd name="connsiteY7-16" fmla="*/ 1143000 h 1143000"/>
              <a:gd name="connsiteX8-17" fmla="*/ 0 w 7277100"/>
              <a:gd name="connsiteY8-18" fmla="*/ 1143000 h 1143000"/>
              <a:gd name="connsiteX9-19" fmla="*/ 0 w 7277100"/>
              <a:gd name="connsiteY9-20" fmla="*/ 1028700 h 1143000"/>
              <a:gd name="connsiteX10-21" fmla="*/ 0 w 7277100"/>
              <a:gd name="connsiteY10-22" fmla="*/ 114300 h 1143000"/>
              <a:gd name="connsiteX11-23" fmla="*/ 0 w 7277100"/>
              <a:gd name="connsiteY11-24" fmla="*/ 0 h 1143000"/>
              <a:gd name="connsiteX0-25" fmla="*/ 0 w 7277100"/>
              <a:gd name="connsiteY0-26" fmla="*/ 0 h 1143000"/>
              <a:gd name="connsiteX1-27" fmla="*/ 114300 w 7277100"/>
              <a:gd name="connsiteY1-28" fmla="*/ 0 h 1143000"/>
              <a:gd name="connsiteX2-29" fmla="*/ 7162800 w 7277100"/>
              <a:gd name="connsiteY2-30" fmla="*/ 0 h 1143000"/>
              <a:gd name="connsiteX3-31" fmla="*/ 7277100 w 7277100"/>
              <a:gd name="connsiteY3-32" fmla="*/ 114300 h 1143000"/>
              <a:gd name="connsiteX4-33" fmla="*/ 7277100 w 7277100"/>
              <a:gd name="connsiteY4-34" fmla="*/ 1028700 h 1143000"/>
              <a:gd name="connsiteX5-35" fmla="*/ 7162800 w 7277100"/>
              <a:gd name="connsiteY5-36" fmla="*/ 1143000 h 1143000"/>
              <a:gd name="connsiteX6-37" fmla="*/ 114300 w 7277100"/>
              <a:gd name="connsiteY6-38" fmla="*/ 1143000 h 1143000"/>
              <a:gd name="connsiteX7-39" fmla="*/ 0 w 7277100"/>
              <a:gd name="connsiteY7-40" fmla="*/ 1143000 h 1143000"/>
              <a:gd name="connsiteX8-41" fmla="*/ 0 w 7277100"/>
              <a:gd name="connsiteY8-42" fmla="*/ 1028700 h 1143000"/>
              <a:gd name="connsiteX9-43" fmla="*/ 0 w 7277100"/>
              <a:gd name="connsiteY9-44" fmla="*/ 114300 h 1143000"/>
              <a:gd name="connsiteX10-45" fmla="*/ 0 w 72771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7277100" h="1143000">
                <a:moveTo>
                  <a:pt x="0" y="0"/>
                </a:moveTo>
                <a:lnTo>
                  <a:pt x="114300" y="0"/>
                </a:lnTo>
                <a:lnTo>
                  <a:pt x="7162800" y="0"/>
                </a:lnTo>
                <a:cubicBezTo>
                  <a:pt x="7225926" y="0"/>
                  <a:pt x="7277100" y="51174"/>
                  <a:pt x="7277100" y="114300"/>
                </a:cubicBezTo>
                <a:lnTo>
                  <a:pt x="7277100" y="1028700"/>
                </a:lnTo>
                <a:cubicBezTo>
                  <a:pt x="7277100" y="1091826"/>
                  <a:pt x="7225926" y="1143000"/>
                  <a:pt x="7162800" y="1143000"/>
                </a:cubicBezTo>
                <a:lnTo>
                  <a:pt x="114300" y="1143000"/>
                </a:lnTo>
                <a:lnTo>
                  <a:pt x="0" y="1143000"/>
                </a:lnTo>
                <a:lnTo>
                  <a:pt x="0" y="1028700"/>
                </a:lnTo>
                <a:lnTo>
                  <a:pt x="0" y="114300"/>
                </a:lnTo>
                <a:lnTo>
                  <a:pt x="0" y="0"/>
                </a:lnTo>
                <a:close/>
              </a:path>
            </a:pathLst>
          </a:cu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28"/>
          <p:cNvSpPr/>
          <p:nvPr/>
        </p:nvSpPr>
        <p:spPr>
          <a:xfrm>
            <a:off x="7429500" y="2784154"/>
            <a:ext cx="4762500" cy="1143000"/>
          </a:xfrm>
          <a:custGeom>
            <a:avLst/>
            <a:gdLst>
              <a:gd name="connsiteX0" fmla="*/ 114300 w 4762500"/>
              <a:gd name="connsiteY0" fmla="*/ 0 h 1143000"/>
              <a:gd name="connsiteX1" fmla="*/ 3722204 w 4762500"/>
              <a:gd name="connsiteY1" fmla="*/ 0 h 1143000"/>
              <a:gd name="connsiteX2" fmla="*/ 4648200 w 4762500"/>
              <a:gd name="connsiteY2" fmla="*/ 0 h 1143000"/>
              <a:gd name="connsiteX3" fmla="*/ 4762500 w 4762500"/>
              <a:gd name="connsiteY3" fmla="*/ 0 h 1143000"/>
              <a:gd name="connsiteX4" fmla="*/ 4762500 w 4762500"/>
              <a:gd name="connsiteY4" fmla="*/ 114300 h 1143000"/>
              <a:gd name="connsiteX5" fmla="*/ 4762500 w 4762500"/>
              <a:gd name="connsiteY5" fmla="*/ 1028700 h 1143000"/>
              <a:gd name="connsiteX6" fmla="*/ 4762500 w 4762500"/>
              <a:gd name="connsiteY6" fmla="*/ 1143000 h 1143000"/>
              <a:gd name="connsiteX7" fmla="*/ 4648200 w 4762500"/>
              <a:gd name="connsiteY7" fmla="*/ 1143000 h 1143000"/>
              <a:gd name="connsiteX8" fmla="*/ 3722204 w 4762500"/>
              <a:gd name="connsiteY8" fmla="*/ 1143000 h 1143000"/>
              <a:gd name="connsiteX9" fmla="*/ 114300 w 4762500"/>
              <a:gd name="connsiteY9" fmla="*/ 1143000 h 1143000"/>
              <a:gd name="connsiteX10" fmla="*/ 0 w 4762500"/>
              <a:gd name="connsiteY10" fmla="*/ 1028700 h 1143000"/>
              <a:gd name="connsiteX11" fmla="*/ 0 w 4762500"/>
              <a:gd name="connsiteY11" fmla="*/ 114300 h 1143000"/>
              <a:gd name="connsiteX12" fmla="*/ 114300 w 4762500"/>
              <a:gd name="connsiteY12" fmla="*/ 0 h 1143000"/>
              <a:gd name="connsiteX0-1" fmla="*/ 114300 w 4762500"/>
              <a:gd name="connsiteY0-2" fmla="*/ 0 h 1143000"/>
              <a:gd name="connsiteX1-3" fmla="*/ 4648200 w 4762500"/>
              <a:gd name="connsiteY1-4" fmla="*/ 0 h 1143000"/>
              <a:gd name="connsiteX2-5" fmla="*/ 4762500 w 4762500"/>
              <a:gd name="connsiteY2-6" fmla="*/ 0 h 1143000"/>
              <a:gd name="connsiteX3-7" fmla="*/ 4762500 w 4762500"/>
              <a:gd name="connsiteY3-8" fmla="*/ 114300 h 1143000"/>
              <a:gd name="connsiteX4-9" fmla="*/ 4762500 w 4762500"/>
              <a:gd name="connsiteY4-10" fmla="*/ 1028700 h 1143000"/>
              <a:gd name="connsiteX5-11" fmla="*/ 4762500 w 4762500"/>
              <a:gd name="connsiteY5-12" fmla="*/ 1143000 h 1143000"/>
              <a:gd name="connsiteX6-13" fmla="*/ 4648200 w 4762500"/>
              <a:gd name="connsiteY6-14" fmla="*/ 1143000 h 1143000"/>
              <a:gd name="connsiteX7-15" fmla="*/ 3722204 w 4762500"/>
              <a:gd name="connsiteY7-16" fmla="*/ 1143000 h 1143000"/>
              <a:gd name="connsiteX8-17" fmla="*/ 114300 w 4762500"/>
              <a:gd name="connsiteY8-18" fmla="*/ 1143000 h 1143000"/>
              <a:gd name="connsiteX9-19" fmla="*/ 0 w 4762500"/>
              <a:gd name="connsiteY9-20" fmla="*/ 1028700 h 1143000"/>
              <a:gd name="connsiteX10-21" fmla="*/ 0 w 4762500"/>
              <a:gd name="connsiteY10-22" fmla="*/ 114300 h 1143000"/>
              <a:gd name="connsiteX11-23" fmla="*/ 114300 w 4762500"/>
              <a:gd name="connsiteY11-24" fmla="*/ 0 h 1143000"/>
              <a:gd name="connsiteX0-25" fmla="*/ 114300 w 4762500"/>
              <a:gd name="connsiteY0-26" fmla="*/ 0 h 1143000"/>
              <a:gd name="connsiteX1-27" fmla="*/ 4648200 w 4762500"/>
              <a:gd name="connsiteY1-28" fmla="*/ 0 h 1143000"/>
              <a:gd name="connsiteX2-29" fmla="*/ 4762500 w 4762500"/>
              <a:gd name="connsiteY2-30" fmla="*/ 0 h 1143000"/>
              <a:gd name="connsiteX3-31" fmla="*/ 4762500 w 4762500"/>
              <a:gd name="connsiteY3-32" fmla="*/ 114300 h 1143000"/>
              <a:gd name="connsiteX4-33" fmla="*/ 4762500 w 4762500"/>
              <a:gd name="connsiteY4-34" fmla="*/ 1028700 h 1143000"/>
              <a:gd name="connsiteX5-35" fmla="*/ 4762500 w 4762500"/>
              <a:gd name="connsiteY5-36" fmla="*/ 1143000 h 1143000"/>
              <a:gd name="connsiteX6-37" fmla="*/ 4648200 w 4762500"/>
              <a:gd name="connsiteY6-38" fmla="*/ 1143000 h 1143000"/>
              <a:gd name="connsiteX7-39" fmla="*/ 114300 w 4762500"/>
              <a:gd name="connsiteY7-40" fmla="*/ 1143000 h 1143000"/>
              <a:gd name="connsiteX8-41" fmla="*/ 0 w 4762500"/>
              <a:gd name="connsiteY8-42" fmla="*/ 1028700 h 1143000"/>
              <a:gd name="connsiteX9-43" fmla="*/ 0 w 4762500"/>
              <a:gd name="connsiteY9-44" fmla="*/ 114300 h 1143000"/>
              <a:gd name="connsiteX10-45" fmla="*/ 114300 w 47625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762500" h="1143000">
                <a:moveTo>
                  <a:pt x="114300" y="0"/>
                </a:moveTo>
                <a:lnTo>
                  <a:pt x="4648200" y="0"/>
                </a:lnTo>
                <a:lnTo>
                  <a:pt x="4762500" y="0"/>
                </a:lnTo>
                <a:lnTo>
                  <a:pt x="4762500" y="114300"/>
                </a:lnTo>
                <a:lnTo>
                  <a:pt x="4762500" y="1028700"/>
                </a:lnTo>
                <a:lnTo>
                  <a:pt x="4762500" y="1143000"/>
                </a:lnTo>
                <a:lnTo>
                  <a:pt x="4648200" y="1143000"/>
                </a:lnTo>
                <a:lnTo>
                  <a:pt x="114300" y="1143000"/>
                </a:lnTo>
                <a:cubicBezTo>
                  <a:pt x="51174" y="1143000"/>
                  <a:pt x="0" y="1091826"/>
                  <a:pt x="0" y="1028700"/>
                </a:cubicBezTo>
                <a:lnTo>
                  <a:pt x="0" y="114300"/>
                </a:lnTo>
                <a:cubicBezTo>
                  <a:pt x="0" y="51174"/>
                  <a:pt x="51174" y="0"/>
                  <a:pt x="114300" y="0"/>
                </a:cubicBezTo>
                <a:close/>
              </a:path>
            </a:pathLst>
          </a:custGeom>
          <a:solidFill>
            <a:srgbClr val="B83835">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7429500" y="4060504"/>
            <a:ext cx="1485900" cy="1143000"/>
          </a:xfrm>
          <a:prstGeom prst="roundRect">
            <a:avLst>
              <a:gd name="adj" fmla="val 10000"/>
            </a:avLst>
          </a:prstGeom>
          <a:solidFill>
            <a:srgbClr val="B83835">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355771" y="2784154"/>
            <a:ext cx="1921329" cy="1143000"/>
          </a:xfrm>
          <a:prstGeom prst="roundRect">
            <a:avLst>
              <a:gd name="adj" fmla="val 10000"/>
            </a:avLst>
          </a:prstGeom>
          <a:solidFill>
            <a:srgbClr val="B83835">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10706100" y="4060504"/>
            <a:ext cx="1921329" cy="1143000"/>
          </a:xfrm>
          <a:prstGeom prst="roundRect">
            <a:avLst>
              <a:gd name="adj" fmla="val 10000"/>
            </a:avLst>
          </a:prstGeom>
          <a:solidFill>
            <a:srgbClr val="B83835">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1" descr="0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709" y="398914"/>
            <a:ext cx="1662557" cy="42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圆角矩形 22"/>
          <p:cNvSpPr/>
          <p:nvPr/>
        </p:nvSpPr>
        <p:spPr>
          <a:xfrm rot="5400000">
            <a:off x="11819164" y="3925813"/>
            <a:ext cx="1921329" cy="1143000"/>
          </a:xfrm>
          <a:prstGeom prst="roundRect">
            <a:avLst>
              <a:gd name="adj" fmla="val 10000"/>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8590843" y="5727360"/>
            <a:ext cx="3309691" cy="513346"/>
          </a:xfrm>
          <a:prstGeom prst="rect">
            <a:avLst/>
          </a:prstGeom>
          <a:noFill/>
        </p:spPr>
        <p:txBody>
          <a:bodyPr wrap="square" rtlCol="0">
            <a:spAutoFit/>
            <a:scene3d>
              <a:camera prst="orthographicFront"/>
              <a:lightRig rig="threePt" dir="t"/>
            </a:scene3d>
            <a:sp3d contourW="12700"/>
          </a:bodyPr>
          <a:lstStyle/>
          <a:p>
            <a:pPr algn="r">
              <a:lnSpc>
                <a:spcPct val="114000"/>
              </a:lnSpc>
            </a:pPr>
            <a:r>
              <a:rPr lang="en-US" altLang="zh-CN" sz="2400" b="1" dirty="0">
                <a:solidFill>
                  <a:schemeClr val="tx1">
                    <a:lumMod val="75000"/>
                    <a:lumOff val="25000"/>
                  </a:schemeClr>
                </a:solidFill>
                <a:latin typeface="Century Gothic" panose="020B0502020202020204" pitchFamily="34" charset="0"/>
                <a:ea typeface="+mj-ea"/>
              </a:rPr>
              <a:t>FOF</a:t>
            </a:r>
            <a:r>
              <a:rPr lang="zh-CN" altLang="en-US" sz="2400" b="1" dirty="0">
                <a:solidFill>
                  <a:schemeClr val="tx1">
                    <a:lumMod val="75000"/>
                    <a:lumOff val="25000"/>
                  </a:schemeClr>
                </a:solidFill>
                <a:latin typeface="Century Gothic" panose="020B0502020202020204" pitchFamily="34" charset="0"/>
                <a:ea typeface="+mj-ea"/>
              </a:rPr>
              <a:t>投资管理部</a:t>
            </a:r>
            <a:r>
              <a:rPr lang="en-US" altLang="zh-CN" sz="2400" b="1" dirty="0">
                <a:solidFill>
                  <a:schemeClr val="tx1">
                    <a:lumMod val="75000"/>
                    <a:lumOff val="25000"/>
                  </a:schemeClr>
                </a:solidFill>
                <a:latin typeface="Century Gothic" panose="020B0502020202020204" pitchFamily="34" charset="0"/>
                <a:ea typeface="+mj-ea"/>
              </a:rPr>
              <a:t>-</a:t>
            </a:r>
            <a:r>
              <a:rPr lang="zh-CN" altLang="en-US" sz="2400" b="1" dirty="0">
                <a:solidFill>
                  <a:schemeClr val="tx1">
                    <a:lumMod val="75000"/>
                    <a:lumOff val="25000"/>
                  </a:schemeClr>
                </a:solidFill>
                <a:latin typeface="Century Gothic" panose="020B0502020202020204" pitchFamily="34" charset="0"/>
                <a:ea typeface="+mj-ea"/>
              </a:rPr>
              <a:t>吴致超</a:t>
            </a:r>
            <a:endParaRPr lang="en-US" altLang="zh-CN" sz="2400" b="1" dirty="0">
              <a:solidFill>
                <a:srgbClr val="B83835"/>
              </a:solidFill>
              <a:latin typeface="Century Gothic" panose="020B0502020202020204" pitchFamily="34" charset="0"/>
              <a:ea typeface="+mj-ea"/>
            </a:endParaRPr>
          </a:p>
        </p:txBody>
      </p:sp>
      <p:sp>
        <p:nvSpPr>
          <p:cNvPr id="5" name="文本框 4"/>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000"/>
                            </p:stCondLst>
                            <p:childTnLst>
                              <p:par>
                                <p:cTn id="18" presetID="2" presetClass="entr" presetSubtype="8"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par>
                          <p:cTn id="42" fill="hold">
                            <p:stCondLst>
                              <p:cond delay="4000"/>
                            </p:stCondLst>
                            <p:childTnLst>
                              <p:par>
                                <p:cTn id="43" presetID="2" presetClass="entr" presetSubtype="8"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additive="base">
                                        <p:cTn id="45" dur="500" fill="hold"/>
                                        <p:tgtEl>
                                          <p:spTgt spid="24"/>
                                        </p:tgtEl>
                                        <p:attrNameLst>
                                          <p:attrName>ppt_x</p:attrName>
                                        </p:attrNameLst>
                                      </p:cBhvr>
                                      <p:tavLst>
                                        <p:tav tm="0">
                                          <p:val>
                                            <p:strVal val="0-#ppt_w/2"/>
                                          </p:val>
                                        </p:tav>
                                        <p:tav tm="100000">
                                          <p:val>
                                            <p:strVal val="#ppt_x"/>
                                          </p:val>
                                        </p:tav>
                                      </p:tavLst>
                                    </p:anim>
                                    <p:anim calcmode="lin" valueType="num">
                                      <p:cBhvr additive="base">
                                        <p:cTn id="46"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12" grpId="0" animBg="1"/>
      <p:bldP spid="13" grpId="0" animBg="1"/>
      <p:bldP spid="14" grpId="0" animBg="1"/>
      <p:bldP spid="15" grpId="0" animBg="1"/>
      <p:bldP spid="18" grpId="0" animBg="1"/>
      <p:bldP spid="23" grpId="0" animBg="1"/>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9587" y="2199005"/>
            <a:ext cx="5605780" cy="3291840"/>
          </a:xfrm>
          <a:prstGeom prst="rect">
            <a:avLst/>
          </a:prstGeom>
          <a:blipFill rotWithShape="0">
            <a:blip r:embed="rId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1358265"/>
            <a:ext cx="6185366" cy="4132580"/>
          </a:xfrm>
          <a:prstGeom prst="rect">
            <a:avLst/>
          </a:prstGeom>
          <a:solidFill>
            <a:srgbClr val="C3373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45030" y="2446020"/>
            <a:ext cx="1637665" cy="829945"/>
          </a:xfrm>
          <a:prstGeom prst="rect">
            <a:avLst/>
          </a:prstGeom>
          <a:noFill/>
        </p:spPr>
        <p:txBody>
          <a:bodyPr wrap="square" rtlCol="0">
            <a:spAutoFit/>
          </a:bodyPr>
          <a:lstStyle/>
          <a:p>
            <a:pPr algn="l"/>
            <a:r>
              <a:rPr lang="zh-CN" altLang="en-US" sz="4800" b="1" dirty="0">
                <a:solidFill>
                  <a:schemeClr val="bg1"/>
                </a:solidFill>
                <a:latin typeface="微软雅黑" panose="020B0503020204020204" pitchFamily="34" charset="-122"/>
                <a:ea typeface="微软雅黑" panose="020B0503020204020204" pitchFamily="34" charset="-122"/>
              </a:rPr>
              <a:t>目 录</a:t>
            </a:r>
          </a:p>
        </p:txBody>
      </p:sp>
      <p:sp>
        <p:nvSpPr>
          <p:cNvPr id="5" name="文本框 4"/>
          <p:cNvSpPr txBox="1"/>
          <p:nvPr/>
        </p:nvSpPr>
        <p:spPr>
          <a:xfrm>
            <a:off x="2100388" y="3298559"/>
            <a:ext cx="3074035" cy="706755"/>
          </a:xfrm>
          <a:prstGeom prst="rect">
            <a:avLst/>
          </a:prstGeom>
          <a:noFill/>
        </p:spPr>
        <p:txBody>
          <a:bodyPr wrap="square" rtlCol="0">
            <a:spAutoFit/>
          </a:bodyPr>
          <a:lstStyle/>
          <a:p>
            <a:pPr algn="r"/>
            <a:r>
              <a:rPr lang="en-US" altLang="zh-CN" sz="4000" b="1" dirty="0">
                <a:solidFill>
                  <a:schemeClr val="bg1"/>
                </a:solidFill>
                <a:latin typeface="Arial" panose="020B0604020202020204" pitchFamily="34" charset="0"/>
                <a:ea typeface="方正清刻本悦宋简体" panose="02000000000000000000" charset="-122"/>
              </a:rPr>
              <a:t>CONTENTS</a:t>
            </a:r>
          </a:p>
        </p:txBody>
      </p:sp>
      <p:sp>
        <p:nvSpPr>
          <p:cNvPr id="7" name="文本框 6"/>
          <p:cNvSpPr txBox="1"/>
          <p:nvPr/>
        </p:nvSpPr>
        <p:spPr>
          <a:xfrm>
            <a:off x="9155532" y="2644898"/>
            <a:ext cx="2207744" cy="430886"/>
          </a:xfrm>
          <a:prstGeom prst="rect">
            <a:avLst/>
          </a:prstGeom>
          <a:noFill/>
        </p:spPr>
        <p:txBody>
          <a:bodyPr wrap="square" rtlCol="0" anchor="t" anchorCtr="0">
            <a:spAutoFit/>
          </a:bodyPr>
          <a:lstStyle/>
          <a:p>
            <a:pPr algn="l" fontAlgn="auto">
              <a:lnSpc>
                <a:spcPct val="100000"/>
              </a:lnSpc>
            </a:pPr>
            <a:r>
              <a:rPr lang="zh-CN" altLang="en-US" sz="2200" b="1" dirty="0">
                <a:solidFill>
                  <a:srgbClr val="B83835"/>
                </a:solidFill>
                <a:latin typeface="微软雅黑" panose="020B0503020204020204" pitchFamily="34" charset="-122"/>
                <a:ea typeface="微软雅黑" panose="020B0503020204020204" pitchFamily="34" charset="-122"/>
                <a:sym typeface="+mn-ea"/>
              </a:rPr>
              <a:t>团队介绍</a:t>
            </a:r>
          </a:p>
        </p:txBody>
      </p:sp>
      <p:sp>
        <p:nvSpPr>
          <p:cNvPr id="9" name="文本框 8"/>
          <p:cNvSpPr txBox="1"/>
          <p:nvPr/>
        </p:nvSpPr>
        <p:spPr>
          <a:xfrm>
            <a:off x="9155532" y="3500243"/>
            <a:ext cx="2446905" cy="430887"/>
          </a:xfrm>
          <a:prstGeom prst="rect">
            <a:avLst/>
          </a:prstGeom>
          <a:noFill/>
        </p:spPr>
        <p:txBody>
          <a:bodyPr wrap="square" rtlCol="0" anchor="t" anchorCtr="0">
            <a:spAutoFit/>
          </a:bodyPr>
          <a:lstStyle/>
          <a:p>
            <a:r>
              <a:t>投资体系（资产配置 / ETF轮动 / ETF收益增强）</a:t>
            </a:r>
          </a:p>
        </p:txBody>
      </p:sp>
      <p:sp>
        <p:nvSpPr>
          <p:cNvPr id="14" name="矩形 13"/>
          <p:cNvSpPr/>
          <p:nvPr/>
        </p:nvSpPr>
        <p:spPr>
          <a:xfrm>
            <a:off x="1027825" y="3270220"/>
            <a:ext cx="400943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7589622" y="2523557"/>
            <a:ext cx="1429385" cy="645160"/>
          </a:xfrm>
          <a:prstGeom prst="rect">
            <a:avLst/>
          </a:prstGeom>
          <a:noFill/>
        </p:spPr>
        <p:txBody>
          <a:bodyPr wrap="square" rtlCol="0">
            <a:spAutoFit/>
          </a:bodyPr>
          <a:lstStyle/>
          <a:p>
            <a:pPr algn="r"/>
            <a:r>
              <a:rPr lang="en-US" altLang="zh-CN" b="1" dirty="0">
                <a:latin typeface="微软雅黑" panose="020B0503020204020204" pitchFamily="34" charset="-122"/>
                <a:ea typeface="微软雅黑" panose="020B0503020204020204" pitchFamily="34" charset="-122"/>
              </a:rPr>
              <a:t>PART</a:t>
            </a:r>
            <a:r>
              <a:rPr lang="en-US" altLang="zh-CN" dirty="0">
                <a:latin typeface="Arial" panose="020B0604020202020204" pitchFamily="34" charset="0"/>
              </a:rPr>
              <a:t> </a:t>
            </a:r>
            <a:r>
              <a:rPr lang="en-US" altLang="zh-CN" sz="3600" dirty="0">
                <a:latin typeface="Arial" panose="020B0604020202020204" pitchFamily="34" charset="0"/>
              </a:rPr>
              <a:t>01</a:t>
            </a:r>
          </a:p>
        </p:txBody>
      </p:sp>
      <p:sp>
        <p:nvSpPr>
          <p:cNvPr id="18" name="文本框 17"/>
          <p:cNvSpPr txBox="1"/>
          <p:nvPr/>
        </p:nvSpPr>
        <p:spPr>
          <a:xfrm>
            <a:off x="7589621" y="3360154"/>
            <a:ext cx="1429385" cy="645160"/>
          </a:xfrm>
          <a:prstGeom prst="rect">
            <a:avLst/>
          </a:prstGeom>
          <a:noFill/>
        </p:spPr>
        <p:txBody>
          <a:bodyPr wrap="square" rtlCol="0">
            <a:spAutoFit/>
          </a:bodyPr>
          <a:lstStyle/>
          <a:p>
            <a:pPr algn="r"/>
            <a:r>
              <a:rPr lang="en-US" altLang="zh-CN" b="1" dirty="0">
                <a:latin typeface="微软雅黑" panose="020B0503020204020204" pitchFamily="34" charset="-122"/>
                <a:ea typeface="微软雅黑" panose="020B0503020204020204" pitchFamily="34" charset="-122"/>
              </a:rPr>
              <a:t>PART</a:t>
            </a:r>
            <a:r>
              <a:rPr lang="en-US" altLang="zh-CN" dirty="0">
                <a:latin typeface="Arial" panose="020B0604020202020204" pitchFamily="34" charset="0"/>
              </a:rPr>
              <a:t> </a:t>
            </a:r>
            <a:r>
              <a:rPr lang="en-US" altLang="en-US" sz="3600" dirty="0">
                <a:latin typeface="Arial" panose="020B0604020202020204" pitchFamily="34" charset="0"/>
              </a:rPr>
              <a:t>02</a:t>
            </a:r>
            <a:endParaRPr lang="en-US" altLang="zh-CN" sz="3600" dirty="0">
              <a:latin typeface="Arial" panose="020B0604020202020204" pitchFamily="34" charset="0"/>
            </a:endParaRPr>
          </a:p>
        </p:txBody>
      </p:sp>
      <p:sp>
        <p:nvSpPr>
          <p:cNvPr id="6" name="文本框 5"/>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2000"/>
                            </p:stCondLst>
                            <p:childTnLst>
                              <p:par>
                                <p:cTn id="21" presetID="29"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ppt_x</p:attrName>
                                        </p:attrNameLst>
                                      </p:cBhvr>
                                      <p:tavLst>
                                        <p:tav tm="0">
                                          <p:val>
                                            <p:strVal val="#ppt_x-.2"/>
                                          </p:val>
                                        </p:tav>
                                        <p:tav tm="100000">
                                          <p:val>
                                            <p:strVal val="#ppt_x"/>
                                          </p:val>
                                        </p:tav>
                                      </p:tavLst>
                                    </p:anim>
                                    <p:anim calcmode="lin" valueType="num">
                                      <p:cBhvr>
                                        <p:cTn id="24"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5" dur="500"/>
                                        <p:tgtEl>
                                          <p:spTgt spid="7"/>
                                        </p:tgtEl>
                                      </p:cBhvr>
                                    </p:animEffect>
                                  </p:childTnLst>
                                </p:cTn>
                              </p:par>
                            </p:childTnLst>
                          </p:cTn>
                        </p:par>
                        <p:par>
                          <p:cTn id="26" fill="hold">
                            <p:stCondLst>
                              <p:cond delay="2500"/>
                            </p:stCondLst>
                            <p:childTnLst>
                              <p:par>
                                <p:cTn id="27" presetID="29"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par>
                          <p:cTn id="32" fill="hold">
                            <p:stCondLst>
                              <p:cond delay="3000"/>
                            </p:stCondLst>
                            <p:childTnLst>
                              <p:par>
                                <p:cTn id="33" presetID="22" presetClass="entr" presetSubtype="8"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par>
                          <p:cTn id="36" fill="hold">
                            <p:stCondLst>
                              <p:cond delay="3500"/>
                            </p:stCondLst>
                            <p:childTnLst>
                              <p:par>
                                <p:cTn id="37" presetID="53" presetClass="entr" presetSubtype="16"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par>
                          <p:cTn id="42" fill="hold">
                            <p:stCondLst>
                              <p:cond delay="4000"/>
                            </p:stCondLst>
                            <p:childTnLst>
                              <p:par>
                                <p:cTn id="43" presetID="53" presetClass="entr" presetSubtype="16"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Effect transition="in" filter="fad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p:bldP spid="5" grpId="0"/>
      <p:bldP spid="7" grpId="0"/>
      <p:bldP spid="9" grpId="0"/>
      <p:bldP spid="14" grpId="0" bldLvl="0" animBg="1"/>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pPr>
              <a:lnSpc>
                <a:spcPct val="150000"/>
              </a:lnSpc>
            </a:pPr>
            <a:r>
              <a:rPr lang="zh-CN" altLang="en-US" sz="2800" b="1" dirty="0">
                <a:solidFill>
                  <a:schemeClr val="bg1"/>
                </a:solidFill>
                <a:latin typeface="微软雅黑" panose="020B0503020204020204" pitchFamily="34" charset="-122"/>
                <a:ea typeface="微软雅黑" panose="020B0503020204020204" pitchFamily="34" charset="-122"/>
                <a:sym typeface="+mn-ea"/>
              </a:rPr>
              <a:t>团队介绍</a:t>
            </a:r>
          </a:p>
        </p:txBody>
      </p:sp>
      <p:sp>
        <p:nvSpPr>
          <p:cNvPr id="8" name="文本框 7"/>
          <p:cNvSpPr txBox="1"/>
          <p:nvPr/>
        </p:nvSpPr>
        <p:spPr>
          <a:xfrm>
            <a:off x="231775" y="2459990"/>
            <a:ext cx="2075180" cy="1938020"/>
          </a:xfrm>
          <a:prstGeom prst="rect">
            <a:avLst/>
          </a:prstGeom>
          <a:noFill/>
        </p:spPr>
        <p:txBody>
          <a:bodyPr wrap="square" rtlCol="0">
            <a:spAutoFit/>
          </a:bodyPr>
          <a:lstStyle/>
          <a:p>
            <a:pPr algn="r"/>
            <a:r>
              <a:rPr lang="en-US" altLang="zh-CN" sz="12000" b="1" dirty="0">
                <a:solidFill>
                  <a:schemeClr val="bg1"/>
                </a:solidFill>
                <a:latin typeface="Arial" panose="020B0604020202020204" pitchFamily="34" charset="0"/>
              </a:rPr>
              <a:t>01</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par>
                          <p:cTn id="18" fill="hold">
                            <p:stCondLst>
                              <p:cond delay="1500"/>
                            </p:stCondLst>
                            <p:childTnLst>
                              <p:par>
                                <p:cTn id="19" presetID="29"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2"/>
                                          </p:val>
                                        </p:tav>
                                        <p:tav tm="100000">
                                          <p:val>
                                            <p:strVal val="#ppt_x"/>
                                          </p:val>
                                        </p:tav>
                                      </p:tavLst>
                                    </p:anim>
                                    <p:anim calcmode="lin" valueType="num">
                                      <p:cBhvr>
                                        <p:cTn id="22" dur="5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23" dur="500"/>
                                        <p:tgtEl>
                                          <p:spTgt spid="6"/>
                                        </p:tgtEl>
                                      </p:cBhvr>
                                    </p:animEffect>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ppt_x</p:attrName>
                                        </p:attrNameLst>
                                      </p:cBhvr>
                                      <p:tavLst>
                                        <p:tav tm="0">
                                          <p:val>
                                            <p:strVal val="#ppt_x"/>
                                          </p:val>
                                        </p:tav>
                                        <p:tav tm="100000">
                                          <p:val>
                                            <p:strVal val="#ppt_x"/>
                                          </p:val>
                                        </p:tav>
                                      </p:tavLst>
                                    </p:anim>
                                    <p:anim calcmode="lin" valueType="num">
                                      <p:cBhvr>
                                        <p:cTn id="29" dur="500" fill="hold"/>
                                        <p:tgtEl>
                                          <p:spTgt spid="2"/>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grpSp>
        <p:nvGrpSpPr>
          <p:cNvPr id="6" name="组合 5"/>
          <p:cNvGrpSpPr/>
          <p:nvPr/>
        </p:nvGrpSpPr>
        <p:grpSpPr>
          <a:xfrm>
            <a:off x="325629" y="332202"/>
            <a:ext cx="370488" cy="461920"/>
            <a:chOff x="7409" y="353"/>
            <a:chExt cx="1374" cy="1582"/>
          </a:xfrm>
          <a:solidFill>
            <a:srgbClr val="C43635"/>
          </a:solidFill>
        </p:grpSpPr>
        <p:sp>
          <p:nvSpPr>
            <p:cNvPr id="10" name="平行四边形 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sp>
          <p:nvSpPr>
            <p:cNvPr id="11" name="平行四边形 1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grpSp>
      <p:sp>
        <p:nvSpPr>
          <p:cNvPr id="12" name="文本框 11"/>
          <p:cNvSpPr txBox="1"/>
          <p:nvPr/>
        </p:nvSpPr>
        <p:spPr>
          <a:xfrm>
            <a:off x="782767" y="328874"/>
            <a:ext cx="4036836" cy="430439"/>
          </a:xfrm>
          <a:prstGeom prst="rect">
            <a:avLst/>
          </a:prstGeom>
          <a:noFill/>
        </p:spPr>
        <p:txBody>
          <a:bodyPr wrap="square" rtlCol="0">
            <a:spAutoFit/>
          </a:bodyPr>
          <a:lstStyle/>
          <a:p>
            <a:r>
              <a:rPr lang="zh-CN" altLang="en-US" sz="2195" b="1" dirty="0">
                <a:solidFill>
                  <a:srgbClr val="9F1620"/>
                </a:solidFill>
                <a:latin typeface="微软雅黑" panose="020B0503020204020204" pitchFamily="34" charset="-122"/>
                <a:ea typeface="微软雅黑" panose="020B0503020204020204" pitchFamily="34" charset="-122"/>
                <a:cs typeface="+mn-ea"/>
              </a:rPr>
              <a:t>银华基金</a:t>
            </a:r>
            <a:endParaRPr lang="zh-CN" altLang="en-US" sz="2195" b="1" dirty="0">
              <a:latin typeface="微软雅黑" panose="020B0503020204020204" pitchFamily="34" charset="-122"/>
              <a:ea typeface="微软雅黑" panose="020B0503020204020204" pitchFamily="34" charset="-122"/>
              <a:cs typeface="+mn-ea"/>
            </a:endParaRPr>
          </a:p>
        </p:txBody>
      </p:sp>
      <p:sp>
        <p:nvSpPr>
          <p:cNvPr id="2" name="灯片编号占位符 1"/>
          <p:cNvSpPr>
            <a:spLocks noGrp="1"/>
          </p:cNvSpPr>
          <p:nvPr>
            <p:ph type="sldNum" sz="quarter" idx="4294967295"/>
          </p:nvPr>
        </p:nvSpPr>
        <p:spPr>
          <a:xfrm>
            <a:off x="8736162" y="6639853"/>
            <a:ext cx="2841171" cy="476345"/>
          </a:xfrm>
        </p:spPr>
        <p:txBody>
          <a:bodyPr/>
          <a:lstStyle/>
          <a:p>
            <a:fld id="{01A33459-9038-4A08-9739-D099B456C693}" type="slidenum">
              <a:rPr lang="zh-CN" altLang="en-US" smtClean="0"/>
              <a:t>4</a:t>
            </a:fld>
            <a:endParaRPr lang="zh-CN" altLang="en-US" dirty="0"/>
          </a:p>
        </p:txBody>
      </p:sp>
      <p:sp>
        <p:nvSpPr>
          <p:cNvPr id="31" name="文本框 30"/>
          <p:cNvSpPr txBox="1"/>
          <p:nvPr/>
        </p:nvSpPr>
        <p:spPr>
          <a:xfrm>
            <a:off x="257810" y="839470"/>
            <a:ext cx="11621770" cy="1198880"/>
          </a:xfrm>
          <a:prstGeom prst="rect">
            <a:avLst/>
          </a:prstGeom>
          <a:noFill/>
        </p:spPr>
        <p:txBody>
          <a:bodyPr wrap="square" rtlCol="0">
            <a:spAutoFit/>
          </a:bodyPr>
          <a:lstStyle/>
          <a:p>
            <a:pPr marL="285750" indent="-285750" defTabSz="914400">
              <a:lnSpc>
                <a:spcPct val="150000"/>
              </a:lnSpc>
              <a:spcAft>
                <a:spcPts val="600"/>
              </a:spcAft>
              <a:buClr>
                <a:srgbClr val="C00000"/>
              </a:buClr>
              <a:buFont typeface="Wingdings" panose="05000000000000000000" pitchFamily="2" charset="2"/>
              <a:buChar char="p"/>
              <a:tabLst>
                <a:tab pos="903605" algn="l"/>
              </a:tabLst>
            </a:pPr>
            <a:r>
              <a:rPr lang="zh-CN" altLang="en-US" sz="1600" dirty="0">
                <a:latin typeface="+mj-ea"/>
                <a:ea typeface="+mj-ea"/>
              </a:rPr>
              <a:t>截至</a:t>
            </a:r>
            <a:r>
              <a:rPr lang="en-US" altLang="zh-CN" sz="1600" dirty="0">
                <a:latin typeface="+mj-ea"/>
                <a:ea typeface="+mj-ea"/>
              </a:rPr>
              <a:t>2026</a:t>
            </a:r>
            <a:r>
              <a:rPr lang="zh-CN" altLang="en-US" sz="1600" dirty="0">
                <a:latin typeface="+mj-ea"/>
                <a:ea typeface="+mj-ea"/>
              </a:rPr>
              <a:t>年</a:t>
            </a:r>
            <a:r>
              <a:rPr lang="en-US" altLang="zh-CN" sz="1600" dirty="0">
                <a:latin typeface="+mj-ea"/>
                <a:ea typeface="+mj-ea"/>
              </a:rPr>
              <a:t>3</a:t>
            </a:r>
            <a:r>
              <a:rPr lang="zh-CN" altLang="en-US" sz="1600" dirty="0">
                <a:latin typeface="+mj-ea"/>
                <a:ea typeface="+mj-ea"/>
              </a:rPr>
              <a:t>月</a:t>
            </a:r>
            <a:r>
              <a:rPr lang="en-US" altLang="zh-CN" sz="1600" dirty="0">
                <a:latin typeface="+mj-ea"/>
                <a:ea typeface="+mj-ea"/>
              </a:rPr>
              <a:t>31</a:t>
            </a:r>
            <a:r>
              <a:rPr lang="zh-CN" altLang="en-US" sz="1600" dirty="0">
                <a:latin typeface="+mj-ea"/>
                <a:ea typeface="+mj-ea"/>
              </a:rPr>
              <a:t>日，银华基金旗下管理公募基金产品</a:t>
            </a:r>
            <a:r>
              <a:rPr lang="en-US" altLang="zh-CN" sz="1600" dirty="0">
                <a:latin typeface="+mj-ea"/>
                <a:ea typeface="+mj-ea"/>
                <a:sym typeface="+mn-ea"/>
              </a:rPr>
              <a:t>249</a:t>
            </a:r>
            <a:r>
              <a:rPr lang="zh-CN" altLang="zh-CN" sz="1600" dirty="0">
                <a:latin typeface="+mj-ea"/>
                <a:ea typeface="+mj-ea"/>
                <a:sym typeface="+mn-ea"/>
              </a:rPr>
              <a:t>只</a:t>
            </a:r>
            <a:r>
              <a:rPr lang="zh-CN" altLang="en-US" sz="1600" dirty="0">
                <a:latin typeface="+mj-ea"/>
                <a:ea typeface="+mj-ea"/>
              </a:rPr>
              <a:t>，建立了覆盖权益、固收、量化、</a:t>
            </a:r>
            <a:r>
              <a:rPr lang="en-US" altLang="zh-CN" sz="1600" dirty="0">
                <a:latin typeface="+mj-ea"/>
                <a:ea typeface="+mj-ea"/>
              </a:rPr>
              <a:t>QDII</a:t>
            </a:r>
            <a:r>
              <a:rPr lang="zh-CN" altLang="en-US" sz="1600" dirty="0">
                <a:latin typeface="+mj-ea"/>
                <a:ea typeface="+mj-ea"/>
              </a:rPr>
              <a:t>、</a:t>
            </a:r>
            <a:r>
              <a:rPr lang="en-US" altLang="zh-CN" sz="1600" dirty="0">
                <a:latin typeface="+mj-ea"/>
                <a:ea typeface="+mj-ea"/>
              </a:rPr>
              <a:t>FOF</a:t>
            </a:r>
            <a:r>
              <a:rPr lang="zh-CN" altLang="en-US" sz="1600" dirty="0">
                <a:latin typeface="+mj-ea"/>
                <a:ea typeface="+mj-ea"/>
              </a:rPr>
              <a:t>、</a:t>
            </a:r>
            <a:r>
              <a:rPr lang="en-US" altLang="zh-CN" sz="1600" dirty="0">
                <a:latin typeface="+mj-ea"/>
                <a:ea typeface="+mj-ea"/>
              </a:rPr>
              <a:t>REITs</a:t>
            </a:r>
            <a:r>
              <a:rPr lang="zh-CN" altLang="en-US" sz="1600" dirty="0">
                <a:latin typeface="+mj-ea"/>
                <a:ea typeface="+mj-ea"/>
              </a:rPr>
              <a:t>等类型的全系列产品线；非公募业务包括社保、基本养老、企业年金、职业年金、专户等。银华基金（含子公司）资产管理总规模超过</a:t>
            </a:r>
            <a:r>
              <a:rPr lang="en-US" altLang="zh-CN" sz="1600" dirty="0">
                <a:highlight>
                  <a:srgbClr val="FFFF00"/>
                </a:highlight>
                <a:latin typeface="+mj-ea"/>
                <a:ea typeface="+mj-ea"/>
              </a:rPr>
              <a:t>1.2</a:t>
            </a:r>
            <a:r>
              <a:rPr lang="zh-CN" altLang="en-US" sz="1600" dirty="0">
                <a:latin typeface="+mj-ea"/>
                <a:ea typeface="+mj-ea"/>
              </a:rPr>
              <a:t>万亿元。</a:t>
            </a:r>
          </a:p>
        </p:txBody>
      </p:sp>
      <p:grpSp>
        <p:nvGrpSpPr>
          <p:cNvPr id="32" name="组合 31"/>
          <p:cNvGrpSpPr/>
          <p:nvPr/>
        </p:nvGrpSpPr>
        <p:grpSpPr>
          <a:xfrm>
            <a:off x="537845" y="4123055"/>
            <a:ext cx="3628390" cy="654685"/>
            <a:chOff x="847" y="6493"/>
            <a:chExt cx="5714" cy="1031"/>
          </a:xfrm>
        </p:grpSpPr>
        <p:sp>
          <p:nvSpPr>
            <p:cNvPr id="33" name="圆角矩形 32"/>
            <p:cNvSpPr/>
            <p:nvPr>
              <p:custDataLst>
                <p:tags r:id="rId6"/>
              </p:custDataLst>
            </p:nvPr>
          </p:nvSpPr>
          <p:spPr>
            <a:xfrm>
              <a:off x="1417" y="6493"/>
              <a:ext cx="4500" cy="1031"/>
            </a:xfrm>
            <a:prstGeom prst="roundRect">
              <a:avLst>
                <a:gd name="adj" fmla="val 15027"/>
              </a:avLst>
            </a:prstGeom>
            <a:gradFill>
              <a:gsLst>
                <a:gs pos="0">
                  <a:srgbClr val="FFF1EF"/>
                </a:gs>
                <a:gs pos="100000">
                  <a:schemeClr val="bg1"/>
                </a:gs>
              </a:gsLst>
              <a:lin ang="5400000" scaled="0"/>
            </a:gradFill>
            <a:ln w="25400">
              <a:solidFill>
                <a:schemeClr val="bg1"/>
              </a:solidFill>
            </a:ln>
            <a:effectLst>
              <a:outerShdw blurRad="177800" dist="101600" dir="5400000" algn="t" rotWithShape="0">
                <a:srgbClr val="D5120A">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文本框 34"/>
            <p:cNvSpPr txBox="1"/>
            <p:nvPr>
              <p:custDataLst>
                <p:tags r:id="rId7"/>
              </p:custDataLst>
            </p:nvPr>
          </p:nvSpPr>
          <p:spPr>
            <a:xfrm>
              <a:off x="847" y="6861"/>
              <a:ext cx="5714" cy="483"/>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sym typeface="黑体" panose="02010609060101010101" pitchFamily="49" charset="-122"/>
                </a:rPr>
                <a:t>银华资本</a:t>
              </a:r>
              <a:r>
                <a:rPr lang="en-US" altLang="zh-CN" sz="1400" b="1"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1400" b="1" dirty="0">
                  <a:latin typeface="微软雅黑" panose="020B0503020204020204" pitchFamily="34" charset="-122"/>
                  <a:ea typeface="微软雅黑" panose="020B0503020204020204" pitchFamily="34" charset="-122"/>
                  <a:sym typeface="黑体" panose="02010609060101010101" pitchFamily="49" charset="-122"/>
                </a:rPr>
                <a:t>银华国际</a:t>
              </a:r>
              <a:r>
                <a:rPr lang="en-US" altLang="zh-CN" sz="1400" b="1"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1400" b="1" dirty="0">
                  <a:latin typeface="微软雅黑" panose="020B0503020204020204" pitchFamily="34" charset="-122"/>
                  <a:ea typeface="微软雅黑" panose="020B0503020204020204" pitchFamily="34" charset="-122"/>
                  <a:sym typeface="黑体" panose="02010609060101010101" pitchFamily="49" charset="-122"/>
                </a:rPr>
                <a:t>银华永泰</a:t>
              </a:r>
              <a:endParaRPr lang="zh-CN" altLang="en-US" sz="1400" b="1" dirty="0"/>
            </a:p>
          </p:txBody>
        </p:sp>
      </p:grpSp>
      <p:grpSp>
        <p:nvGrpSpPr>
          <p:cNvPr id="36" name="组合 35"/>
          <p:cNvGrpSpPr/>
          <p:nvPr/>
        </p:nvGrpSpPr>
        <p:grpSpPr>
          <a:xfrm>
            <a:off x="7946390" y="4123055"/>
            <a:ext cx="3628390" cy="843280"/>
            <a:chOff x="12514" y="6493"/>
            <a:chExt cx="5714" cy="1328"/>
          </a:xfrm>
        </p:grpSpPr>
        <p:sp>
          <p:nvSpPr>
            <p:cNvPr id="37" name="圆角矩形 36"/>
            <p:cNvSpPr/>
            <p:nvPr>
              <p:custDataLst>
                <p:tags r:id="rId4"/>
              </p:custDataLst>
            </p:nvPr>
          </p:nvSpPr>
          <p:spPr>
            <a:xfrm>
              <a:off x="13121" y="6493"/>
              <a:ext cx="4500" cy="1328"/>
            </a:xfrm>
            <a:prstGeom prst="roundRect">
              <a:avLst>
                <a:gd name="adj" fmla="val 15027"/>
              </a:avLst>
            </a:prstGeom>
            <a:gradFill>
              <a:gsLst>
                <a:gs pos="0">
                  <a:srgbClr val="FFF1EF"/>
                </a:gs>
                <a:gs pos="100000">
                  <a:schemeClr val="bg1"/>
                </a:gs>
              </a:gsLst>
              <a:lin ang="5400000" scaled="0"/>
            </a:gradFill>
            <a:ln w="25400">
              <a:solidFill>
                <a:schemeClr val="bg1"/>
              </a:solidFill>
            </a:ln>
            <a:effectLst>
              <a:outerShdw blurRad="177800" dist="101600" dir="5400000" algn="t" rotWithShape="0">
                <a:srgbClr val="D5120A">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文本框 38"/>
            <p:cNvSpPr txBox="1"/>
            <p:nvPr>
              <p:custDataLst>
                <p:tags r:id="rId5"/>
              </p:custDataLst>
            </p:nvPr>
          </p:nvSpPr>
          <p:spPr>
            <a:xfrm>
              <a:off x="12514" y="6648"/>
              <a:ext cx="5714" cy="485"/>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非公募业务</a:t>
              </a:r>
            </a:p>
          </p:txBody>
        </p:sp>
        <p:sp>
          <p:nvSpPr>
            <p:cNvPr id="40" name="圆角矩形 39"/>
            <p:cNvSpPr/>
            <p:nvPr/>
          </p:nvSpPr>
          <p:spPr>
            <a:xfrm>
              <a:off x="13277" y="7165"/>
              <a:ext cx="4174" cy="324"/>
            </a:xfrm>
            <a:prstGeom prst="roundRect">
              <a:avLst>
                <a:gd name="adj" fmla="val 50000"/>
              </a:avLst>
            </a:prstGeom>
            <a:solidFill>
              <a:schemeClr val="bg1"/>
            </a:solidFill>
            <a:ln>
              <a:noFill/>
            </a:ln>
            <a:effectLst>
              <a:outerShdw blurRad="76200" dir="5400000" algn="t" rotWithShape="0">
                <a:srgbClr val="D8221A">
                  <a:alpha val="19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13379" y="7160"/>
              <a:ext cx="3922" cy="364"/>
            </a:xfrm>
            <a:prstGeom prst="rect">
              <a:avLst/>
            </a:prstGeom>
            <a:noFill/>
          </p:spPr>
          <p:txBody>
            <a:bodyPr wrap="square" rtlCol="0">
              <a:spAutoFit/>
            </a:bodyPr>
            <a:lstStyle/>
            <a:p>
              <a:pPr algn="ctr"/>
              <a:r>
                <a:rPr lang="zh-CN" altLang="en-US" sz="900" dirty="0">
                  <a:latin typeface="微软雅黑" panose="020B0503020204020204" pitchFamily="34" charset="-122"/>
                  <a:ea typeface="微软雅黑" panose="020B0503020204020204" pitchFamily="34" charset="-122"/>
                  <a:cs typeface="Microsoft JhengHei" panose="020B0604030504040204" charset="-120"/>
                  <a:sym typeface="+mn-ea"/>
                </a:rPr>
                <a:t>社保、基本养老、企业年金、职业年金、专户</a:t>
              </a:r>
            </a:p>
          </p:txBody>
        </p:sp>
      </p:grpSp>
      <p:grpSp>
        <p:nvGrpSpPr>
          <p:cNvPr id="42" name="组合 41"/>
          <p:cNvGrpSpPr/>
          <p:nvPr/>
        </p:nvGrpSpPr>
        <p:grpSpPr>
          <a:xfrm>
            <a:off x="4166235" y="2267585"/>
            <a:ext cx="3628390" cy="1211580"/>
            <a:chOff x="6753" y="3994"/>
            <a:chExt cx="5714" cy="1908"/>
          </a:xfrm>
        </p:grpSpPr>
        <p:sp>
          <p:nvSpPr>
            <p:cNvPr id="43" name="圆角矩形 42"/>
            <p:cNvSpPr/>
            <p:nvPr>
              <p:custDataLst>
                <p:tags r:id="rId1"/>
              </p:custDataLst>
            </p:nvPr>
          </p:nvSpPr>
          <p:spPr>
            <a:xfrm>
              <a:off x="7360" y="3994"/>
              <a:ext cx="4500" cy="1908"/>
            </a:xfrm>
            <a:prstGeom prst="roundRect">
              <a:avLst>
                <a:gd name="adj" fmla="val 15027"/>
              </a:avLst>
            </a:prstGeom>
            <a:gradFill>
              <a:gsLst>
                <a:gs pos="0">
                  <a:srgbClr val="FFF1EF"/>
                </a:gs>
                <a:gs pos="100000">
                  <a:schemeClr val="bg1"/>
                </a:gs>
              </a:gsLst>
              <a:lin ang="5400000" scaled="0"/>
            </a:gradFill>
            <a:ln w="25400">
              <a:solidFill>
                <a:schemeClr val="bg1"/>
              </a:solidFill>
            </a:ln>
            <a:effectLst>
              <a:outerShdw blurRad="177800" dist="101600" dir="5400000" algn="t" rotWithShape="0">
                <a:srgbClr val="E7544D">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文本框 43"/>
            <p:cNvSpPr txBox="1"/>
            <p:nvPr>
              <p:custDataLst>
                <p:tags r:id="rId2"/>
              </p:custDataLst>
            </p:nvPr>
          </p:nvSpPr>
          <p:spPr>
            <a:xfrm>
              <a:off x="7515" y="4580"/>
              <a:ext cx="4190" cy="677"/>
            </a:xfrm>
            <a:prstGeom prst="rect">
              <a:avLst/>
            </a:prstGeom>
            <a:noFill/>
          </p:spPr>
          <p:txBody>
            <a:bodyPr wrap="square" rtlCol="0">
              <a:spAutoFit/>
            </a:bodyPr>
            <a:lstStyle/>
            <a:p>
              <a:pPr marL="1270" algn="ctr" fontAlgn="auto"/>
              <a:r>
                <a:rPr lang="en-US" altLang="zh-CN" sz="2200" b="1" spc="-35" dirty="0">
                  <a:solidFill>
                    <a:srgbClr val="D0281F"/>
                  </a:solidFill>
                  <a:latin typeface="微软雅黑" panose="020B0503020204020204" pitchFamily="34" charset="-122"/>
                  <a:ea typeface="微软雅黑" panose="020B0503020204020204" pitchFamily="34" charset="-122"/>
                  <a:cs typeface="黑体" panose="02010609060101010101" pitchFamily="49" charset="-122"/>
                  <a:sym typeface="+mn-ea"/>
                </a:rPr>
                <a:t>6837亿元+</a:t>
              </a:r>
              <a:endParaRPr lang="zh-CN" altLang="en-US" sz="2200" dirty="0"/>
            </a:p>
          </p:txBody>
        </p:sp>
        <p:sp>
          <p:nvSpPr>
            <p:cNvPr id="45" name="文本框 44"/>
            <p:cNvSpPr txBox="1"/>
            <p:nvPr>
              <p:custDataLst>
                <p:tags r:id="rId3"/>
              </p:custDataLst>
            </p:nvPr>
          </p:nvSpPr>
          <p:spPr>
            <a:xfrm>
              <a:off x="6753" y="4117"/>
              <a:ext cx="5714" cy="483"/>
            </a:xfrm>
            <a:prstGeom prst="rect">
              <a:avLst/>
            </a:prstGeom>
            <a:noFill/>
          </p:spPr>
          <p:txBody>
            <a:bodyPr wrap="square" rtlCol="0">
              <a:spAutoFit/>
            </a:bodyPr>
            <a:lstStyle/>
            <a:p>
              <a:pPr algn="ctr"/>
              <a:r>
                <a:rPr lang="zh-CN" altLang="en-US" sz="1400" b="1"/>
                <a:t>公募基金</a:t>
              </a:r>
            </a:p>
          </p:txBody>
        </p:sp>
        <p:sp>
          <p:nvSpPr>
            <p:cNvPr id="46" name="圆角矩形 45"/>
            <p:cNvSpPr/>
            <p:nvPr/>
          </p:nvSpPr>
          <p:spPr>
            <a:xfrm>
              <a:off x="8790" y="5307"/>
              <a:ext cx="1622" cy="402"/>
            </a:xfrm>
            <a:prstGeom prst="roundRect">
              <a:avLst>
                <a:gd name="adj" fmla="val 50000"/>
              </a:avLst>
            </a:prstGeom>
            <a:solidFill>
              <a:srgbClr val="E8464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dirty="0">
                  <a:solidFill>
                    <a:schemeClr val="bg1"/>
                  </a:solidFill>
                </a:rPr>
                <a:t>249</a:t>
              </a:r>
              <a:r>
                <a:rPr lang="zh-CN" altLang="en-US" sz="1600" b="1" dirty="0">
                  <a:solidFill>
                    <a:schemeClr val="bg1"/>
                  </a:solidFill>
                </a:rPr>
                <a:t>只</a:t>
              </a:r>
            </a:p>
          </p:txBody>
        </p:sp>
      </p:grpSp>
      <p:sp>
        <p:nvSpPr>
          <p:cNvPr id="47" name="文本框 46"/>
          <p:cNvSpPr txBox="1"/>
          <p:nvPr/>
        </p:nvSpPr>
        <p:spPr>
          <a:xfrm>
            <a:off x="4044315" y="5612130"/>
            <a:ext cx="4064000" cy="1198880"/>
          </a:xfrm>
          <a:prstGeom prst="rect">
            <a:avLst/>
          </a:prstGeom>
          <a:noFill/>
        </p:spPr>
        <p:txBody>
          <a:bodyPr wrap="square"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rPr>
              <a:t>1.2</a:t>
            </a:r>
            <a:r>
              <a:rPr lang="zh-CN" altLang="en-US"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rPr>
              <a:t>万亿元</a:t>
            </a:r>
            <a:r>
              <a:rPr lang="en-US" altLang="zh-CN"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rPr>
              <a:t>+</a:t>
            </a:r>
            <a:endParaRPr lang="zh-CN" altLang="en-US"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endParaRPr>
          </a:p>
          <a:p>
            <a:pPr algn="ctr"/>
            <a:endParaRPr lang="zh-CN" altLang="en-US"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endParaRPr>
          </a:p>
        </p:txBody>
      </p:sp>
      <p:sp>
        <p:nvSpPr>
          <p:cNvPr id="3" name="文本框 2"/>
          <p:cNvSpPr txBox="1"/>
          <p:nvPr/>
        </p:nvSpPr>
        <p:spPr>
          <a:xfrm>
            <a:off x="257563" y="6113876"/>
            <a:ext cx="2543706" cy="253916"/>
          </a:xfrm>
          <a:prstGeom prst="rect">
            <a:avLst/>
          </a:prstGeom>
          <a:noFill/>
        </p:spPr>
        <p:txBody>
          <a:bodyPr wrap="square" rtlCol="0">
            <a:spAutoFit/>
          </a:bodyPr>
          <a:lstStyle/>
          <a:p>
            <a:r>
              <a:rPr lang="zh-CN" altLang="en-US" sz="1050" dirty="0">
                <a:latin typeface="+mj-ea"/>
                <a:ea typeface="+mj-ea"/>
              </a:rPr>
              <a:t>资料来源：银华基金，</a:t>
            </a:r>
            <a:r>
              <a:rPr lang="en-US" altLang="zh-CN" sz="1050" dirty="0">
                <a:highlight>
                  <a:srgbClr val="FFFF00"/>
                </a:highlight>
                <a:latin typeface="+mj-ea"/>
                <a:ea typeface="+mj-ea"/>
              </a:rPr>
              <a:t>2026.3.31</a:t>
            </a:r>
            <a:endParaRPr lang="zh-CN" altLang="en-US" sz="1050" dirty="0">
              <a:highlight>
                <a:srgbClr val="FFFF00"/>
              </a:highlight>
              <a:latin typeface="+mj-ea"/>
              <a:ea typeface="+mj-ea"/>
            </a:endParaRPr>
          </a:p>
        </p:txBody>
      </p:sp>
      <p:sp>
        <p:nvSpPr>
          <p:cNvPr id="4" name="文本框 3"/>
          <p:cNvSpPr txBox="1"/>
          <p:nvPr/>
        </p:nvSpPr>
        <p:spPr>
          <a:xfrm>
            <a:off x="325939" y="6367990"/>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25629" y="332202"/>
            <a:ext cx="370488" cy="461920"/>
            <a:chOff x="7409" y="353"/>
            <a:chExt cx="1374" cy="1582"/>
          </a:xfrm>
          <a:solidFill>
            <a:srgbClr val="C43635"/>
          </a:solidFill>
        </p:grpSpPr>
        <p:sp>
          <p:nvSpPr>
            <p:cNvPr id="10" name="平行四边形 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sp>
          <p:nvSpPr>
            <p:cNvPr id="11" name="平行四边形 1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grpSp>
      <p:sp>
        <p:nvSpPr>
          <p:cNvPr id="12" name="文本框 11"/>
          <p:cNvSpPr txBox="1"/>
          <p:nvPr/>
        </p:nvSpPr>
        <p:spPr>
          <a:xfrm>
            <a:off x="782767" y="328874"/>
            <a:ext cx="4036836" cy="430439"/>
          </a:xfrm>
          <a:prstGeom prst="rect">
            <a:avLst/>
          </a:prstGeom>
          <a:noFill/>
        </p:spPr>
        <p:txBody>
          <a:bodyPr wrap="square" rtlCol="0">
            <a:spAutoFit/>
          </a:bodyPr>
          <a:lstStyle/>
          <a:p>
            <a:r>
              <a:rPr lang="zh-CN" altLang="en-US" sz="2195" b="1" dirty="0">
                <a:solidFill>
                  <a:srgbClr val="9F1620"/>
                </a:solidFill>
                <a:latin typeface="微软雅黑" panose="020B0503020204020204" pitchFamily="34" charset="-122"/>
                <a:ea typeface="微软雅黑" panose="020B0503020204020204" pitchFamily="34" charset="-122"/>
                <a:cs typeface="+mn-ea"/>
              </a:rPr>
              <a:t>投资经理简介</a:t>
            </a:r>
            <a:endParaRPr lang="zh-CN" altLang="en-US" sz="2195" b="1" dirty="0">
              <a:latin typeface="微软雅黑" panose="020B0503020204020204" pitchFamily="34" charset="-122"/>
              <a:ea typeface="微软雅黑" panose="020B0503020204020204" pitchFamily="34" charset="-122"/>
              <a:cs typeface="+mn-ea"/>
            </a:endParaRPr>
          </a:p>
        </p:txBody>
      </p:sp>
      <p:sp>
        <p:nvSpPr>
          <p:cNvPr id="2" name="灯片编号占位符 1"/>
          <p:cNvSpPr>
            <a:spLocks noGrp="1"/>
          </p:cNvSpPr>
          <p:nvPr>
            <p:ph type="sldNum" sz="quarter" idx="4294967295"/>
          </p:nvPr>
        </p:nvSpPr>
        <p:spPr>
          <a:xfrm>
            <a:off x="8736162" y="6639853"/>
            <a:ext cx="2841171" cy="476345"/>
          </a:xfrm>
        </p:spPr>
        <p:txBody>
          <a:bodyPr/>
          <a:lstStyle/>
          <a:p>
            <a:fld id="{01A33459-9038-4A08-9739-D099B456C693}" type="slidenum">
              <a:rPr lang="zh-CN" altLang="en-US" smtClean="0"/>
              <a:t>5</a:t>
            </a:fld>
            <a:endParaRPr lang="zh-CN" altLang="en-US" dirty="0"/>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955" y="1800860"/>
            <a:ext cx="2979420" cy="3567430"/>
          </a:xfrm>
          <a:prstGeom prst="rect">
            <a:avLst/>
          </a:prstGeom>
        </p:spPr>
      </p:pic>
      <p:sp>
        <p:nvSpPr>
          <p:cNvPr id="23" name="文本框 22"/>
          <p:cNvSpPr txBox="1"/>
          <p:nvPr/>
        </p:nvSpPr>
        <p:spPr>
          <a:xfrm>
            <a:off x="4266447" y="1693332"/>
            <a:ext cx="7406264" cy="4354654"/>
          </a:xfrm>
          <a:prstGeom prst="rect">
            <a:avLst/>
          </a:prstGeom>
          <a:noFill/>
        </p:spPr>
        <p:txBody>
          <a:bodyPr wrap="square" rtlCol="0">
            <a:spAutoFit/>
          </a:bodyPr>
          <a:lstStyle/>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mn-ea"/>
              </a:rPr>
              <a:t>吴致超，</a:t>
            </a:r>
            <a:r>
              <a:rPr lang="en-US" altLang="zh-CN" dirty="0">
                <a:latin typeface="微软雅黑" panose="020B0503020204020204" pitchFamily="34" charset="-122"/>
                <a:ea typeface="微软雅黑" panose="020B0503020204020204" pitchFamily="34" charset="-122"/>
                <a:sym typeface="+mn-ea"/>
              </a:rPr>
              <a:t>FOF</a:t>
            </a:r>
            <a:r>
              <a:rPr lang="zh-CN" altLang="en-US" dirty="0">
                <a:latin typeface="微软雅黑" panose="020B0503020204020204" pitchFamily="34" charset="-122"/>
                <a:ea typeface="微软雅黑" panose="020B0503020204020204" pitchFamily="34" charset="-122"/>
                <a:sym typeface="+mn-ea"/>
              </a:rPr>
              <a:t>投资经理，</a:t>
            </a:r>
            <a:r>
              <a:rPr lang="en-US" altLang="zh-CN" dirty="0">
                <a:latin typeface="微软雅黑" panose="020B0503020204020204" pitchFamily="34" charset="-122"/>
                <a:ea typeface="微软雅黑" panose="020B0503020204020204" pitchFamily="34" charset="-122"/>
                <a:sym typeface="+mn-ea"/>
              </a:rPr>
              <a:t>6</a:t>
            </a:r>
            <a:r>
              <a:rPr lang="zh-CN" altLang="en-US" dirty="0">
                <a:latin typeface="微软雅黑" panose="020B0503020204020204" pitchFamily="34" charset="-122"/>
                <a:ea typeface="微软雅黑" panose="020B0503020204020204" pitchFamily="34" charset="-122"/>
                <a:sym typeface="+mn-ea"/>
              </a:rPr>
              <a:t>年投研年限。本科毕业于武汉大学软件工程专业，计算机和金融双硕士，特许金融分析师（</a:t>
            </a:r>
            <a:r>
              <a:rPr lang="en-US" altLang="zh-CN" dirty="0">
                <a:latin typeface="微软雅黑" panose="020B0503020204020204" pitchFamily="34" charset="-122"/>
                <a:ea typeface="微软雅黑" panose="020B0503020204020204" pitchFamily="34" charset="-122"/>
                <a:sym typeface="+mn-ea"/>
              </a:rPr>
              <a:t>CFA</a:t>
            </a:r>
            <a:r>
              <a:rPr lang="zh-CN" altLang="en-US"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7</a:t>
            </a:r>
            <a:r>
              <a:rPr lang="zh-CN" altLang="en-US" dirty="0">
                <a:latin typeface="微软雅黑" panose="020B0503020204020204" pitchFamily="34" charset="-122"/>
                <a:ea typeface="微软雅黑" panose="020B0503020204020204" pitchFamily="34" charset="-122"/>
                <a:sym typeface="+mn-ea"/>
              </a:rPr>
              <a:t>年证券从业经验。</a:t>
            </a:r>
            <a:endParaRPr lang="en-US" altLang="zh-CN" dirty="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mn-ea"/>
              </a:rPr>
              <a:t>曾就职于（伦敦）花旗银行、瑞士银行、法国农业信贷银行、（北京）汤森路透，有丰富的海外工作经验</a:t>
            </a:r>
            <a:endParaRPr lang="en-US" altLang="zh-CN" dirty="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sym typeface="+mn-ea"/>
              </a:rPr>
              <a:t>2019</a:t>
            </a:r>
            <a:r>
              <a:rPr lang="zh-CN" altLang="en-US" dirty="0">
                <a:latin typeface="微软雅黑" panose="020B0503020204020204" pitchFamily="34" charset="-122"/>
                <a:ea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sym typeface="+mn-ea"/>
              </a:rPr>
              <a:t>5</a:t>
            </a:r>
            <a:r>
              <a:rPr lang="zh-CN" altLang="en-US" dirty="0">
                <a:latin typeface="微软雅黑" panose="020B0503020204020204" pitchFamily="34" charset="-122"/>
                <a:ea typeface="微软雅黑" panose="020B0503020204020204" pitchFamily="34" charset="-122"/>
                <a:sym typeface="+mn-ea"/>
              </a:rPr>
              <a:t>月加入银华基金，历任策略分析师、</a:t>
            </a:r>
            <a:r>
              <a:rPr lang="en-US" altLang="zh-CN" dirty="0">
                <a:latin typeface="微软雅黑" panose="020B0503020204020204" pitchFamily="34" charset="-122"/>
                <a:ea typeface="微软雅黑" panose="020B0503020204020204" pitchFamily="34" charset="-122"/>
                <a:sym typeface="+mn-ea"/>
              </a:rPr>
              <a:t>FOF</a:t>
            </a:r>
            <a:r>
              <a:rPr lang="zh-CN" altLang="en-US" dirty="0">
                <a:latin typeface="微软雅黑" panose="020B0503020204020204" pitchFamily="34" charset="-122"/>
                <a:ea typeface="微软雅黑" panose="020B0503020204020204" pitchFamily="34" charset="-122"/>
                <a:sym typeface="+mn-ea"/>
              </a:rPr>
              <a:t>研究员、</a:t>
            </a:r>
            <a:r>
              <a:rPr lang="en-US" altLang="zh-CN" dirty="0">
                <a:latin typeface="微软雅黑" panose="020B0503020204020204" pitchFamily="34" charset="-122"/>
                <a:ea typeface="微软雅黑" panose="020B0503020204020204" pitchFamily="34" charset="-122"/>
                <a:sym typeface="+mn-ea"/>
              </a:rPr>
              <a:t>FOF</a:t>
            </a:r>
            <a:r>
              <a:rPr lang="zh-CN" altLang="en-US" dirty="0">
                <a:latin typeface="微软雅黑" panose="020B0503020204020204" pitchFamily="34" charset="-122"/>
                <a:ea typeface="微软雅黑" panose="020B0503020204020204" pitchFamily="34" charset="-122"/>
                <a:sym typeface="+mn-ea"/>
              </a:rPr>
              <a:t>基金经历助理，主要从事基金产品研究、大类资产配置和组合投资工作。</a:t>
            </a:r>
            <a:endParaRPr lang="en-US" altLang="zh-CN" dirty="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endParaRPr lang="zh-CN" altLang="zh-CN" sz="1600" dirty="0">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25629" y="332202"/>
            <a:ext cx="370488" cy="461920"/>
            <a:chOff x="7409" y="353"/>
            <a:chExt cx="1374" cy="1582"/>
          </a:xfrm>
          <a:solidFill>
            <a:srgbClr val="C43635"/>
          </a:solidFill>
        </p:grpSpPr>
        <p:sp>
          <p:nvSpPr>
            <p:cNvPr id="10" name="平行四边形 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sp>
          <p:nvSpPr>
            <p:cNvPr id="11" name="平行四边形 1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grpSp>
      <p:sp>
        <p:nvSpPr>
          <p:cNvPr id="12" name="文本框 11"/>
          <p:cNvSpPr txBox="1"/>
          <p:nvPr/>
        </p:nvSpPr>
        <p:spPr>
          <a:xfrm>
            <a:off x="782766" y="328874"/>
            <a:ext cx="4911977" cy="430439"/>
          </a:xfrm>
          <a:prstGeom prst="rect">
            <a:avLst/>
          </a:prstGeom>
          <a:noFill/>
        </p:spPr>
        <p:txBody>
          <a:bodyPr wrap="square" rtlCol="0">
            <a:spAutoFit/>
          </a:bodyPr>
          <a:lstStyle/>
          <a:p>
            <a:r>
              <a:rPr lang="zh-CN" altLang="en-US" sz="2195" b="1" dirty="0">
                <a:solidFill>
                  <a:srgbClr val="9F1620"/>
                </a:solidFill>
                <a:latin typeface="微软雅黑" panose="020B0503020204020204" pitchFamily="34" charset="-122"/>
                <a:ea typeface="微软雅黑" panose="020B0503020204020204" pitchFamily="34" charset="-122"/>
                <a:cs typeface="+mn-ea"/>
              </a:rPr>
              <a:t>银华基金</a:t>
            </a:r>
            <a:r>
              <a:rPr lang="en-US" altLang="zh-CN" sz="2195" b="1" dirty="0">
                <a:solidFill>
                  <a:srgbClr val="9F1620"/>
                </a:solidFill>
                <a:latin typeface="微软雅黑" panose="020B0503020204020204" pitchFamily="34" charset="-122"/>
                <a:ea typeface="微软雅黑" panose="020B0503020204020204" pitchFamily="34" charset="-122"/>
                <a:cs typeface="+mn-ea"/>
              </a:rPr>
              <a:t>FOF</a:t>
            </a:r>
            <a:r>
              <a:rPr lang="zh-CN" altLang="en-US" sz="2195" b="1" dirty="0">
                <a:solidFill>
                  <a:srgbClr val="9F1620"/>
                </a:solidFill>
                <a:latin typeface="微软雅黑" panose="020B0503020204020204" pitchFamily="34" charset="-122"/>
                <a:ea typeface="微软雅黑" panose="020B0503020204020204" pitchFamily="34" charset="-122"/>
                <a:cs typeface="+mn-ea"/>
              </a:rPr>
              <a:t>投资管理及支持团队</a:t>
            </a:r>
            <a:endParaRPr lang="zh-CN" altLang="en-US" sz="2195" b="1" dirty="0">
              <a:latin typeface="微软雅黑" panose="020B0503020204020204" pitchFamily="34" charset="-122"/>
              <a:ea typeface="微软雅黑" panose="020B0503020204020204" pitchFamily="34" charset="-122"/>
              <a:cs typeface="+mn-ea"/>
            </a:endParaRPr>
          </a:p>
        </p:txBody>
      </p:sp>
      <p:sp>
        <p:nvSpPr>
          <p:cNvPr id="17" name="object 6"/>
          <p:cNvSpPr txBox="1">
            <a:spLocks noChangeArrowheads="1"/>
          </p:cNvSpPr>
          <p:nvPr/>
        </p:nvSpPr>
        <p:spPr bwMode="auto">
          <a:xfrm>
            <a:off x="2881377" y="2636117"/>
            <a:ext cx="1329348"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投资管理人员</a:t>
            </a:r>
          </a:p>
        </p:txBody>
      </p:sp>
      <p:sp>
        <p:nvSpPr>
          <p:cNvPr id="18" name="object 7"/>
          <p:cNvSpPr txBox="1">
            <a:spLocks noChangeArrowheads="1"/>
          </p:cNvSpPr>
          <p:nvPr/>
        </p:nvSpPr>
        <p:spPr bwMode="auto">
          <a:xfrm>
            <a:off x="6730735" y="2636116"/>
            <a:ext cx="132054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专职基金交易员</a:t>
            </a:r>
          </a:p>
        </p:txBody>
      </p:sp>
      <p:sp>
        <p:nvSpPr>
          <p:cNvPr id="19" name="object 8"/>
          <p:cNvSpPr txBox="1">
            <a:spLocks noChangeArrowheads="1"/>
          </p:cNvSpPr>
          <p:nvPr/>
        </p:nvSpPr>
        <p:spPr bwMode="auto">
          <a:xfrm>
            <a:off x="5417057" y="2636116"/>
            <a:ext cx="137116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专职风控人员</a:t>
            </a:r>
          </a:p>
        </p:txBody>
      </p:sp>
      <p:sp>
        <p:nvSpPr>
          <p:cNvPr id="22" name="object 19"/>
          <p:cNvSpPr/>
          <p:nvPr/>
        </p:nvSpPr>
        <p:spPr>
          <a:xfrm>
            <a:off x="2916972" y="1160235"/>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15" dirty="0">
                <a:solidFill>
                  <a:schemeClr val="tx2"/>
                </a:solidFill>
                <a:latin typeface="+mn-ea"/>
                <a:cs typeface="Times New Roman" panose="02020603050405020304" pitchFamily="18" charset="0"/>
              </a:rPr>
              <a:t>10</a:t>
            </a:r>
            <a:r>
              <a:rPr lang="zh-CN" altLang="en-US" sz="1915" spc="15"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4" name="object 19"/>
          <p:cNvSpPr/>
          <p:nvPr/>
        </p:nvSpPr>
        <p:spPr>
          <a:xfrm>
            <a:off x="4199736" y="1167496"/>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wrap="square" lIns="0" tIns="0" rIns="0" bIns="0" anchor="ctr"/>
          <a:lstStyle/>
          <a:p>
            <a:pPr algn="ctr">
              <a:lnSpc>
                <a:spcPts val="2500"/>
              </a:lnSpc>
              <a:defRPr/>
            </a:pPr>
            <a:r>
              <a:rPr lang="en-US" altLang="zh-CN" sz="1915" spc="-69" dirty="0">
                <a:solidFill>
                  <a:schemeClr val="tx2"/>
                </a:solidFill>
                <a:latin typeface="+mn-ea"/>
                <a:cs typeface="Times New Roman" panose="02020603050405020304" pitchFamily="18" charset="0"/>
              </a:rPr>
              <a:t>67</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5" name="object 19"/>
          <p:cNvSpPr/>
          <p:nvPr/>
        </p:nvSpPr>
        <p:spPr>
          <a:xfrm>
            <a:off x="5479679" y="1177308"/>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69" dirty="0">
                <a:solidFill>
                  <a:schemeClr val="tx2"/>
                </a:solidFill>
                <a:latin typeface="+mn-ea"/>
                <a:cs typeface="Times New Roman" panose="02020603050405020304" pitchFamily="18" charset="0"/>
              </a:rPr>
              <a:t>4</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6" name="object 19"/>
          <p:cNvSpPr/>
          <p:nvPr/>
        </p:nvSpPr>
        <p:spPr>
          <a:xfrm>
            <a:off x="6756804" y="1165431"/>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69" dirty="0">
                <a:solidFill>
                  <a:schemeClr val="tx2"/>
                </a:solidFill>
                <a:latin typeface="+mn-ea"/>
                <a:cs typeface="Times New Roman" panose="02020603050405020304" pitchFamily="18" charset="0"/>
              </a:rPr>
              <a:t>3</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8" name="object 19"/>
          <p:cNvSpPr/>
          <p:nvPr/>
        </p:nvSpPr>
        <p:spPr>
          <a:xfrm>
            <a:off x="8043480" y="1167496"/>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69" dirty="0">
                <a:solidFill>
                  <a:schemeClr val="tx2"/>
                </a:solidFill>
                <a:latin typeface="+mn-ea"/>
                <a:cs typeface="Times New Roman" panose="02020603050405020304" pitchFamily="18" charset="0"/>
              </a:rPr>
              <a:t>2</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9" name="object 7"/>
          <p:cNvSpPr txBox="1">
            <a:spLocks noChangeArrowheads="1"/>
          </p:cNvSpPr>
          <p:nvPr/>
        </p:nvSpPr>
        <p:spPr bwMode="auto">
          <a:xfrm>
            <a:off x="4221557" y="2636117"/>
            <a:ext cx="1115859"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固收与权益研究员</a:t>
            </a:r>
          </a:p>
        </p:txBody>
      </p:sp>
      <p:sp>
        <p:nvSpPr>
          <p:cNvPr id="30" name="object 9"/>
          <p:cNvSpPr txBox="1">
            <a:spLocks noChangeArrowheads="1"/>
          </p:cNvSpPr>
          <p:nvPr/>
        </p:nvSpPr>
        <p:spPr bwMode="auto">
          <a:xfrm>
            <a:off x="8161343" y="2624185"/>
            <a:ext cx="110705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专职对口销售人员</a:t>
            </a:r>
          </a:p>
        </p:txBody>
      </p:sp>
      <p:sp>
        <p:nvSpPr>
          <p:cNvPr id="2" name="灯片编号占位符 1"/>
          <p:cNvSpPr>
            <a:spLocks noGrp="1"/>
          </p:cNvSpPr>
          <p:nvPr>
            <p:ph type="sldNum" sz="quarter" idx="4294967295"/>
          </p:nvPr>
        </p:nvSpPr>
        <p:spPr>
          <a:xfrm>
            <a:off x="8736162" y="6639853"/>
            <a:ext cx="2841171" cy="476345"/>
          </a:xfrm>
        </p:spPr>
        <p:txBody>
          <a:bodyPr/>
          <a:lstStyle/>
          <a:p>
            <a:fld id="{01A33459-9038-4A08-9739-D099B456C693}" type="slidenum">
              <a:rPr lang="zh-CN" altLang="en-US" smtClean="0"/>
              <a:t>6</a:t>
            </a:fld>
            <a:endParaRPr lang="zh-CN" altLang="en-US" dirty="0"/>
          </a:p>
        </p:txBody>
      </p:sp>
      <p:grpSp>
        <p:nvGrpSpPr>
          <p:cNvPr id="23" name="组合 22"/>
          <p:cNvGrpSpPr/>
          <p:nvPr/>
        </p:nvGrpSpPr>
        <p:grpSpPr>
          <a:xfrm>
            <a:off x="782767" y="3521316"/>
            <a:ext cx="2687320" cy="3164205"/>
            <a:chOff x="503" y="5118"/>
            <a:chExt cx="4232" cy="5134"/>
          </a:xfrm>
        </p:grpSpPr>
        <p:sp>
          <p:nvSpPr>
            <p:cNvPr id="31" name="圆角矩形 30"/>
            <p:cNvSpPr/>
            <p:nvPr/>
          </p:nvSpPr>
          <p:spPr>
            <a:xfrm>
              <a:off x="503" y="5118"/>
              <a:ext cx="4230" cy="5134"/>
            </a:xfrm>
            <a:prstGeom prst="roundRect">
              <a:avLst>
                <a:gd name="adj" fmla="val 9689"/>
              </a:avLst>
            </a:prstGeom>
            <a:gradFill>
              <a:gsLst>
                <a:gs pos="0">
                  <a:srgbClr val="FAFAFA"/>
                </a:gs>
                <a:gs pos="100000">
                  <a:schemeClr val="bg1"/>
                </a:gs>
              </a:gsLst>
              <a:lin ang="5400000" scaled="0"/>
            </a:gradFill>
            <a:ln>
              <a:solidFill>
                <a:schemeClr val="bg1"/>
              </a:solidFill>
            </a:ln>
            <a:effectLst>
              <a:outerShdw blurRad="381000" dist="63500" dir="5400000" algn="t"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文本框 31"/>
            <p:cNvSpPr txBox="1"/>
            <p:nvPr/>
          </p:nvSpPr>
          <p:spPr>
            <a:xfrm>
              <a:off x="744" y="5969"/>
              <a:ext cx="3748" cy="3517"/>
            </a:xfrm>
            <a:prstGeom prst="rect">
              <a:avLst/>
            </a:prstGeom>
            <a:noFill/>
          </p:spPr>
          <p:txBody>
            <a:bodyPr wrap="square" rtlCol="0">
              <a:noAutofit/>
            </a:bodyPr>
            <a:lstStyle/>
            <a:p>
              <a:pPr indent="0" algn="just" fontAlgn="auto">
                <a:lnSpc>
                  <a:spcPct val="150000"/>
                </a:lnSpc>
              </a:pPr>
              <a:r>
                <a:rPr lang="zh-CN" altLang="en-US" sz="1400" dirty="0">
                  <a:solidFill>
                    <a:schemeClr val="dk1"/>
                  </a:solidFill>
                  <a:latin typeface="+mj-ea"/>
                  <a:ea typeface="+mj-ea"/>
                  <a:cs typeface="微软雅黑" panose="020B0503020204020204" pitchFamily="34" charset="-122"/>
                  <a:sym typeface="+mn-ea"/>
                </a:rPr>
                <a:t>公司领导高度重视</a:t>
              </a:r>
              <a:r>
                <a:rPr lang="en-US" altLang="zh-CN" sz="1400" dirty="0">
                  <a:solidFill>
                    <a:schemeClr val="dk1"/>
                  </a:solidFill>
                  <a:latin typeface="+mj-ea"/>
                  <a:ea typeface="+mj-ea"/>
                  <a:cs typeface="微软雅黑" panose="020B0503020204020204" pitchFamily="34" charset="-122"/>
                  <a:sym typeface="+mn-ea"/>
                </a:rPr>
                <a:t>FOF</a:t>
              </a:r>
              <a:r>
                <a:rPr lang="zh-CN" altLang="en-US" sz="1400" dirty="0">
                  <a:solidFill>
                    <a:schemeClr val="dk1"/>
                  </a:solidFill>
                  <a:latin typeface="+mj-ea"/>
                  <a:ea typeface="+mj-ea"/>
                  <a:cs typeface="微软雅黑" panose="020B0503020204020204" pitchFamily="34" charset="-122"/>
                  <a:sym typeface="+mn-ea"/>
                </a:rPr>
                <a:t>业务，</a:t>
              </a:r>
              <a:r>
                <a:rPr lang="zh-CN" altLang="en-US" sz="1400" b="1" dirty="0">
                  <a:solidFill>
                    <a:schemeClr val="dk1"/>
                  </a:solidFill>
                  <a:latin typeface="+mj-ea"/>
                  <a:ea typeface="+mj-ea"/>
                  <a:cs typeface="微软雅黑" panose="020B0503020204020204" pitchFamily="34" charset="-122"/>
                  <a:sym typeface="+mn-ea"/>
                </a:rPr>
                <a:t>在投研人员和内部资源上给与充分支持；</a:t>
              </a:r>
              <a:r>
                <a:rPr lang="en-US" altLang="zh-CN" sz="1400" dirty="0">
                  <a:solidFill>
                    <a:schemeClr val="dk1"/>
                  </a:solidFill>
                  <a:latin typeface="+mj-ea"/>
                  <a:ea typeface="+mj-ea"/>
                  <a:cs typeface="微软雅黑" panose="020B0503020204020204" pitchFamily="34" charset="-122"/>
                  <a:sym typeface="+mn-ea"/>
                </a:rPr>
                <a:t>FOF</a:t>
              </a:r>
              <a:r>
                <a:rPr lang="zh-CN" altLang="en-US" sz="1400" dirty="0">
                  <a:solidFill>
                    <a:schemeClr val="dk1"/>
                  </a:solidFill>
                  <a:latin typeface="+mj-ea"/>
                  <a:ea typeface="+mj-ea"/>
                  <a:cs typeface="微软雅黑" panose="020B0503020204020204" pitchFamily="34" charset="-122"/>
                  <a:sym typeface="+mn-ea"/>
                </a:rPr>
                <a:t>投资总监同时担任公司投委会、股票投委会、固定收益投委会委员，</a:t>
              </a:r>
              <a:r>
                <a:rPr lang="zh-CN" altLang="en-US" sz="1400" b="1" dirty="0">
                  <a:solidFill>
                    <a:schemeClr val="dk1"/>
                  </a:solidFill>
                  <a:latin typeface="+mj-ea"/>
                  <a:ea typeface="+mj-ea"/>
                  <a:cs typeface="微软雅黑" panose="020B0503020204020204" pitchFamily="34" charset="-122"/>
                  <a:sym typeface="+mn-ea"/>
                </a:rPr>
                <a:t>能够充分统筹和借力公司的整体投研实力；</a:t>
              </a:r>
              <a:endParaRPr lang="zh-CN" altLang="en-US" sz="1400" dirty="0">
                <a:solidFill>
                  <a:schemeClr val="dk1"/>
                </a:solidFill>
                <a:latin typeface="+mj-ea"/>
                <a:ea typeface="+mj-ea"/>
                <a:cs typeface="微软雅黑" panose="020B0503020204020204" pitchFamily="34" charset="-122"/>
                <a:sym typeface="+mn-ea"/>
              </a:endParaRPr>
            </a:p>
            <a:p>
              <a:pPr indent="0" algn="just" fontAlgn="auto">
                <a:lnSpc>
                  <a:spcPct val="150000"/>
                </a:lnSpc>
              </a:pPr>
              <a:endParaRPr lang="zh-CN" altLang="en-US" sz="1400" dirty="0"/>
            </a:p>
          </p:txBody>
        </p:sp>
        <p:sp>
          <p:nvSpPr>
            <p:cNvPr id="33" name="文本框 32"/>
            <p:cNvSpPr txBox="1"/>
            <p:nvPr/>
          </p:nvSpPr>
          <p:spPr>
            <a:xfrm>
              <a:off x="537" y="5230"/>
              <a:ext cx="4198" cy="580"/>
            </a:xfrm>
            <a:prstGeom prst="rect">
              <a:avLst/>
            </a:prstGeom>
            <a:noFill/>
          </p:spPr>
          <p:txBody>
            <a:bodyPr wrap="square" rtlCol="0">
              <a:spAutoFit/>
            </a:bodyPr>
            <a:lstStyle/>
            <a:p>
              <a:pPr algn="ct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投研支撑</a:t>
              </a:r>
              <a:r>
                <a:rPr lang="en-US" altLang="zh-CN"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资源统筹</a:t>
              </a:r>
            </a:p>
          </p:txBody>
        </p:sp>
      </p:grpSp>
      <p:grpSp>
        <p:nvGrpSpPr>
          <p:cNvPr id="34" name="组合 33"/>
          <p:cNvGrpSpPr/>
          <p:nvPr/>
        </p:nvGrpSpPr>
        <p:grpSpPr>
          <a:xfrm>
            <a:off x="4436556" y="3556241"/>
            <a:ext cx="3020786" cy="3092450"/>
            <a:chOff x="503" y="5382"/>
            <a:chExt cx="4262" cy="4870"/>
          </a:xfrm>
        </p:grpSpPr>
        <p:sp>
          <p:nvSpPr>
            <p:cNvPr id="35" name="圆角矩形 34"/>
            <p:cNvSpPr/>
            <p:nvPr/>
          </p:nvSpPr>
          <p:spPr>
            <a:xfrm>
              <a:off x="503" y="5382"/>
              <a:ext cx="4230" cy="4870"/>
            </a:xfrm>
            <a:prstGeom prst="roundRect">
              <a:avLst>
                <a:gd name="adj" fmla="val 9689"/>
              </a:avLst>
            </a:prstGeom>
            <a:gradFill>
              <a:gsLst>
                <a:gs pos="0">
                  <a:srgbClr val="FAFAFA"/>
                </a:gs>
                <a:gs pos="100000">
                  <a:schemeClr val="bg1"/>
                </a:gs>
              </a:gsLst>
              <a:lin ang="5400000" scaled="0"/>
            </a:gradFill>
            <a:ln>
              <a:solidFill>
                <a:schemeClr val="bg1"/>
              </a:solidFill>
            </a:ln>
            <a:effectLst>
              <a:outerShdw blurRad="381000" dist="63500" dir="5400000" algn="t"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文本框 35"/>
            <p:cNvSpPr txBox="1"/>
            <p:nvPr/>
          </p:nvSpPr>
          <p:spPr>
            <a:xfrm>
              <a:off x="733" y="6177"/>
              <a:ext cx="4021" cy="3518"/>
            </a:xfrm>
            <a:prstGeom prst="rect">
              <a:avLst/>
            </a:prstGeom>
            <a:noFill/>
          </p:spPr>
          <p:txBody>
            <a:bodyPr wrap="square" rtlCol="0">
              <a:noAutofit/>
            </a:bodyPr>
            <a:lstStyle/>
            <a:p>
              <a:pPr indent="0" algn="just" fontAlgn="auto">
                <a:lnSpc>
                  <a:spcPct val="150000"/>
                </a:lnSpc>
              </a:pPr>
              <a:r>
                <a:rPr lang="zh-CN" altLang="en-US" sz="1400" dirty="0">
                  <a:solidFill>
                    <a:schemeClr val="dk1"/>
                  </a:solidFill>
                  <a:latin typeface="+mj-ea"/>
                  <a:ea typeface="+mj-ea"/>
                  <a:cs typeface="微软雅黑" panose="020B0503020204020204" pitchFamily="34" charset="-122"/>
                  <a:sym typeface="+mn-ea"/>
                </a:rPr>
                <a:t>强调</a:t>
              </a:r>
              <a:r>
                <a:rPr lang="zh-CN" altLang="en-US" sz="1400" b="1" dirty="0">
                  <a:solidFill>
                    <a:schemeClr val="dk1"/>
                  </a:solidFill>
                  <a:latin typeface="+mj-ea"/>
                  <a:ea typeface="+mj-ea"/>
                  <a:cs typeface="微软雅黑" panose="020B0503020204020204" pitchFamily="34" charset="-122"/>
                  <a:sym typeface="+mn-ea"/>
                </a:rPr>
                <a:t>内部投研成果和策略的共享</a:t>
              </a:r>
              <a:r>
                <a:rPr lang="zh-CN" altLang="en-US" sz="1400" dirty="0">
                  <a:solidFill>
                    <a:schemeClr val="dk1"/>
                  </a:solidFill>
                  <a:latin typeface="+mj-ea"/>
                  <a:ea typeface="+mj-ea"/>
                  <a:cs typeface="微软雅黑" panose="020B0503020204020204" pitchFamily="34" charset="-122"/>
                  <a:sym typeface="+mn-ea"/>
                </a:rPr>
                <a:t>，</a:t>
              </a:r>
              <a:r>
                <a:rPr lang="zh-CN" altLang="en-US" sz="1400" dirty="0">
                  <a:latin typeface="+mj-ea"/>
                  <a:ea typeface="+mj-ea"/>
                  <a:sym typeface="+mn-ea"/>
                </a:rPr>
                <a:t>将公司年金投资团队和“固收+”投资团队在跨地域、跨类别、跨周期的资产配置中所积累的成熟的系统化、体系化投研方法，逐步在FOF中落地应用</a:t>
              </a:r>
              <a:r>
                <a:rPr lang="zh-CN" altLang="en-US" sz="1400" dirty="0">
                  <a:solidFill>
                    <a:prstClr val="black"/>
                  </a:solidFill>
                  <a:latin typeface="+mj-ea"/>
                  <a:ea typeface="+mj-ea"/>
                  <a:cs typeface="微软雅黑" panose="020B0503020204020204" pitchFamily="34" charset="-122"/>
                  <a:sym typeface="+mn-lt"/>
                </a:rPr>
                <a:t>，提升高胜率投资决策的业绩转化效果</a:t>
              </a:r>
              <a:r>
                <a:rPr lang="zh-CN" altLang="en-US" sz="1400" dirty="0">
                  <a:solidFill>
                    <a:schemeClr val="dk1"/>
                  </a:solidFill>
                  <a:latin typeface="+mj-ea"/>
                  <a:ea typeface="+mj-ea"/>
                  <a:cs typeface="微软雅黑" panose="020B0503020204020204" pitchFamily="34" charset="-122"/>
                  <a:sym typeface="+mn-ea"/>
                </a:rPr>
                <a:t>；</a:t>
              </a:r>
              <a:endParaRPr lang="en-US" altLang="zh-CN" sz="1400" dirty="0">
                <a:solidFill>
                  <a:srgbClr val="C00000"/>
                </a:solidFill>
                <a:latin typeface="+mj-ea"/>
                <a:ea typeface="+mj-ea"/>
                <a:cs typeface="微软雅黑" panose="020B0503020204020204" pitchFamily="34" charset="-122"/>
                <a:sym typeface="+mn-ea"/>
              </a:endParaRPr>
            </a:p>
            <a:p>
              <a:pPr indent="0" algn="just" fontAlgn="auto">
                <a:lnSpc>
                  <a:spcPct val="150000"/>
                </a:lnSpc>
              </a:pPr>
              <a:endParaRPr lang="zh-CN" altLang="en-US" sz="1400" dirty="0"/>
            </a:p>
          </p:txBody>
        </p:sp>
        <p:sp>
          <p:nvSpPr>
            <p:cNvPr id="37" name="文本框 36"/>
            <p:cNvSpPr txBox="1"/>
            <p:nvPr/>
          </p:nvSpPr>
          <p:spPr>
            <a:xfrm>
              <a:off x="567" y="5490"/>
              <a:ext cx="4198" cy="580"/>
            </a:xfrm>
            <a:prstGeom prst="rect">
              <a:avLst/>
            </a:prstGeom>
            <a:noFill/>
          </p:spPr>
          <p:txBody>
            <a:bodyPr wrap="square" rtlCol="0">
              <a:spAutoFit/>
            </a:bodyPr>
            <a:lstStyle/>
            <a:p>
              <a:pPr algn="ct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rPr>
                <a:t>资源共享</a:t>
              </a:r>
              <a:r>
                <a:rPr lang="en-US" altLang="zh-CN"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rPr>
                <a:t>赋能投资</a:t>
              </a:r>
            </a:p>
          </p:txBody>
        </p:sp>
      </p:grpSp>
      <p:grpSp>
        <p:nvGrpSpPr>
          <p:cNvPr id="38" name="组合 37"/>
          <p:cNvGrpSpPr/>
          <p:nvPr/>
        </p:nvGrpSpPr>
        <p:grpSpPr>
          <a:xfrm>
            <a:off x="8311327" y="3592436"/>
            <a:ext cx="2715260" cy="3093085"/>
            <a:chOff x="503" y="5381"/>
            <a:chExt cx="4276" cy="4871"/>
          </a:xfrm>
        </p:grpSpPr>
        <p:sp>
          <p:nvSpPr>
            <p:cNvPr id="39" name="圆角矩形 38"/>
            <p:cNvSpPr/>
            <p:nvPr/>
          </p:nvSpPr>
          <p:spPr>
            <a:xfrm>
              <a:off x="503" y="5382"/>
              <a:ext cx="4230" cy="4870"/>
            </a:xfrm>
            <a:prstGeom prst="roundRect">
              <a:avLst>
                <a:gd name="adj" fmla="val 9689"/>
              </a:avLst>
            </a:prstGeom>
            <a:gradFill>
              <a:gsLst>
                <a:gs pos="0">
                  <a:srgbClr val="FAFAFA"/>
                </a:gs>
                <a:gs pos="100000">
                  <a:schemeClr val="bg1"/>
                </a:gs>
              </a:gsLst>
              <a:lin ang="5400000" scaled="0"/>
            </a:gradFill>
            <a:ln>
              <a:solidFill>
                <a:schemeClr val="bg1"/>
              </a:solidFill>
            </a:ln>
            <a:effectLst>
              <a:outerShdw blurRad="381000" dist="63500" dir="5400000" algn="t"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文本框 39"/>
            <p:cNvSpPr txBox="1"/>
            <p:nvPr/>
          </p:nvSpPr>
          <p:spPr>
            <a:xfrm>
              <a:off x="628" y="6217"/>
              <a:ext cx="3962" cy="3708"/>
            </a:xfrm>
            <a:prstGeom prst="rect">
              <a:avLst/>
            </a:prstGeom>
            <a:noFill/>
          </p:spPr>
          <p:txBody>
            <a:bodyPr wrap="square" rtlCol="0">
              <a:spAutoFit/>
            </a:bodyPr>
            <a:lstStyle/>
            <a:p>
              <a:pPr marL="0" lvl="1" indent="0" algn="just" fontAlgn="auto">
                <a:lnSpc>
                  <a:spcPct val="150000"/>
                </a:lnSpc>
              </a:pPr>
              <a:r>
                <a:rPr lang="zh-CN" altLang="en-US" sz="1400" b="1" dirty="0">
                  <a:solidFill>
                    <a:schemeClr val="dk1"/>
                  </a:solidFill>
                  <a:latin typeface="+mj-ea"/>
                  <a:ea typeface="+mj-ea"/>
                  <a:cs typeface="微软雅黑" panose="020B0503020204020204" pitchFamily="34" charset="-122"/>
                  <a:sym typeface="+mn-ea"/>
                </a:rPr>
                <a:t>将银华的投研优势与养老金投资管理方法有机结合</a:t>
              </a:r>
              <a:r>
                <a:rPr lang="zh-CN" altLang="en-US" sz="1400" dirty="0">
                  <a:solidFill>
                    <a:schemeClr val="dk1"/>
                  </a:solidFill>
                  <a:latin typeface="+mj-ea"/>
                  <a:ea typeface="+mj-ea"/>
                  <a:cs typeface="微软雅黑" panose="020B0503020204020204" pitchFamily="34" charset="-122"/>
                  <a:sym typeface="+mn-ea"/>
                </a:rPr>
                <a:t>，</a:t>
              </a:r>
              <a:r>
                <a:rPr lang="zh-CN" altLang="en-US" sz="1400" dirty="0">
                  <a:latin typeface="+mj-ea"/>
                  <a:ea typeface="+mj-ea"/>
                  <a:sym typeface="+mn-ea"/>
                </a:rPr>
                <a:t>既借力公募擅长的投资锐度，又充分结合公司在养老金管理上长期积累的回撤控制经验、资产配置实践、管理方法和投资纪律</a:t>
              </a:r>
              <a:r>
                <a:rPr lang="zh-CN" altLang="en-US" sz="1400" dirty="0">
                  <a:sym typeface="+mn-ea"/>
                </a:rPr>
                <a:t>。</a:t>
              </a:r>
              <a:endParaRPr lang="en-US" altLang="zh-CN" sz="1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lvl="1" indent="0" algn="just" fontAlgn="auto">
                <a:lnSpc>
                  <a:spcPct val="150000"/>
                </a:lnSpc>
              </a:pPr>
              <a:endParaRPr lang="zh-CN" altLang="en-US" sz="1400" dirty="0"/>
            </a:p>
          </p:txBody>
        </p:sp>
        <p:sp>
          <p:nvSpPr>
            <p:cNvPr id="41" name="文本框 40"/>
            <p:cNvSpPr txBox="1"/>
            <p:nvPr/>
          </p:nvSpPr>
          <p:spPr>
            <a:xfrm>
              <a:off x="581" y="5381"/>
              <a:ext cx="4198" cy="580"/>
            </a:xfrm>
            <a:prstGeom prst="rect">
              <a:avLst/>
            </a:prstGeom>
            <a:noFill/>
          </p:spPr>
          <p:txBody>
            <a:bodyPr wrap="square" rtlCol="0">
              <a:spAutoFit/>
            </a:bodyPr>
            <a:lstStyle/>
            <a:p>
              <a:pPr marL="0" lvl="1" indent="0" algn="ctr" fontAlgn="t">
                <a:lnSpc>
                  <a:spcPct val="100000"/>
                </a:lnSpc>
                <a:spcBef>
                  <a:spcPts val="600"/>
                </a:spcBef>
                <a:spcAft>
                  <a:spcPts val="600"/>
                </a:spcAft>
                <a:buClr>
                  <a:srgbClr val="C00000"/>
                </a:buClr>
                <a:buFont typeface="Wingdings" panose="05000000000000000000" pitchFamily="2" charset="2"/>
                <a:buNone/>
              </a:pP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严控回撤</a:t>
              </a:r>
              <a:r>
                <a:rPr lang="en-US" altLang="zh-CN"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力争长远</a:t>
              </a:r>
            </a:p>
          </p:txBody>
        </p:sp>
      </p:grpSp>
      <p:sp>
        <p:nvSpPr>
          <p:cNvPr id="42" name="文本框 41"/>
          <p:cNvSpPr txBox="1"/>
          <p:nvPr/>
        </p:nvSpPr>
        <p:spPr>
          <a:xfrm>
            <a:off x="782767" y="2980338"/>
            <a:ext cx="11400790" cy="398780"/>
          </a:xfrm>
          <a:prstGeom prst="rect">
            <a:avLst/>
          </a:prstGeom>
          <a:noFill/>
        </p:spPr>
        <p:txBody>
          <a:bodyPr wrap="square" rtlCol="0">
            <a:spAutoFit/>
          </a:bodyPr>
          <a:lstStyle/>
          <a:p>
            <a:pPr marL="285750" indent="-285750" algn="just" defTabSz="914400">
              <a:lnSpc>
                <a:spcPct val="125000"/>
              </a:lnSpc>
              <a:spcAft>
                <a:spcPts val="600"/>
              </a:spcAft>
              <a:buClr>
                <a:srgbClr val="C00000"/>
              </a:buClr>
              <a:buSzTx/>
              <a:buFont typeface="Wingdings" panose="05000000000000000000" pitchFamily="2" charset="2"/>
              <a:buChar char="p"/>
              <a:tabLst>
                <a:tab pos="903605" algn="l"/>
              </a:tabLst>
            </a:pPr>
            <a:r>
              <a:rPr lang="zh-CN" altLang="en-US" sz="1600" dirty="0">
                <a:latin typeface="+mj-ea"/>
                <a:ea typeface="+mj-ea"/>
              </a:rPr>
              <a:t>FOF投资团队依托公司的投研生态和整体投研实力，通过日常观点分享及沟通交流，更好地赋能FOF产品管理。</a:t>
            </a:r>
          </a:p>
        </p:txBody>
      </p:sp>
      <p:sp>
        <p:nvSpPr>
          <p:cNvPr id="3" name="文本框 2"/>
          <p:cNvSpPr txBox="1"/>
          <p:nvPr/>
        </p:nvSpPr>
        <p:spPr>
          <a:xfrm>
            <a:off x="215653" y="6627591"/>
            <a:ext cx="2543706" cy="253916"/>
          </a:xfrm>
          <a:prstGeom prst="rect">
            <a:avLst/>
          </a:prstGeom>
          <a:noFill/>
        </p:spPr>
        <p:txBody>
          <a:bodyPr wrap="square" rtlCol="0">
            <a:spAutoFit/>
          </a:bodyPr>
          <a:lstStyle/>
          <a:p>
            <a:r>
              <a:rPr lang="zh-CN" altLang="en-US" sz="1050" dirty="0">
                <a:latin typeface="+mj-ea"/>
                <a:ea typeface="+mj-ea"/>
              </a:rPr>
              <a:t>资料来源：银华基金</a:t>
            </a:r>
          </a:p>
        </p:txBody>
      </p:sp>
      <p:sp>
        <p:nvSpPr>
          <p:cNvPr id="4" name="文本框 3"/>
          <p:cNvSpPr txBox="1"/>
          <p:nvPr/>
        </p:nvSpPr>
        <p:spPr>
          <a:xfrm>
            <a:off x="5337359" y="662262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pPr>
              <a:lnSpc>
                <a:spcPct val="150000"/>
              </a:lnSpc>
            </a:pPr>
            <a:r>
              <a:rPr lang="zh-CN" altLang="en-US" sz="2800" b="1" dirty="0">
                <a:solidFill>
                  <a:schemeClr val="bg1"/>
                </a:solidFill>
                <a:latin typeface="微软雅黑" panose="020B0503020204020204" pitchFamily="34" charset="-122"/>
                <a:ea typeface="微软雅黑" panose="020B0503020204020204" pitchFamily="34" charset="-122"/>
                <a:sym typeface="+mn-ea"/>
              </a:rPr>
              <a:t>投资体系</a:t>
            </a:r>
          </a:p>
        </p:txBody>
      </p:sp>
      <p:sp>
        <p:nvSpPr>
          <p:cNvPr id="8" name="文本框 7"/>
          <p:cNvSpPr txBox="1"/>
          <p:nvPr/>
        </p:nvSpPr>
        <p:spPr>
          <a:xfrm>
            <a:off x="231775" y="2459990"/>
            <a:ext cx="2075180" cy="1938020"/>
          </a:xfrm>
          <a:prstGeom prst="rect">
            <a:avLst/>
          </a:prstGeom>
          <a:noFill/>
        </p:spPr>
        <p:txBody>
          <a:bodyPr wrap="square" rtlCol="0">
            <a:spAutoFit/>
          </a:bodyPr>
          <a:lstStyle/>
          <a:p>
            <a:pPr algn="r"/>
            <a:r>
              <a:rPr lang="en-US" altLang="zh-CN" sz="12000" b="1" dirty="0">
                <a:solidFill>
                  <a:schemeClr val="bg1"/>
                </a:solidFill>
                <a:latin typeface="Arial" panose="020B0604020202020204" pitchFamily="34" charset="0"/>
              </a:rPr>
              <a:t>02</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par>
                          <p:cTn id="18" fill="hold">
                            <p:stCondLst>
                              <p:cond delay="1500"/>
                            </p:stCondLst>
                            <p:childTnLst>
                              <p:par>
                                <p:cTn id="19" presetID="29"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2"/>
                                          </p:val>
                                        </p:tav>
                                        <p:tav tm="100000">
                                          <p:val>
                                            <p:strVal val="#ppt_x"/>
                                          </p:val>
                                        </p:tav>
                                      </p:tavLst>
                                    </p:anim>
                                    <p:anim calcmode="lin" valueType="num">
                                      <p:cBhvr>
                                        <p:cTn id="22" dur="5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23" dur="500"/>
                                        <p:tgtEl>
                                          <p:spTgt spid="6"/>
                                        </p:tgtEl>
                                      </p:cBhvr>
                                    </p:animEffect>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ppt_x</p:attrName>
                                        </p:attrNameLst>
                                      </p:cBhvr>
                                      <p:tavLst>
                                        <p:tav tm="0">
                                          <p:val>
                                            <p:strVal val="#ppt_x"/>
                                          </p:val>
                                        </p:tav>
                                        <p:tav tm="100000">
                                          <p:val>
                                            <p:strVal val="#ppt_x"/>
                                          </p:val>
                                        </p:tav>
                                      </p:tavLst>
                                    </p:anim>
                                    <p:anim calcmode="lin" valueType="num">
                                      <p:cBhvr>
                                        <p:cTn id="29" dur="500" fill="hold"/>
                                        <p:tgtEl>
                                          <p:spTgt spid="2"/>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067300" y="2735199"/>
            <a:ext cx="506095" cy="435610"/>
            <a:chOff x="3787022" y="1797643"/>
            <a:chExt cx="550817" cy="473832"/>
          </a:xfrm>
          <a:solidFill>
            <a:schemeClr val="bg1"/>
          </a:solidFill>
        </p:grpSpPr>
        <p:sp>
          <p:nvSpPr>
            <p:cNvPr id="12" name="Oval 217"/>
            <p:cNvSpPr>
              <a:spLocks noChangeArrowheads="1"/>
            </p:cNvSpPr>
            <p:nvPr/>
          </p:nvSpPr>
          <p:spPr bwMode="auto">
            <a:xfrm>
              <a:off x="4007132" y="1931010"/>
              <a:ext cx="108428" cy="13553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3"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4"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5"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6"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7"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8"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9"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0"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grpSp>
      <p:grpSp>
        <p:nvGrpSpPr>
          <p:cNvPr id="21" name="组合 20"/>
          <p:cNvGrpSpPr/>
          <p:nvPr/>
        </p:nvGrpSpPr>
        <p:grpSpPr>
          <a:xfrm>
            <a:off x="6682740" y="3699764"/>
            <a:ext cx="492125" cy="319405"/>
            <a:chOff x="7058307" y="1859447"/>
            <a:chExt cx="535637" cy="348055"/>
          </a:xfrm>
          <a:solidFill>
            <a:schemeClr val="bg1"/>
          </a:solidFill>
        </p:grpSpPr>
        <p:sp>
          <p:nvSpPr>
            <p:cNvPr id="22" name="Rectangle 240"/>
            <p:cNvSpPr>
              <a:spLocks noChangeArrowheads="1"/>
            </p:cNvSpPr>
            <p:nvPr/>
          </p:nvSpPr>
          <p:spPr bwMode="auto">
            <a:xfrm>
              <a:off x="7112521" y="1997151"/>
              <a:ext cx="127945" cy="108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3" name="Rectangle 241"/>
            <p:cNvSpPr>
              <a:spLocks noChangeArrowheads="1"/>
            </p:cNvSpPr>
            <p:nvPr/>
          </p:nvSpPr>
          <p:spPr bwMode="auto">
            <a:xfrm>
              <a:off x="7112521" y="2038354"/>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4" name="Rectangle 242"/>
            <p:cNvSpPr>
              <a:spLocks noChangeArrowheads="1"/>
            </p:cNvSpPr>
            <p:nvPr/>
          </p:nvSpPr>
          <p:spPr bwMode="auto">
            <a:xfrm>
              <a:off x="7112521" y="2079556"/>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5" name="Rectangle 243"/>
            <p:cNvSpPr>
              <a:spLocks noChangeArrowheads="1"/>
            </p:cNvSpPr>
            <p:nvPr/>
          </p:nvSpPr>
          <p:spPr bwMode="auto">
            <a:xfrm>
              <a:off x="7112521" y="2120759"/>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6" name="Freeform 244"/>
            <p:cNvSpPr/>
            <p:nvPr/>
          </p:nvSpPr>
          <p:spPr bwMode="auto">
            <a:xfrm>
              <a:off x="7428047" y="2038354"/>
              <a:ext cx="24939" cy="71563"/>
            </a:xfrm>
            <a:custGeom>
              <a:avLst/>
              <a:gdLst>
                <a:gd name="T0" fmla="*/ 4 w 10"/>
                <a:gd name="T1" fmla="*/ 28 h 28"/>
                <a:gd name="T2" fmla="*/ 10 w 10"/>
                <a:gd name="T3" fmla="*/ 25 h 28"/>
                <a:gd name="T4" fmla="*/ 10 w 10"/>
                <a:gd name="T5" fmla="*/ 3 h 28"/>
                <a:gd name="T6" fmla="*/ 1 w 10"/>
                <a:gd name="T7" fmla="*/ 0 h 28"/>
                <a:gd name="T8" fmla="*/ 0 w 10"/>
                <a:gd name="T9" fmla="*/ 0 h 28"/>
                <a:gd name="T10" fmla="*/ 0 w 10"/>
                <a:gd name="T11" fmla="*/ 28 h 28"/>
                <a:gd name="T12" fmla="*/ 1 w 10"/>
                <a:gd name="T13" fmla="*/ 28 h 28"/>
                <a:gd name="T14" fmla="*/ 4 w 10"/>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8">
                  <a:moveTo>
                    <a:pt x="4" y="28"/>
                  </a:moveTo>
                  <a:cubicBezTo>
                    <a:pt x="6" y="27"/>
                    <a:pt x="8" y="26"/>
                    <a:pt x="10" y="25"/>
                  </a:cubicBezTo>
                  <a:cubicBezTo>
                    <a:pt x="10" y="3"/>
                    <a:pt x="10" y="3"/>
                    <a:pt x="10" y="3"/>
                  </a:cubicBezTo>
                  <a:cubicBezTo>
                    <a:pt x="7" y="1"/>
                    <a:pt x="4" y="0"/>
                    <a:pt x="1" y="0"/>
                  </a:cubicBezTo>
                  <a:cubicBezTo>
                    <a:pt x="0" y="0"/>
                    <a:pt x="0" y="0"/>
                    <a:pt x="0" y="0"/>
                  </a:cubicBezTo>
                  <a:cubicBezTo>
                    <a:pt x="0" y="28"/>
                    <a:pt x="0" y="28"/>
                    <a:pt x="0" y="28"/>
                  </a:cubicBezTo>
                  <a:cubicBezTo>
                    <a:pt x="0" y="28"/>
                    <a:pt x="0" y="28"/>
                    <a:pt x="1" y="28"/>
                  </a:cubicBezTo>
                  <a:cubicBezTo>
                    <a:pt x="2" y="28"/>
                    <a:pt x="3" y="28"/>
                    <a:pt x="4"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7" name="Freeform 245"/>
            <p:cNvSpPr>
              <a:spLocks noEditPoints="1"/>
            </p:cNvSpPr>
            <p:nvPr/>
          </p:nvSpPr>
          <p:spPr bwMode="auto">
            <a:xfrm>
              <a:off x="7058307" y="1859447"/>
              <a:ext cx="394679" cy="348055"/>
            </a:xfrm>
            <a:custGeom>
              <a:avLst/>
              <a:gdLst>
                <a:gd name="T0" fmla="*/ 145 w 154"/>
                <a:gd name="T1" fmla="*/ 125 h 136"/>
                <a:gd name="T2" fmla="*/ 144 w 154"/>
                <a:gd name="T3" fmla="*/ 125 h 136"/>
                <a:gd name="T4" fmla="*/ 144 w 154"/>
                <a:gd name="T5" fmla="*/ 127 h 136"/>
                <a:gd name="T6" fmla="*/ 10 w 154"/>
                <a:gd name="T7" fmla="*/ 127 h 136"/>
                <a:gd name="T8" fmla="*/ 10 w 154"/>
                <a:gd name="T9" fmla="*/ 34 h 136"/>
                <a:gd name="T10" fmla="*/ 144 w 154"/>
                <a:gd name="T11" fmla="*/ 34 h 136"/>
                <a:gd name="T12" fmla="*/ 144 w 154"/>
                <a:gd name="T13" fmla="*/ 43 h 136"/>
                <a:gd name="T14" fmla="*/ 145 w 154"/>
                <a:gd name="T15" fmla="*/ 43 h 136"/>
                <a:gd name="T16" fmla="*/ 154 w 154"/>
                <a:gd name="T17" fmla="*/ 44 h 136"/>
                <a:gd name="T18" fmla="*/ 154 w 154"/>
                <a:gd name="T19" fmla="*/ 5 h 136"/>
                <a:gd name="T20" fmla="*/ 149 w 154"/>
                <a:gd name="T21" fmla="*/ 0 h 136"/>
                <a:gd name="T22" fmla="*/ 5 w 154"/>
                <a:gd name="T23" fmla="*/ 0 h 136"/>
                <a:gd name="T24" fmla="*/ 0 w 154"/>
                <a:gd name="T25" fmla="*/ 5 h 136"/>
                <a:gd name="T26" fmla="*/ 0 w 154"/>
                <a:gd name="T27" fmla="*/ 132 h 136"/>
                <a:gd name="T28" fmla="*/ 5 w 154"/>
                <a:gd name="T29" fmla="*/ 136 h 136"/>
                <a:gd name="T30" fmla="*/ 149 w 154"/>
                <a:gd name="T31" fmla="*/ 136 h 136"/>
                <a:gd name="T32" fmla="*/ 154 w 154"/>
                <a:gd name="T33" fmla="*/ 132 h 136"/>
                <a:gd name="T34" fmla="*/ 154 w 154"/>
                <a:gd name="T35" fmla="*/ 124 h 136"/>
                <a:gd name="T36" fmla="*/ 145 w 154"/>
                <a:gd name="T37" fmla="*/ 125 h 136"/>
                <a:gd name="T38" fmla="*/ 137 w 154"/>
                <a:gd name="T39" fmla="*/ 10 h 136"/>
                <a:gd name="T40" fmla="*/ 144 w 154"/>
                <a:gd name="T41" fmla="*/ 17 h 136"/>
                <a:gd name="T42" fmla="*/ 137 w 154"/>
                <a:gd name="T43" fmla="*/ 23 h 136"/>
                <a:gd name="T44" fmla="*/ 131 w 154"/>
                <a:gd name="T45" fmla="*/ 17 h 136"/>
                <a:gd name="T46" fmla="*/ 137 w 154"/>
                <a:gd name="T47" fmla="*/ 10 h 136"/>
                <a:gd name="T48" fmla="*/ 118 w 154"/>
                <a:gd name="T49" fmla="*/ 10 h 136"/>
                <a:gd name="T50" fmla="*/ 125 w 154"/>
                <a:gd name="T51" fmla="*/ 17 h 136"/>
                <a:gd name="T52" fmla="*/ 118 w 154"/>
                <a:gd name="T53" fmla="*/ 23 h 136"/>
                <a:gd name="T54" fmla="*/ 112 w 154"/>
                <a:gd name="T55" fmla="*/ 17 h 136"/>
                <a:gd name="T56" fmla="*/ 118 w 154"/>
                <a:gd name="T57" fmla="*/ 10 h 136"/>
                <a:gd name="T58" fmla="*/ 99 w 154"/>
                <a:gd name="T59" fmla="*/ 10 h 136"/>
                <a:gd name="T60" fmla="*/ 106 w 154"/>
                <a:gd name="T61" fmla="*/ 17 h 136"/>
                <a:gd name="T62" fmla="*/ 99 w 154"/>
                <a:gd name="T63" fmla="*/ 23 h 136"/>
                <a:gd name="T64" fmla="*/ 93 w 154"/>
                <a:gd name="T65" fmla="*/ 17 h 136"/>
                <a:gd name="T66" fmla="*/ 99 w 154"/>
                <a:gd name="T67" fmla="*/ 1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4" h="136">
                  <a:moveTo>
                    <a:pt x="145" y="125"/>
                  </a:moveTo>
                  <a:cubicBezTo>
                    <a:pt x="144" y="125"/>
                    <a:pt x="144" y="125"/>
                    <a:pt x="144" y="125"/>
                  </a:cubicBezTo>
                  <a:cubicBezTo>
                    <a:pt x="144" y="127"/>
                    <a:pt x="144" y="127"/>
                    <a:pt x="144" y="127"/>
                  </a:cubicBezTo>
                  <a:cubicBezTo>
                    <a:pt x="10" y="127"/>
                    <a:pt x="10" y="127"/>
                    <a:pt x="10" y="127"/>
                  </a:cubicBezTo>
                  <a:cubicBezTo>
                    <a:pt x="10" y="34"/>
                    <a:pt x="10" y="34"/>
                    <a:pt x="10" y="34"/>
                  </a:cubicBezTo>
                  <a:cubicBezTo>
                    <a:pt x="144" y="34"/>
                    <a:pt x="144" y="34"/>
                    <a:pt x="144" y="34"/>
                  </a:cubicBezTo>
                  <a:cubicBezTo>
                    <a:pt x="144" y="43"/>
                    <a:pt x="144" y="43"/>
                    <a:pt x="144" y="43"/>
                  </a:cubicBezTo>
                  <a:cubicBezTo>
                    <a:pt x="144" y="43"/>
                    <a:pt x="144" y="43"/>
                    <a:pt x="145" y="43"/>
                  </a:cubicBezTo>
                  <a:cubicBezTo>
                    <a:pt x="148" y="43"/>
                    <a:pt x="151" y="43"/>
                    <a:pt x="154" y="44"/>
                  </a:cubicBezTo>
                  <a:cubicBezTo>
                    <a:pt x="154" y="5"/>
                    <a:pt x="154" y="5"/>
                    <a:pt x="154" y="5"/>
                  </a:cubicBezTo>
                  <a:cubicBezTo>
                    <a:pt x="154" y="2"/>
                    <a:pt x="152" y="0"/>
                    <a:pt x="149" y="0"/>
                  </a:cubicBezTo>
                  <a:cubicBezTo>
                    <a:pt x="5" y="0"/>
                    <a:pt x="5" y="0"/>
                    <a:pt x="5" y="0"/>
                  </a:cubicBezTo>
                  <a:cubicBezTo>
                    <a:pt x="2" y="0"/>
                    <a:pt x="0" y="2"/>
                    <a:pt x="0" y="5"/>
                  </a:cubicBezTo>
                  <a:cubicBezTo>
                    <a:pt x="0" y="132"/>
                    <a:pt x="0" y="132"/>
                    <a:pt x="0" y="132"/>
                  </a:cubicBezTo>
                  <a:cubicBezTo>
                    <a:pt x="0" y="134"/>
                    <a:pt x="2" y="136"/>
                    <a:pt x="5" y="136"/>
                  </a:cubicBezTo>
                  <a:cubicBezTo>
                    <a:pt x="149" y="136"/>
                    <a:pt x="149" y="136"/>
                    <a:pt x="149" y="136"/>
                  </a:cubicBezTo>
                  <a:cubicBezTo>
                    <a:pt x="152" y="136"/>
                    <a:pt x="154" y="134"/>
                    <a:pt x="154" y="132"/>
                  </a:cubicBezTo>
                  <a:cubicBezTo>
                    <a:pt x="154" y="124"/>
                    <a:pt x="154" y="124"/>
                    <a:pt x="154" y="124"/>
                  </a:cubicBezTo>
                  <a:cubicBezTo>
                    <a:pt x="151" y="124"/>
                    <a:pt x="148" y="125"/>
                    <a:pt x="145" y="125"/>
                  </a:cubicBezTo>
                  <a:close/>
                  <a:moveTo>
                    <a:pt x="137" y="10"/>
                  </a:moveTo>
                  <a:cubicBezTo>
                    <a:pt x="141" y="10"/>
                    <a:pt x="144" y="13"/>
                    <a:pt x="144" y="17"/>
                  </a:cubicBezTo>
                  <a:cubicBezTo>
                    <a:pt x="144" y="20"/>
                    <a:pt x="141" y="23"/>
                    <a:pt x="137" y="23"/>
                  </a:cubicBezTo>
                  <a:cubicBezTo>
                    <a:pt x="134" y="23"/>
                    <a:pt x="131" y="20"/>
                    <a:pt x="131" y="17"/>
                  </a:cubicBezTo>
                  <a:cubicBezTo>
                    <a:pt x="131" y="13"/>
                    <a:pt x="134" y="10"/>
                    <a:pt x="137" y="10"/>
                  </a:cubicBezTo>
                  <a:close/>
                  <a:moveTo>
                    <a:pt x="118" y="10"/>
                  </a:moveTo>
                  <a:cubicBezTo>
                    <a:pt x="122" y="10"/>
                    <a:pt x="125" y="13"/>
                    <a:pt x="125" y="17"/>
                  </a:cubicBezTo>
                  <a:cubicBezTo>
                    <a:pt x="125" y="20"/>
                    <a:pt x="122" y="23"/>
                    <a:pt x="118" y="23"/>
                  </a:cubicBezTo>
                  <a:cubicBezTo>
                    <a:pt x="115" y="23"/>
                    <a:pt x="112" y="20"/>
                    <a:pt x="112" y="17"/>
                  </a:cubicBezTo>
                  <a:cubicBezTo>
                    <a:pt x="112" y="13"/>
                    <a:pt x="115" y="10"/>
                    <a:pt x="118" y="10"/>
                  </a:cubicBezTo>
                  <a:close/>
                  <a:moveTo>
                    <a:pt x="99" y="10"/>
                  </a:moveTo>
                  <a:cubicBezTo>
                    <a:pt x="103" y="10"/>
                    <a:pt x="106" y="13"/>
                    <a:pt x="106" y="17"/>
                  </a:cubicBezTo>
                  <a:cubicBezTo>
                    <a:pt x="106" y="20"/>
                    <a:pt x="103" y="23"/>
                    <a:pt x="99" y="23"/>
                  </a:cubicBezTo>
                  <a:cubicBezTo>
                    <a:pt x="96" y="23"/>
                    <a:pt x="93" y="20"/>
                    <a:pt x="93" y="17"/>
                  </a:cubicBezTo>
                  <a:cubicBezTo>
                    <a:pt x="93" y="13"/>
                    <a:pt x="96" y="10"/>
                    <a:pt x="9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8" name="Freeform 246"/>
            <p:cNvSpPr>
              <a:spLocks noEditPoints="1"/>
            </p:cNvSpPr>
            <p:nvPr/>
          </p:nvSpPr>
          <p:spPr bwMode="auto">
            <a:xfrm>
              <a:off x="7335884" y="1979802"/>
              <a:ext cx="258060" cy="210351"/>
            </a:xfrm>
            <a:custGeom>
              <a:avLst/>
              <a:gdLst>
                <a:gd name="T0" fmla="*/ 96 w 101"/>
                <a:gd name="T1" fmla="*/ 68 h 82"/>
                <a:gd name="T2" fmla="*/ 77 w 101"/>
                <a:gd name="T3" fmla="*/ 55 h 82"/>
                <a:gd name="T4" fmla="*/ 71 w 101"/>
                <a:gd name="T5" fmla="*/ 54 h 82"/>
                <a:gd name="T6" fmla="*/ 69 w 101"/>
                <a:gd name="T7" fmla="*/ 55 h 82"/>
                <a:gd name="T8" fmla="*/ 66 w 101"/>
                <a:gd name="T9" fmla="*/ 53 h 82"/>
                <a:gd name="T10" fmla="*/ 69 w 101"/>
                <a:gd name="T11" fmla="*/ 29 h 82"/>
                <a:gd name="T12" fmla="*/ 29 w 101"/>
                <a:gd name="T13" fmla="*/ 4 h 82"/>
                <a:gd name="T14" fmla="*/ 4 w 101"/>
                <a:gd name="T15" fmla="*/ 45 h 82"/>
                <a:gd name="T16" fmla="*/ 45 w 101"/>
                <a:gd name="T17" fmla="*/ 70 h 82"/>
                <a:gd name="T18" fmla="*/ 62 w 101"/>
                <a:gd name="T19" fmla="*/ 59 h 82"/>
                <a:gd name="T20" fmla="*/ 66 w 101"/>
                <a:gd name="T21" fmla="*/ 61 h 82"/>
                <a:gd name="T22" fmla="*/ 69 w 101"/>
                <a:gd name="T23" fmla="*/ 68 h 82"/>
                <a:gd name="T24" fmla="*/ 88 w 101"/>
                <a:gd name="T25" fmla="*/ 80 h 82"/>
                <a:gd name="T26" fmla="*/ 94 w 101"/>
                <a:gd name="T27" fmla="*/ 81 h 82"/>
                <a:gd name="T28" fmla="*/ 99 w 101"/>
                <a:gd name="T29" fmla="*/ 78 h 82"/>
                <a:gd name="T30" fmla="*/ 96 w 101"/>
                <a:gd name="T31" fmla="*/ 68 h 82"/>
                <a:gd name="T32" fmla="*/ 42 w 101"/>
                <a:gd name="T33" fmla="*/ 58 h 82"/>
                <a:gd name="T34" fmla="*/ 16 w 101"/>
                <a:gd name="T35" fmla="*/ 42 h 82"/>
                <a:gd name="T36" fmla="*/ 32 w 101"/>
                <a:gd name="T37" fmla="*/ 16 h 82"/>
                <a:gd name="T38" fmla="*/ 58 w 101"/>
                <a:gd name="T39" fmla="*/ 32 h 82"/>
                <a:gd name="T40" fmla="*/ 42 w 101"/>
                <a:gd name="T41"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82">
                  <a:moveTo>
                    <a:pt x="96" y="68"/>
                  </a:moveTo>
                  <a:cubicBezTo>
                    <a:pt x="77" y="55"/>
                    <a:pt x="77" y="55"/>
                    <a:pt x="77" y="55"/>
                  </a:cubicBezTo>
                  <a:cubicBezTo>
                    <a:pt x="75" y="54"/>
                    <a:pt x="73" y="54"/>
                    <a:pt x="71" y="54"/>
                  </a:cubicBezTo>
                  <a:cubicBezTo>
                    <a:pt x="71" y="54"/>
                    <a:pt x="70" y="55"/>
                    <a:pt x="69" y="55"/>
                  </a:cubicBezTo>
                  <a:cubicBezTo>
                    <a:pt x="66" y="53"/>
                    <a:pt x="66" y="53"/>
                    <a:pt x="66" y="53"/>
                  </a:cubicBezTo>
                  <a:cubicBezTo>
                    <a:pt x="70" y="46"/>
                    <a:pt x="71" y="37"/>
                    <a:pt x="69" y="29"/>
                  </a:cubicBezTo>
                  <a:cubicBezTo>
                    <a:pt x="65" y="11"/>
                    <a:pt x="47" y="0"/>
                    <a:pt x="29" y="4"/>
                  </a:cubicBezTo>
                  <a:cubicBezTo>
                    <a:pt x="11" y="9"/>
                    <a:pt x="0" y="27"/>
                    <a:pt x="4" y="45"/>
                  </a:cubicBezTo>
                  <a:cubicBezTo>
                    <a:pt x="8" y="63"/>
                    <a:pt x="27" y="74"/>
                    <a:pt x="45" y="70"/>
                  </a:cubicBezTo>
                  <a:cubicBezTo>
                    <a:pt x="52" y="68"/>
                    <a:pt x="58" y="64"/>
                    <a:pt x="62" y="59"/>
                  </a:cubicBezTo>
                  <a:cubicBezTo>
                    <a:pt x="66" y="61"/>
                    <a:pt x="66" y="61"/>
                    <a:pt x="66" y="61"/>
                  </a:cubicBezTo>
                  <a:cubicBezTo>
                    <a:pt x="65" y="63"/>
                    <a:pt x="67" y="66"/>
                    <a:pt x="69" y="68"/>
                  </a:cubicBezTo>
                  <a:cubicBezTo>
                    <a:pt x="88" y="80"/>
                    <a:pt x="88" y="80"/>
                    <a:pt x="88" y="80"/>
                  </a:cubicBezTo>
                  <a:cubicBezTo>
                    <a:pt x="90" y="81"/>
                    <a:pt x="92" y="82"/>
                    <a:pt x="94" y="81"/>
                  </a:cubicBezTo>
                  <a:cubicBezTo>
                    <a:pt x="96" y="81"/>
                    <a:pt x="98" y="80"/>
                    <a:pt x="99" y="78"/>
                  </a:cubicBezTo>
                  <a:cubicBezTo>
                    <a:pt x="101" y="75"/>
                    <a:pt x="100" y="70"/>
                    <a:pt x="96" y="68"/>
                  </a:cubicBezTo>
                  <a:close/>
                  <a:moveTo>
                    <a:pt x="42" y="58"/>
                  </a:moveTo>
                  <a:cubicBezTo>
                    <a:pt x="30" y="61"/>
                    <a:pt x="19" y="54"/>
                    <a:pt x="16" y="42"/>
                  </a:cubicBezTo>
                  <a:cubicBezTo>
                    <a:pt x="13" y="30"/>
                    <a:pt x="20" y="19"/>
                    <a:pt x="32" y="16"/>
                  </a:cubicBezTo>
                  <a:cubicBezTo>
                    <a:pt x="43" y="13"/>
                    <a:pt x="55" y="20"/>
                    <a:pt x="58" y="32"/>
                  </a:cubicBezTo>
                  <a:cubicBezTo>
                    <a:pt x="60" y="43"/>
                    <a:pt x="53" y="55"/>
                    <a:pt x="42"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grpSp>
      <p:grpSp>
        <p:nvGrpSpPr>
          <p:cNvPr id="29" name="组合 28"/>
          <p:cNvGrpSpPr/>
          <p:nvPr/>
        </p:nvGrpSpPr>
        <p:grpSpPr>
          <a:xfrm>
            <a:off x="5153660" y="4571619"/>
            <a:ext cx="492125" cy="362585"/>
            <a:chOff x="5958843" y="1820413"/>
            <a:chExt cx="535637" cy="394680"/>
          </a:xfrm>
          <a:solidFill>
            <a:schemeClr val="bg1"/>
          </a:solidFill>
        </p:grpSpPr>
        <p:sp>
          <p:nvSpPr>
            <p:cNvPr id="30" name="Freeform 248"/>
            <p:cNvSpPr/>
            <p:nvPr/>
          </p:nvSpPr>
          <p:spPr bwMode="auto">
            <a:xfrm>
              <a:off x="5958843" y="1820413"/>
              <a:ext cx="376247" cy="358898"/>
            </a:xfrm>
            <a:custGeom>
              <a:avLst/>
              <a:gdLst>
                <a:gd name="T0" fmla="*/ 61 w 147"/>
                <a:gd name="T1" fmla="*/ 105 h 140"/>
                <a:gd name="T2" fmla="*/ 54 w 147"/>
                <a:gd name="T3" fmla="*/ 103 h 140"/>
                <a:gd name="T4" fmla="*/ 53 w 147"/>
                <a:gd name="T5" fmla="*/ 103 h 140"/>
                <a:gd name="T6" fmla="*/ 52 w 147"/>
                <a:gd name="T7" fmla="*/ 103 h 140"/>
                <a:gd name="T8" fmla="*/ 33 w 147"/>
                <a:gd name="T9" fmla="*/ 111 h 140"/>
                <a:gd name="T10" fmla="*/ 38 w 147"/>
                <a:gd name="T11" fmla="*/ 97 h 140"/>
                <a:gd name="T12" fmla="*/ 34 w 147"/>
                <a:gd name="T13" fmla="*/ 94 h 140"/>
                <a:gd name="T14" fmla="*/ 13 w 147"/>
                <a:gd name="T15" fmla="*/ 60 h 140"/>
                <a:gd name="T16" fmla="*/ 79 w 147"/>
                <a:gd name="T17" fmla="*/ 13 h 140"/>
                <a:gd name="T18" fmla="*/ 128 w 147"/>
                <a:gd name="T19" fmla="*/ 29 h 140"/>
                <a:gd name="T20" fmla="*/ 137 w 147"/>
                <a:gd name="T21" fmla="*/ 29 h 140"/>
                <a:gd name="T22" fmla="*/ 147 w 147"/>
                <a:gd name="T23" fmla="*/ 29 h 140"/>
                <a:gd name="T24" fmla="*/ 79 w 147"/>
                <a:gd name="T25" fmla="*/ 0 h 140"/>
                <a:gd name="T26" fmla="*/ 0 w 147"/>
                <a:gd name="T27" fmla="*/ 60 h 140"/>
                <a:gd name="T28" fmla="*/ 22 w 147"/>
                <a:gd name="T29" fmla="*/ 102 h 140"/>
                <a:gd name="T30" fmla="*/ 9 w 147"/>
                <a:gd name="T31" fmla="*/ 140 h 140"/>
                <a:gd name="T32" fmla="*/ 24 w 147"/>
                <a:gd name="T33" fmla="*/ 131 h 140"/>
                <a:gd name="T34" fmla="*/ 51 w 147"/>
                <a:gd name="T35" fmla="*/ 117 h 140"/>
                <a:gd name="T36" fmla="*/ 70 w 147"/>
                <a:gd name="T37" fmla="*/ 120 h 140"/>
                <a:gd name="T38" fmla="*/ 61 w 147"/>
                <a:gd name="T39" fmla="*/ 10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40">
                  <a:moveTo>
                    <a:pt x="61" y="105"/>
                  </a:moveTo>
                  <a:cubicBezTo>
                    <a:pt x="59" y="105"/>
                    <a:pt x="56" y="104"/>
                    <a:pt x="54" y="103"/>
                  </a:cubicBezTo>
                  <a:cubicBezTo>
                    <a:pt x="53" y="103"/>
                    <a:pt x="53" y="103"/>
                    <a:pt x="53" y="103"/>
                  </a:cubicBezTo>
                  <a:cubicBezTo>
                    <a:pt x="52" y="103"/>
                    <a:pt x="52" y="103"/>
                    <a:pt x="52" y="103"/>
                  </a:cubicBezTo>
                  <a:cubicBezTo>
                    <a:pt x="50" y="103"/>
                    <a:pt x="48" y="103"/>
                    <a:pt x="33" y="111"/>
                  </a:cubicBezTo>
                  <a:cubicBezTo>
                    <a:pt x="38" y="97"/>
                    <a:pt x="38" y="97"/>
                    <a:pt x="38" y="97"/>
                  </a:cubicBezTo>
                  <a:cubicBezTo>
                    <a:pt x="34" y="94"/>
                    <a:pt x="34" y="94"/>
                    <a:pt x="34" y="94"/>
                  </a:cubicBezTo>
                  <a:cubicBezTo>
                    <a:pt x="21" y="85"/>
                    <a:pt x="13" y="73"/>
                    <a:pt x="13" y="60"/>
                  </a:cubicBezTo>
                  <a:cubicBezTo>
                    <a:pt x="13" y="34"/>
                    <a:pt x="43" y="13"/>
                    <a:pt x="79" y="13"/>
                  </a:cubicBezTo>
                  <a:cubicBezTo>
                    <a:pt x="99" y="13"/>
                    <a:pt x="116" y="19"/>
                    <a:pt x="128" y="29"/>
                  </a:cubicBezTo>
                  <a:cubicBezTo>
                    <a:pt x="131" y="29"/>
                    <a:pt x="134" y="29"/>
                    <a:pt x="137" y="29"/>
                  </a:cubicBezTo>
                  <a:cubicBezTo>
                    <a:pt x="140" y="29"/>
                    <a:pt x="143" y="29"/>
                    <a:pt x="147" y="29"/>
                  </a:cubicBezTo>
                  <a:cubicBezTo>
                    <a:pt x="133" y="12"/>
                    <a:pt x="108" y="0"/>
                    <a:pt x="79" y="0"/>
                  </a:cubicBezTo>
                  <a:cubicBezTo>
                    <a:pt x="35" y="0"/>
                    <a:pt x="0" y="27"/>
                    <a:pt x="0" y="60"/>
                  </a:cubicBezTo>
                  <a:cubicBezTo>
                    <a:pt x="0" y="76"/>
                    <a:pt x="8" y="91"/>
                    <a:pt x="22" y="102"/>
                  </a:cubicBezTo>
                  <a:cubicBezTo>
                    <a:pt x="9" y="140"/>
                    <a:pt x="9" y="140"/>
                    <a:pt x="9" y="140"/>
                  </a:cubicBezTo>
                  <a:cubicBezTo>
                    <a:pt x="24" y="131"/>
                    <a:pt x="24" y="131"/>
                    <a:pt x="24" y="131"/>
                  </a:cubicBezTo>
                  <a:cubicBezTo>
                    <a:pt x="35" y="125"/>
                    <a:pt x="47" y="118"/>
                    <a:pt x="51" y="117"/>
                  </a:cubicBezTo>
                  <a:cubicBezTo>
                    <a:pt x="57" y="118"/>
                    <a:pt x="63" y="119"/>
                    <a:pt x="70" y="120"/>
                  </a:cubicBezTo>
                  <a:cubicBezTo>
                    <a:pt x="66" y="115"/>
                    <a:pt x="63" y="110"/>
                    <a:pt x="61"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31" name="Freeform 249"/>
            <p:cNvSpPr>
              <a:spLocks noEditPoints="1"/>
            </p:cNvSpPr>
            <p:nvPr/>
          </p:nvSpPr>
          <p:spPr bwMode="auto">
            <a:xfrm>
              <a:off x="6125823" y="1912577"/>
              <a:ext cx="368657" cy="302516"/>
            </a:xfrm>
            <a:custGeom>
              <a:avLst/>
              <a:gdLst>
                <a:gd name="T0" fmla="*/ 144 w 144"/>
                <a:gd name="T1" fmla="*/ 53 h 118"/>
                <a:gd name="T2" fmla="*/ 72 w 144"/>
                <a:gd name="T3" fmla="*/ 0 h 118"/>
                <a:gd name="T4" fmla="*/ 0 w 144"/>
                <a:gd name="T5" fmla="*/ 53 h 118"/>
                <a:gd name="T6" fmla="*/ 72 w 144"/>
                <a:gd name="T7" fmla="*/ 107 h 118"/>
                <a:gd name="T8" fmla="*/ 99 w 144"/>
                <a:gd name="T9" fmla="*/ 103 h 118"/>
                <a:gd name="T10" fmla="*/ 130 w 144"/>
                <a:gd name="T11" fmla="*/ 118 h 118"/>
                <a:gd name="T12" fmla="*/ 121 w 144"/>
                <a:gd name="T13" fmla="*/ 93 h 118"/>
                <a:gd name="T14" fmla="*/ 144 w 144"/>
                <a:gd name="T15" fmla="*/ 53 h 118"/>
                <a:gd name="T16" fmla="*/ 44 w 144"/>
                <a:gd name="T17" fmla="*/ 61 h 118"/>
                <a:gd name="T18" fmla="*/ 38 w 144"/>
                <a:gd name="T19" fmla="*/ 57 h 118"/>
                <a:gd name="T20" fmla="*/ 31 w 144"/>
                <a:gd name="T21" fmla="*/ 61 h 118"/>
                <a:gd name="T22" fmla="*/ 33 w 144"/>
                <a:gd name="T23" fmla="*/ 53 h 118"/>
                <a:gd name="T24" fmla="*/ 27 w 144"/>
                <a:gd name="T25" fmla="*/ 48 h 118"/>
                <a:gd name="T26" fmla="*/ 35 w 144"/>
                <a:gd name="T27" fmla="*/ 47 h 118"/>
                <a:gd name="T28" fmla="*/ 38 w 144"/>
                <a:gd name="T29" fmla="*/ 41 h 118"/>
                <a:gd name="T30" fmla="*/ 41 w 144"/>
                <a:gd name="T31" fmla="*/ 47 h 118"/>
                <a:gd name="T32" fmla="*/ 48 w 144"/>
                <a:gd name="T33" fmla="*/ 48 h 118"/>
                <a:gd name="T34" fmla="*/ 43 w 144"/>
                <a:gd name="T35" fmla="*/ 53 h 118"/>
                <a:gd name="T36" fmla="*/ 44 w 144"/>
                <a:gd name="T37" fmla="*/ 61 h 118"/>
                <a:gd name="T38" fmla="*/ 82 w 144"/>
                <a:gd name="T39" fmla="*/ 64 h 118"/>
                <a:gd name="T40" fmla="*/ 72 w 144"/>
                <a:gd name="T41" fmla="*/ 58 h 118"/>
                <a:gd name="T42" fmla="*/ 62 w 144"/>
                <a:gd name="T43" fmla="*/ 64 h 118"/>
                <a:gd name="T44" fmla="*/ 64 w 144"/>
                <a:gd name="T45" fmla="*/ 52 h 118"/>
                <a:gd name="T46" fmla="*/ 56 w 144"/>
                <a:gd name="T47" fmla="*/ 44 h 118"/>
                <a:gd name="T48" fmla="*/ 67 w 144"/>
                <a:gd name="T49" fmla="*/ 43 h 118"/>
                <a:gd name="T50" fmla="*/ 72 w 144"/>
                <a:gd name="T51" fmla="*/ 33 h 118"/>
                <a:gd name="T52" fmla="*/ 77 w 144"/>
                <a:gd name="T53" fmla="*/ 43 h 118"/>
                <a:gd name="T54" fmla="*/ 88 w 144"/>
                <a:gd name="T55" fmla="*/ 44 h 118"/>
                <a:gd name="T56" fmla="*/ 80 w 144"/>
                <a:gd name="T57" fmla="*/ 52 h 118"/>
                <a:gd name="T58" fmla="*/ 82 w 144"/>
                <a:gd name="T59" fmla="*/ 64 h 118"/>
                <a:gd name="T60" fmla="*/ 112 w 144"/>
                <a:gd name="T61" fmla="*/ 61 h 118"/>
                <a:gd name="T62" fmla="*/ 106 w 144"/>
                <a:gd name="T63" fmla="*/ 57 h 118"/>
                <a:gd name="T64" fmla="*/ 99 w 144"/>
                <a:gd name="T65" fmla="*/ 61 h 118"/>
                <a:gd name="T66" fmla="*/ 101 w 144"/>
                <a:gd name="T67" fmla="*/ 53 h 118"/>
                <a:gd name="T68" fmla="*/ 95 w 144"/>
                <a:gd name="T69" fmla="*/ 48 h 118"/>
                <a:gd name="T70" fmla="*/ 103 w 144"/>
                <a:gd name="T71" fmla="*/ 47 h 118"/>
                <a:gd name="T72" fmla="*/ 106 w 144"/>
                <a:gd name="T73" fmla="*/ 41 h 118"/>
                <a:gd name="T74" fmla="*/ 109 w 144"/>
                <a:gd name="T75" fmla="*/ 47 h 118"/>
                <a:gd name="T76" fmla="*/ 116 w 144"/>
                <a:gd name="T77" fmla="*/ 48 h 118"/>
                <a:gd name="T78" fmla="*/ 111 w 144"/>
                <a:gd name="T79" fmla="*/ 53 h 118"/>
                <a:gd name="T80" fmla="*/ 112 w 144"/>
                <a:gd name="T81" fmla="*/ 6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4" h="118">
                  <a:moveTo>
                    <a:pt x="144" y="53"/>
                  </a:moveTo>
                  <a:cubicBezTo>
                    <a:pt x="144" y="24"/>
                    <a:pt x="112" y="0"/>
                    <a:pt x="72" y="0"/>
                  </a:cubicBezTo>
                  <a:cubicBezTo>
                    <a:pt x="32" y="0"/>
                    <a:pt x="0" y="24"/>
                    <a:pt x="0" y="53"/>
                  </a:cubicBezTo>
                  <a:cubicBezTo>
                    <a:pt x="0" y="83"/>
                    <a:pt x="32" y="107"/>
                    <a:pt x="72" y="107"/>
                  </a:cubicBezTo>
                  <a:cubicBezTo>
                    <a:pt x="82" y="107"/>
                    <a:pt x="91" y="105"/>
                    <a:pt x="99" y="103"/>
                  </a:cubicBezTo>
                  <a:cubicBezTo>
                    <a:pt x="102" y="102"/>
                    <a:pt x="130" y="118"/>
                    <a:pt x="130" y="118"/>
                  </a:cubicBezTo>
                  <a:cubicBezTo>
                    <a:pt x="121" y="93"/>
                    <a:pt x="121" y="93"/>
                    <a:pt x="121" y="93"/>
                  </a:cubicBezTo>
                  <a:cubicBezTo>
                    <a:pt x="135" y="83"/>
                    <a:pt x="144" y="69"/>
                    <a:pt x="144" y="53"/>
                  </a:cubicBezTo>
                  <a:close/>
                  <a:moveTo>
                    <a:pt x="44" y="61"/>
                  </a:moveTo>
                  <a:cubicBezTo>
                    <a:pt x="38" y="57"/>
                    <a:pt x="38" y="57"/>
                    <a:pt x="38" y="57"/>
                  </a:cubicBezTo>
                  <a:cubicBezTo>
                    <a:pt x="31" y="61"/>
                    <a:pt x="31" y="61"/>
                    <a:pt x="31" y="61"/>
                  </a:cubicBezTo>
                  <a:cubicBezTo>
                    <a:pt x="33" y="53"/>
                    <a:pt x="33" y="53"/>
                    <a:pt x="33" y="53"/>
                  </a:cubicBezTo>
                  <a:cubicBezTo>
                    <a:pt x="27" y="48"/>
                    <a:pt x="27" y="48"/>
                    <a:pt x="27" y="48"/>
                  </a:cubicBezTo>
                  <a:cubicBezTo>
                    <a:pt x="35" y="47"/>
                    <a:pt x="35" y="47"/>
                    <a:pt x="35" y="47"/>
                  </a:cubicBezTo>
                  <a:cubicBezTo>
                    <a:pt x="38" y="41"/>
                    <a:pt x="38" y="41"/>
                    <a:pt x="38" y="41"/>
                  </a:cubicBezTo>
                  <a:cubicBezTo>
                    <a:pt x="41" y="47"/>
                    <a:pt x="41" y="47"/>
                    <a:pt x="41" y="47"/>
                  </a:cubicBezTo>
                  <a:cubicBezTo>
                    <a:pt x="48" y="48"/>
                    <a:pt x="48" y="48"/>
                    <a:pt x="48" y="48"/>
                  </a:cubicBezTo>
                  <a:cubicBezTo>
                    <a:pt x="43" y="53"/>
                    <a:pt x="43" y="53"/>
                    <a:pt x="43" y="53"/>
                  </a:cubicBezTo>
                  <a:lnTo>
                    <a:pt x="44" y="61"/>
                  </a:lnTo>
                  <a:close/>
                  <a:moveTo>
                    <a:pt x="82" y="64"/>
                  </a:moveTo>
                  <a:cubicBezTo>
                    <a:pt x="72" y="58"/>
                    <a:pt x="72" y="58"/>
                    <a:pt x="72" y="58"/>
                  </a:cubicBezTo>
                  <a:cubicBezTo>
                    <a:pt x="62" y="64"/>
                    <a:pt x="62" y="64"/>
                    <a:pt x="62" y="64"/>
                  </a:cubicBezTo>
                  <a:cubicBezTo>
                    <a:pt x="64" y="52"/>
                    <a:pt x="64" y="52"/>
                    <a:pt x="64" y="52"/>
                  </a:cubicBezTo>
                  <a:cubicBezTo>
                    <a:pt x="56" y="44"/>
                    <a:pt x="56" y="44"/>
                    <a:pt x="56" y="44"/>
                  </a:cubicBezTo>
                  <a:cubicBezTo>
                    <a:pt x="67" y="43"/>
                    <a:pt x="67" y="43"/>
                    <a:pt x="67" y="43"/>
                  </a:cubicBezTo>
                  <a:cubicBezTo>
                    <a:pt x="72" y="33"/>
                    <a:pt x="72" y="33"/>
                    <a:pt x="72" y="33"/>
                  </a:cubicBezTo>
                  <a:cubicBezTo>
                    <a:pt x="77" y="43"/>
                    <a:pt x="77" y="43"/>
                    <a:pt x="77" y="43"/>
                  </a:cubicBezTo>
                  <a:cubicBezTo>
                    <a:pt x="88" y="44"/>
                    <a:pt x="88" y="44"/>
                    <a:pt x="88" y="44"/>
                  </a:cubicBezTo>
                  <a:cubicBezTo>
                    <a:pt x="80" y="52"/>
                    <a:pt x="80" y="52"/>
                    <a:pt x="80" y="52"/>
                  </a:cubicBezTo>
                  <a:lnTo>
                    <a:pt x="82" y="64"/>
                  </a:lnTo>
                  <a:close/>
                  <a:moveTo>
                    <a:pt x="112" y="61"/>
                  </a:moveTo>
                  <a:cubicBezTo>
                    <a:pt x="106" y="57"/>
                    <a:pt x="106" y="57"/>
                    <a:pt x="106" y="57"/>
                  </a:cubicBezTo>
                  <a:cubicBezTo>
                    <a:pt x="99" y="61"/>
                    <a:pt x="99" y="61"/>
                    <a:pt x="99" y="61"/>
                  </a:cubicBezTo>
                  <a:cubicBezTo>
                    <a:pt x="101" y="53"/>
                    <a:pt x="101" y="53"/>
                    <a:pt x="101" y="53"/>
                  </a:cubicBezTo>
                  <a:cubicBezTo>
                    <a:pt x="95" y="48"/>
                    <a:pt x="95" y="48"/>
                    <a:pt x="95" y="48"/>
                  </a:cubicBezTo>
                  <a:cubicBezTo>
                    <a:pt x="103" y="47"/>
                    <a:pt x="103" y="47"/>
                    <a:pt x="103" y="47"/>
                  </a:cubicBezTo>
                  <a:cubicBezTo>
                    <a:pt x="106" y="41"/>
                    <a:pt x="106" y="41"/>
                    <a:pt x="106" y="41"/>
                  </a:cubicBezTo>
                  <a:cubicBezTo>
                    <a:pt x="109" y="47"/>
                    <a:pt x="109" y="47"/>
                    <a:pt x="109" y="47"/>
                  </a:cubicBezTo>
                  <a:cubicBezTo>
                    <a:pt x="116" y="48"/>
                    <a:pt x="116" y="48"/>
                    <a:pt x="116" y="48"/>
                  </a:cubicBezTo>
                  <a:cubicBezTo>
                    <a:pt x="111" y="53"/>
                    <a:pt x="111" y="53"/>
                    <a:pt x="111" y="53"/>
                  </a:cubicBezTo>
                  <a:lnTo>
                    <a:pt x="112"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grpSp>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05942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投资文化：</a:t>
            </a:r>
            <a:r>
              <a:rPr lang="zh-CN" altLang="en-US" sz="2200" b="1" dirty="0">
                <a:latin typeface="微软雅黑" panose="020B0503020204020204" pitchFamily="34" charset="-122"/>
                <a:ea typeface="微软雅黑" panose="020B0503020204020204" pitchFamily="34" charset="-122"/>
                <a:sym typeface="+mn-ea"/>
              </a:rPr>
              <a:t>建立以分享协作作为核心的投研机制</a:t>
            </a:r>
          </a:p>
        </p:txBody>
      </p:sp>
      <p:pic>
        <p:nvPicPr>
          <p:cNvPr id="45" name="图片 11" descr="007"/>
          <p:cNvPicPr>
            <a:picLocks noChangeAspect="1" noChangeArrowheads="1"/>
          </p:cNvPicPr>
          <p:nvPr/>
        </p:nvPicPr>
        <p:blipFill>
          <a:blip r:embed="rId50"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图片 45" descr="六边形"/>
          <p:cNvPicPr>
            <a:picLocks noChangeAspect="1"/>
          </p:cNvPicPr>
          <p:nvPr>
            <p:custDataLst>
              <p:tags r:id="rId1"/>
            </p:custDataLst>
          </p:nvPr>
        </p:nvPicPr>
        <p:blipFill>
          <a:blip r:embed="rId51"/>
          <a:stretch>
            <a:fillRect/>
          </a:stretch>
        </p:blipFill>
        <p:spPr>
          <a:xfrm>
            <a:off x="1299845" y="1349375"/>
            <a:ext cx="1757680" cy="1880870"/>
          </a:xfrm>
          <a:prstGeom prst="rect">
            <a:avLst/>
          </a:prstGeom>
        </p:spPr>
      </p:pic>
      <p:pic>
        <p:nvPicPr>
          <p:cNvPr id="48" name="图片 47" descr="六边形"/>
          <p:cNvPicPr>
            <a:picLocks noChangeAspect="1"/>
          </p:cNvPicPr>
          <p:nvPr>
            <p:custDataLst>
              <p:tags r:id="rId2"/>
            </p:custDataLst>
          </p:nvPr>
        </p:nvPicPr>
        <p:blipFill>
          <a:blip r:embed="rId51"/>
          <a:stretch>
            <a:fillRect/>
          </a:stretch>
        </p:blipFill>
        <p:spPr>
          <a:xfrm>
            <a:off x="2941320" y="1349375"/>
            <a:ext cx="1757680" cy="1880870"/>
          </a:xfrm>
          <a:prstGeom prst="rect">
            <a:avLst/>
          </a:prstGeom>
        </p:spPr>
      </p:pic>
      <p:pic>
        <p:nvPicPr>
          <p:cNvPr id="51" name="图片 50" descr="六边形"/>
          <p:cNvPicPr>
            <a:picLocks noChangeAspect="1"/>
          </p:cNvPicPr>
          <p:nvPr>
            <p:custDataLst>
              <p:tags r:id="rId3"/>
            </p:custDataLst>
          </p:nvPr>
        </p:nvPicPr>
        <p:blipFill>
          <a:blip r:embed="rId51"/>
          <a:stretch>
            <a:fillRect/>
          </a:stretch>
        </p:blipFill>
        <p:spPr>
          <a:xfrm>
            <a:off x="3730625" y="2755265"/>
            <a:ext cx="1757680" cy="1880870"/>
          </a:xfrm>
          <a:prstGeom prst="rect">
            <a:avLst/>
          </a:prstGeom>
        </p:spPr>
      </p:pic>
      <p:pic>
        <p:nvPicPr>
          <p:cNvPr id="52" name="图片 51" descr="六边形"/>
          <p:cNvPicPr>
            <a:picLocks noChangeAspect="1"/>
          </p:cNvPicPr>
          <p:nvPr>
            <p:custDataLst>
              <p:tags r:id="rId4"/>
            </p:custDataLst>
          </p:nvPr>
        </p:nvPicPr>
        <p:blipFill>
          <a:blip r:embed="rId51">
            <a:alphaModFix amt="19000"/>
          </a:blip>
          <a:stretch>
            <a:fillRect/>
          </a:stretch>
        </p:blipFill>
        <p:spPr>
          <a:xfrm>
            <a:off x="2105025" y="2755265"/>
            <a:ext cx="1757680" cy="1880870"/>
          </a:xfrm>
          <a:prstGeom prst="rect">
            <a:avLst/>
          </a:prstGeom>
        </p:spPr>
      </p:pic>
      <p:pic>
        <p:nvPicPr>
          <p:cNvPr id="53" name="图片 52" descr="六边形"/>
          <p:cNvPicPr>
            <a:picLocks noChangeAspect="1"/>
          </p:cNvPicPr>
          <p:nvPr>
            <p:custDataLst>
              <p:tags r:id="rId5"/>
            </p:custDataLst>
          </p:nvPr>
        </p:nvPicPr>
        <p:blipFill>
          <a:blip r:embed="rId51"/>
          <a:stretch>
            <a:fillRect/>
          </a:stretch>
        </p:blipFill>
        <p:spPr>
          <a:xfrm>
            <a:off x="479425" y="2755265"/>
            <a:ext cx="1757680" cy="1880870"/>
          </a:xfrm>
          <a:prstGeom prst="rect">
            <a:avLst/>
          </a:prstGeom>
        </p:spPr>
      </p:pic>
      <p:sp>
        <p:nvSpPr>
          <p:cNvPr id="54" name="文本框 53"/>
          <p:cNvSpPr txBox="1"/>
          <p:nvPr>
            <p:custDataLst>
              <p:tags r:id="rId6"/>
            </p:custDataLst>
          </p:nvPr>
        </p:nvSpPr>
        <p:spPr>
          <a:xfrm>
            <a:off x="1503045" y="2313940"/>
            <a:ext cx="1356360" cy="368300"/>
          </a:xfrm>
          <a:prstGeom prst="rect">
            <a:avLst/>
          </a:prstGeom>
          <a:noFill/>
        </p:spPr>
        <p:txBody>
          <a:bodyPr wrap="square" rtlCol="0">
            <a:spAutoFit/>
          </a:bodyPr>
          <a:lstStyle/>
          <a:p>
            <a:pPr algn="ctr"/>
            <a:r>
              <a:rPr lang="zh-CN" altLang="en-US" b="1">
                <a:solidFill>
                  <a:schemeClr val="bg1"/>
                </a:solidFill>
              </a:rPr>
              <a:t>定期分享</a:t>
            </a:r>
          </a:p>
        </p:txBody>
      </p:sp>
      <p:sp>
        <p:nvSpPr>
          <p:cNvPr id="56" name="文本框 55"/>
          <p:cNvSpPr txBox="1"/>
          <p:nvPr>
            <p:custDataLst>
              <p:tags r:id="rId7"/>
            </p:custDataLst>
          </p:nvPr>
        </p:nvSpPr>
        <p:spPr>
          <a:xfrm>
            <a:off x="3133725" y="2313940"/>
            <a:ext cx="1356360" cy="368300"/>
          </a:xfrm>
          <a:prstGeom prst="rect">
            <a:avLst/>
          </a:prstGeom>
          <a:noFill/>
        </p:spPr>
        <p:txBody>
          <a:bodyPr wrap="square" rtlCol="0">
            <a:spAutoFit/>
          </a:bodyPr>
          <a:lstStyle/>
          <a:p>
            <a:pPr algn="ctr"/>
            <a:r>
              <a:rPr lang="zh-CN" altLang="en-US" b="1">
                <a:solidFill>
                  <a:schemeClr val="bg1"/>
                </a:solidFill>
              </a:rPr>
              <a:t>专家引领</a:t>
            </a:r>
          </a:p>
        </p:txBody>
      </p:sp>
      <p:sp>
        <p:nvSpPr>
          <p:cNvPr id="57" name="文本框 56"/>
          <p:cNvSpPr txBox="1"/>
          <p:nvPr>
            <p:custDataLst>
              <p:tags r:id="rId8"/>
            </p:custDataLst>
          </p:nvPr>
        </p:nvSpPr>
        <p:spPr>
          <a:xfrm>
            <a:off x="3923030" y="3729355"/>
            <a:ext cx="1356360" cy="368300"/>
          </a:xfrm>
          <a:prstGeom prst="rect">
            <a:avLst/>
          </a:prstGeom>
          <a:noFill/>
        </p:spPr>
        <p:txBody>
          <a:bodyPr wrap="square" rtlCol="0">
            <a:spAutoFit/>
          </a:bodyPr>
          <a:lstStyle/>
          <a:p>
            <a:pPr algn="ctr"/>
            <a:r>
              <a:rPr lang="zh-CN" altLang="en-US" b="1">
                <a:solidFill>
                  <a:schemeClr val="bg1"/>
                </a:solidFill>
              </a:rPr>
              <a:t>战略研究</a:t>
            </a:r>
          </a:p>
        </p:txBody>
      </p:sp>
      <p:sp>
        <p:nvSpPr>
          <p:cNvPr id="58" name="文本框 57"/>
          <p:cNvSpPr txBox="1"/>
          <p:nvPr>
            <p:custDataLst>
              <p:tags r:id="rId9"/>
            </p:custDataLst>
          </p:nvPr>
        </p:nvSpPr>
        <p:spPr>
          <a:xfrm>
            <a:off x="3141980" y="5144770"/>
            <a:ext cx="1356360" cy="368300"/>
          </a:xfrm>
          <a:prstGeom prst="rect">
            <a:avLst/>
          </a:prstGeom>
          <a:noFill/>
        </p:spPr>
        <p:txBody>
          <a:bodyPr wrap="square" rtlCol="0">
            <a:spAutoFit/>
          </a:bodyPr>
          <a:lstStyle/>
          <a:p>
            <a:pPr algn="ctr"/>
            <a:r>
              <a:rPr lang="zh-CN" altLang="en-US" b="1">
                <a:solidFill>
                  <a:schemeClr val="bg1"/>
                </a:solidFill>
              </a:rPr>
              <a:t>人才选拔</a:t>
            </a:r>
          </a:p>
        </p:txBody>
      </p:sp>
      <p:sp>
        <p:nvSpPr>
          <p:cNvPr id="59" name="文本框 58"/>
          <p:cNvSpPr txBox="1"/>
          <p:nvPr>
            <p:custDataLst>
              <p:tags r:id="rId10"/>
            </p:custDataLst>
          </p:nvPr>
        </p:nvSpPr>
        <p:spPr>
          <a:xfrm>
            <a:off x="1503045" y="5144770"/>
            <a:ext cx="1356360" cy="368300"/>
          </a:xfrm>
          <a:prstGeom prst="rect">
            <a:avLst/>
          </a:prstGeom>
          <a:noFill/>
        </p:spPr>
        <p:txBody>
          <a:bodyPr wrap="square" rtlCol="0">
            <a:spAutoFit/>
          </a:bodyPr>
          <a:lstStyle/>
          <a:p>
            <a:pPr algn="ctr"/>
            <a:r>
              <a:rPr lang="zh-CN" altLang="en-US" b="1">
                <a:solidFill>
                  <a:schemeClr val="bg1"/>
                </a:solidFill>
              </a:rPr>
              <a:t>小组研究</a:t>
            </a:r>
          </a:p>
        </p:txBody>
      </p:sp>
      <p:sp>
        <p:nvSpPr>
          <p:cNvPr id="60" name="文本框 59"/>
          <p:cNvSpPr txBox="1"/>
          <p:nvPr>
            <p:custDataLst>
              <p:tags r:id="rId11"/>
            </p:custDataLst>
          </p:nvPr>
        </p:nvSpPr>
        <p:spPr>
          <a:xfrm>
            <a:off x="688340" y="3729355"/>
            <a:ext cx="1356360" cy="368300"/>
          </a:xfrm>
          <a:prstGeom prst="rect">
            <a:avLst/>
          </a:prstGeom>
          <a:noFill/>
        </p:spPr>
        <p:txBody>
          <a:bodyPr wrap="square" rtlCol="0">
            <a:spAutoFit/>
          </a:bodyPr>
          <a:lstStyle/>
          <a:p>
            <a:pPr algn="ctr"/>
            <a:r>
              <a:rPr lang="zh-CN" altLang="en-US" b="1">
                <a:solidFill>
                  <a:schemeClr val="bg1"/>
                </a:solidFill>
              </a:rPr>
              <a:t>投研举手</a:t>
            </a:r>
          </a:p>
        </p:txBody>
      </p:sp>
      <p:pic>
        <p:nvPicPr>
          <p:cNvPr id="61" name="图片 60" descr="1"/>
          <p:cNvPicPr>
            <a:picLocks noChangeAspect="1"/>
          </p:cNvPicPr>
          <p:nvPr>
            <p:custDataLst>
              <p:tags r:id="rId12"/>
            </p:custDataLst>
          </p:nvPr>
        </p:nvPicPr>
        <p:blipFill>
          <a:blip r:embed="rId52"/>
          <a:stretch>
            <a:fillRect/>
          </a:stretch>
        </p:blipFill>
        <p:spPr>
          <a:xfrm>
            <a:off x="1953260" y="1796415"/>
            <a:ext cx="450215" cy="450215"/>
          </a:xfrm>
          <a:prstGeom prst="rect">
            <a:avLst/>
          </a:prstGeom>
        </p:spPr>
      </p:pic>
      <p:pic>
        <p:nvPicPr>
          <p:cNvPr id="62" name="图片 61" descr="2"/>
          <p:cNvPicPr>
            <a:picLocks noChangeAspect="1"/>
          </p:cNvPicPr>
          <p:nvPr>
            <p:custDataLst>
              <p:tags r:id="rId13"/>
            </p:custDataLst>
          </p:nvPr>
        </p:nvPicPr>
        <p:blipFill>
          <a:blip r:embed="rId53"/>
          <a:stretch>
            <a:fillRect/>
          </a:stretch>
        </p:blipFill>
        <p:spPr>
          <a:xfrm>
            <a:off x="3597275" y="1804670"/>
            <a:ext cx="441960" cy="441960"/>
          </a:xfrm>
          <a:prstGeom prst="rect">
            <a:avLst/>
          </a:prstGeom>
        </p:spPr>
      </p:pic>
      <p:pic>
        <p:nvPicPr>
          <p:cNvPr id="63" name="图片 62" descr="3"/>
          <p:cNvPicPr>
            <a:picLocks noChangeAspect="1"/>
          </p:cNvPicPr>
          <p:nvPr>
            <p:custDataLst>
              <p:tags r:id="rId14"/>
            </p:custDataLst>
          </p:nvPr>
        </p:nvPicPr>
        <p:blipFill>
          <a:blip r:embed="rId54"/>
          <a:stretch>
            <a:fillRect/>
          </a:stretch>
        </p:blipFill>
        <p:spPr>
          <a:xfrm>
            <a:off x="4378960" y="3195320"/>
            <a:ext cx="461645" cy="461645"/>
          </a:xfrm>
          <a:prstGeom prst="rect">
            <a:avLst/>
          </a:prstGeom>
        </p:spPr>
      </p:pic>
      <p:pic>
        <p:nvPicPr>
          <p:cNvPr id="64" name="图片 63" descr="4"/>
          <p:cNvPicPr>
            <a:picLocks noChangeAspect="1"/>
          </p:cNvPicPr>
          <p:nvPr>
            <p:custDataLst>
              <p:tags r:id="rId15"/>
            </p:custDataLst>
          </p:nvPr>
        </p:nvPicPr>
        <p:blipFill>
          <a:blip r:embed="rId55"/>
          <a:stretch>
            <a:fillRect/>
          </a:stretch>
        </p:blipFill>
        <p:spPr>
          <a:xfrm>
            <a:off x="3580765" y="4613275"/>
            <a:ext cx="499110" cy="499110"/>
          </a:xfrm>
          <a:prstGeom prst="rect">
            <a:avLst/>
          </a:prstGeom>
        </p:spPr>
      </p:pic>
      <p:pic>
        <p:nvPicPr>
          <p:cNvPr id="65" name="图片 64" descr="5"/>
          <p:cNvPicPr>
            <a:picLocks noChangeAspect="1"/>
          </p:cNvPicPr>
          <p:nvPr>
            <p:custDataLst>
              <p:tags r:id="rId16"/>
            </p:custDataLst>
          </p:nvPr>
        </p:nvPicPr>
        <p:blipFill>
          <a:blip r:embed="rId56"/>
          <a:stretch>
            <a:fillRect/>
          </a:stretch>
        </p:blipFill>
        <p:spPr>
          <a:xfrm>
            <a:off x="1933575" y="4596765"/>
            <a:ext cx="469900" cy="469900"/>
          </a:xfrm>
          <a:prstGeom prst="rect">
            <a:avLst/>
          </a:prstGeom>
        </p:spPr>
      </p:pic>
      <p:pic>
        <p:nvPicPr>
          <p:cNvPr id="66" name="图片 65" descr="6"/>
          <p:cNvPicPr>
            <a:picLocks noChangeAspect="1"/>
          </p:cNvPicPr>
          <p:nvPr>
            <p:custDataLst>
              <p:tags r:id="rId17"/>
            </p:custDataLst>
          </p:nvPr>
        </p:nvPicPr>
        <p:blipFill>
          <a:blip r:embed="rId57"/>
          <a:stretch>
            <a:fillRect/>
          </a:stretch>
        </p:blipFill>
        <p:spPr>
          <a:xfrm>
            <a:off x="1095375" y="3114675"/>
            <a:ext cx="542290" cy="542290"/>
          </a:xfrm>
          <a:prstGeom prst="rect">
            <a:avLst/>
          </a:prstGeom>
        </p:spPr>
      </p:pic>
      <p:grpSp>
        <p:nvGrpSpPr>
          <p:cNvPr id="67" name="图形 3"/>
          <p:cNvGrpSpPr/>
          <p:nvPr>
            <p:custDataLst>
              <p:tags r:id="rId18"/>
            </p:custDataLst>
          </p:nvPr>
        </p:nvGrpSpPr>
        <p:grpSpPr>
          <a:xfrm>
            <a:off x="6603415" y="1389430"/>
            <a:ext cx="5250815" cy="747395"/>
            <a:chOff x="730300" y="1687880"/>
            <a:chExt cx="5250815" cy="747395"/>
          </a:xfrm>
        </p:grpSpPr>
        <p:grpSp>
          <p:nvGrpSpPr>
            <p:cNvPr id="68" name="图形 3"/>
            <p:cNvGrpSpPr/>
            <p:nvPr/>
          </p:nvGrpSpPr>
          <p:grpSpPr>
            <a:xfrm>
              <a:off x="819150" y="1687880"/>
              <a:ext cx="1116330" cy="350520"/>
              <a:chOff x="819150" y="1687880"/>
              <a:chExt cx="1116330" cy="350520"/>
            </a:xfrm>
          </p:grpSpPr>
          <p:sp>
            <p:nvSpPr>
              <p:cNvPr id="70" name="任意多边形: 形状 18"/>
              <p:cNvSpPr/>
              <p:nvPr>
                <p:custDataLst>
                  <p:tags r:id="rId46"/>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solidFill>
                    <a:srgbClr val="D12920"/>
                  </a:solidFill>
                </a:endParaRPr>
              </a:p>
            </p:txBody>
          </p:sp>
          <p:sp>
            <p:nvSpPr>
              <p:cNvPr id="71" name="文本框 70"/>
              <p:cNvSpPr txBox="1"/>
              <p:nvPr>
                <p:custDataLst>
                  <p:tags r:id="rId47"/>
                </p:custDataLst>
              </p:nvPr>
            </p:nvSpPr>
            <p:spPr>
              <a:xfrm>
                <a:off x="876369" y="1694230"/>
                <a:ext cx="995680" cy="337185"/>
              </a:xfrm>
              <a:prstGeom prst="rect">
                <a:avLst/>
              </a:prstGeom>
              <a:noFill/>
            </p:spPr>
            <p:txBody>
              <a:bodyPr wrap="non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日常协调</a:t>
                </a:r>
              </a:p>
            </p:txBody>
          </p:sp>
        </p:grpSp>
        <p:sp>
          <p:nvSpPr>
            <p:cNvPr id="69" name="文本框 68"/>
            <p:cNvSpPr txBox="1"/>
            <p:nvPr>
              <p:custDataLst>
                <p:tags r:id="rId45"/>
              </p:custDataLst>
            </p:nvPr>
          </p:nvSpPr>
          <p:spPr>
            <a:xfrm>
              <a:off x="730300" y="2128570"/>
              <a:ext cx="5250815" cy="306705"/>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zh-CN" altLang="en-US" sz="1400" dirty="0">
                  <a:latin typeface="微软雅黑" panose="020B0503020204020204" pitchFamily="34" charset="-122"/>
                  <a:ea typeface="微软雅黑" panose="020B0503020204020204" pitchFamily="34" charset="-122"/>
                  <a:sym typeface="+mn-ea"/>
                </a:rPr>
                <a:t>晨会、即时沟通、</a:t>
              </a:r>
              <a:r>
                <a:rPr kumimoji="1" lang="en-US" altLang="zh-CN" sz="1400" dirty="0">
                  <a:latin typeface="微软雅黑" panose="020B0503020204020204" pitchFamily="34" charset="-122"/>
                  <a:ea typeface="微软雅黑" panose="020B0503020204020204" pitchFamily="34" charset="-122"/>
                  <a:sym typeface="+mn-ea"/>
                </a:rPr>
                <a:t>AI</a:t>
              </a:r>
              <a:r>
                <a:rPr kumimoji="1" lang="zh-CN" altLang="en-US" sz="1400" dirty="0">
                  <a:latin typeface="微软雅黑" panose="020B0503020204020204" pitchFamily="34" charset="-122"/>
                  <a:ea typeface="微软雅黑" panose="020B0503020204020204" pitchFamily="34" charset="-122"/>
                  <a:sym typeface="+mn-ea"/>
                </a:rPr>
                <a:t>赋能市场信息发现和挖掘</a:t>
              </a:r>
              <a:endParaRPr lang="zh-CN" altLang="en-US" sz="1400" spc="0" baseline="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grpSp>
        <p:nvGrpSpPr>
          <p:cNvPr id="72" name="图形 3"/>
          <p:cNvGrpSpPr/>
          <p:nvPr>
            <p:custDataLst>
              <p:tags r:id="rId19"/>
            </p:custDataLst>
          </p:nvPr>
        </p:nvGrpSpPr>
        <p:grpSpPr>
          <a:xfrm>
            <a:off x="6603415" y="2411780"/>
            <a:ext cx="5250815" cy="747395"/>
            <a:chOff x="730300" y="1687880"/>
            <a:chExt cx="5250815" cy="747395"/>
          </a:xfrm>
        </p:grpSpPr>
        <p:grpSp>
          <p:nvGrpSpPr>
            <p:cNvPr id="73" name="图形 3"/>
            <p:cNvGrpSpPr/>
            <p:nvPr/>
          </p:nvGrpSpPr>
          <p:grpSpPr>
            <a:xfrm>
              <a:off x="819150" y="1687880"/>
              <a:ext cx="1116330" cy="350520"/>
              <a:chOff x="819150" y="1687880"/>
              <a:chExt cx="1116330" cy="350520"/>
            </a:xfrm>
          </p:grpSpPr>
          <p:sp>
            <p:nvSpPr>
              <p:cNvPr id="75" name="任意多边形: 形状 18"/>
              <p:cNvSpPr/>
              <p:nvPr>
                <p:custDataLst>
                  <p:tags r:id="rId43"/>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p>
            </p:txBody>
          </p:sp>
          <p:sp>
            <p:nvSpPr>
              <p:cNvPr id="76" name="文本框 75"/>
              <p:cNvSpPr txBox="1"/>
              <p:nvPr>
                <p:custDataLst>
                  <p:tags r:id="rId44"/>
                </p:custDataLst>
              </p:nvPr>
            </p:nvSpPr>
            <p:spPr>
              <a:xfrm>
                <a:off x="876369" y="1694230"/>
                <a:ext cx="995680" cy="337185"/>
              </a:xfrm>
              <a:prstGeom prst="rect">
                <a:avLst/>
              </a:prstGeom>
              <a:noFill/>
            </p:spPr>
            <p:txBody>
              <a:bodyPr wrap="non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月度总结</a:t>
                </a:r>
              </a:p>
            </p:txBody>
          </p:sp>
        </p:grpSp>
        <p:sp>
          <p:nvSpPr>
            <p:cNvPr id="74" name="文本框 73"/>
            <p:cNvSpPr txBox="1"/>
            <p:nvPr>
              <p:custDataLst>
                <p:tags r:id="rId42"/>
              </p:custDataLst>
            </p:nvPr>
          </p:nvSpPr>
          <p:spPr>
            <a:xfrm>
              <a:off x="730300" y="2128570"/>
              <a:ext cx="5250815" cy="306705"/>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en-US" altLang="zh-CN" sz="1400" dirty="0">
                  <a:latin typeface="微软雅黑" panose="020B0503020204020204" pitchFamily="34" charset="-122"/>
                  <a:ea typeface="微软雅黑" panose="020B0503020204020204" pitchFamily="34" charset="-122"/>
                  <a:sym typeface="+mn-ea"/>
                </a:rPr>
                <a:t>FOF</a:t>
              </a:r>
              <a:r>
                <a:rPr kumimoji="1" lang="zh-CN" altLang="en-US" sz="1400" dirty="0">
                  <a:latin typeface="微软雅黑" panose="020B0503020204020204" pitchFamily="34" charset="-122"/>
                  <a:ea typeface="微软雅黑" panose="020B0503020204020204" pitchFamily="34" charset="-122"/>
                  <a:sym typeface="+mn-ea"/>
                </a:rPr>
                <a:t>投委会月度会议：业绩归因、策略调整、组合调整</a:t>
              </a:r>
              <a:endParaRPr lang="zh-CN" altLang="en-US" sz="1400" spc="0" baseline="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grpSp>
        <p:nvGrpSpPr>
          <p:cNvPr id="77" name="图形 3"/>
          <p:cNvGrpSpPr/>
          <p:nvPr>
            <p:custDataLst>
              <p:tags r:id="rId20"/>
            </p:custDataLst>
          </p:nvPr>
        </p:nvGrpSpPr>
        <p:grpSpPr>
          <a:xfrm>
            <a:off x="6603415" y="3378885"/>
            <a:ext cx="5250815" cy="699770"/>
            <a:chOff x="730300" y="1687880"/>
            <a:chExt cx="5250815" cy="699770"/>
          </a:xfrm>
        </p:grpSpPr>
        <p:grpSp>
          <p:nvGrpSpPr>
            <p:cNvPr id="78" name="图形 3"/>
            <p:cNvGrpSpPr/>
            <p:nvPr/>
          </p:nvGrpSpPr>
          <p:grpSpPr>
            <a:xfrm>
              <a:off x="819150" y="1687880"/>
              <a:ext cx="1116330" cy="350520"/>
              <a:chOff x="819150" y="1687880"/>
              <a:chExt cx="1116330" cy="350520"/>
            </a:xfrm>
          </p:grpSpPr>
          <p:sp>
            <p:nvSpPr>
              <p:cNvPr id="80" name="任意多边形: 形状 18"/>
              <p:cNvSpPr/>
              <p:nvPr>
                <p:custDataLst>
                  <p:tags r:id="rId40"/>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p>
            </p:txBody>
          </p:sp>
          <p:sp>
            <p:nvSpPr>
              <p:cNvPr id="81" name="文本框 80"/>
              <p:cNvSpPr txBox="1"/>
              <p:nvPr>
                <p:custDataLst>
                  <p:tags r:id="rId41"/>
                </p:custDataLst>
              </p:nvPr>
            </p:nvSpPr>
            <p:spPr>
              <a:xfrm>
                <a:off x="876369" y="1694230"/>
                <a:ext cx="995680" cy="337185"/>
              </a:xfrm>
              <a:prstGeom prst="rect">
                <a:avLst/>
              </a:prstGeom>
              <a:noFill/>
            </p:spPr>
            <p:txBody>
              <a:bodyPr wrap="non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季度规划</a:t>
                </a:r>
              </a:p>
            </p:txBody>
          </p:sp>
        </p:grpSp>
        <p:sp>
          <p:nvSpPr>
            <p:cNvPr id="79" name="文本框 78"/>
            <p:cNvSpPr txBox="1"/>
            <p:nvPr>
              <p:custDataLst>
                <p:tags r:id="rId39"/>
              </p:custDataLst>
            </p:nvPr>
          </p:nvSpPr>
          <p:spPr>
            <a:xfrm>
              <a:off x="730300" y="2080945"/>
              <a:ext cx="5250815" cy="306705"/>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zh-CN" altLang="en-US" sz="1400" dirty="0">
                  <a:latin typeface="微软雅黑" panose="020B0503020204020204" pitchFamily="34" charset="-122"/>
                  <a:ea typeface="微软雅黑" panose="020B0503020204020204" pitchFamily="34" charset="-122"/>
                  <a:sym typeface="+mn-ea"/>
                </a:rPr>
                <a:t>部门层面在业务、投资上进行战略复盘、整合资源配置</a:t>
              </a:r>
              <a:endParaRPr lang="zh-CN" altLang="en-US" sz="1400" spc="0" baseline="0" dirty="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grpSp>
        <p:nvGrpSpPr>
          <p:cNvPr id="82" name="图形 3"/>
          <p:cNvGrpSpPr/>
          <p:nvPr>
            <p:custDataLst>
              <p:tags r:id="rId21"/>
            </p:custDataLst>
          </p:nvPr>
        </p:nvGrpSpPr>
        <p:grpSpPr>
          <a:xfrm>
            <a:off x="6603415" y="4501565"/>
            <a:ext cx="5250815" cy="924560"/>
            <a:chOff x="730300" y="1687880"/>
            <a:chExt cx="5250815" cy="924560"/>
          </a:xfrm>
        </p:grpSpPr>
        <p:grpSp>
          <p:nvGrpSpPr>
            <p:cNvPr id="83" name="图形 3"/>
            <p:cNvGrpSpPr/>
            <p:nvPr/>
          </p:nvGrpSpPr>
          <p:grpSpPr>
            <a:xfrm>
              <a:off x="819150" y="1687880"/>
              <a:ext cx="3338195" cy="350520"/>
              <a:chOff x="819150" y="1687880"/>
              <a:chExt cx="3338195" cy="350520"/>
            </a:xfrm>
          </p:grpSpPr>
          <p:sp>
            <p:nvSpPr>
              <p:cNvPr id="85" name="任意多边形: 形状 18"/>
              <p:cNvSpPr/>
              <p:nvPr>
                <p:custDataLst>
                  <p:tags r:id="rId37"/>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p>
            </p:txBody>
          </p:sp>
          <p:sp>
            <p:nvSpPr>
              <p:cNvPr id="86" name="文本框 85"/>
              <p:cNvSpPr txBox="1"/>
              <p:nvPr>
                <p:custDataLst>
                  <p:tags r:id="rId38"/>
                </p:custDataLst>
              </p:nvPr>
            </p:nvSpPr>
            <p:spPr>
              <a:xfrm>
                <a:off x="876300" y="1694230"/>
                <a:ext cx="3281045" cy="337185"/>
              </a:xfrm>
              <a:prstGeom prst="rect">
                <a:avLst/>
              </a:prstGeom>
              <a:noFill/>
            </p:spPr>
            <p:txBody>
              <a:bodyPr wrap="squar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重大决策</a:t>
                </a:r>
              </a:p>
            </p:txBody>
          </p:sp>
        </p:grpSp>
        <p:sp>
          <p:nvSpPr>
            <p:cNvPr id="84" name="文本框 83"/>
            <p:cNvSpPr txBox="1"/>
            <p:nvPr>
              <p:custDataLst>
                <p:tags r:id="rId36"/>
              </p:custDataLst>
            </p:nvPr>
          </p:nvSpPr>
          <p:spPr>
            <a:xfrm>
              <a:off x="730300" y="2090470"/>
              <a:ext cx="5250815" cy="521970"/>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zh-CN" altLang="en-US" sz="1400" dirty="0">
                  <a:latin typeface="微软雅黑" panose="020B0503020204020204" pitchFamily="34" charset="-122"/>
                  <a:ea typeface="微软雅黑" panose="020B0503020204020204" pitchFamily="34" charset="-122"/>
                  <a:sym typeface="+mn-ea"/>
                </a:rPr>
                <a:t>建设并充分利用重大投资集体决策机制，突出集体智慧的形成与复用</a:t>
              </a:r>
              <a:endParaRPr lang="zh-CN" altLang="en-US" sz="1400" spc="0" baseline="0" dirty="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sp>
        <p:nvSpPr>
          <p:cNvPr id="87" name="矩形 86"/>
          <p:cNvSpPr/>
          <p:nvPr>
            <p:custDataLst>
              <p:tags r:id="rId22"/>
            </p:custDataLst>
          </p:nvPr>
        </p:nvSpPr>
        <p:spPr>
          <a:xfrm>
            <a:off x="6196965" y="138811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8" name="文本框 87"/>
          <p:cNvSpPr txBox="1"/>
          <p:nvPr>
            <p:custDataLst>
              <p:tags r:id="rId23"/>
            </p:custDataLst>
          </p:nvPr>
        </p:nvSpPr>
        <p:spPr>
          <a:xfrm>
            <a:off x="6156960" y="1376045"/>
            <a:ext cx="429895" cy="368300"/>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1</a:t>
            </a:r>
          </a:p>
        </p:txBody>
      </p:sp>
      <p:sp>
        <p:nvSpPr>
          <p:cNvPr id="89" name="矩形 88"/>
          <p:cNvSpPr/>
          <p:nvPr>
            <p:custDataLst>
              <p:tags r:id="rId24"/>
            </p:custDataLst>
          </p:nvPr>
        </p:nvSpPr>
        <p:spPr>
          <a:xfrm>
            <a:off x="6196965" y="239903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0" name="文本框 89"/>
          <p:cNvSpPr txBox="1"/>
          <p:nvPr>
            <p:custDataLst>
              <p:tags r:id="rId25"/>
            </p:custDataLst>
          </p:nvPr>
        </p:nvSpPr>
        <p:spPr>
          <a:xfrm>
            <a:off x="6156960" y="2386965"/>
            <a:ext cx="429895" cy="368300"/>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2</a:t>
            </a:r>
          </a:p>
        </p:txBody>
      </p:sp>
      <p:sp>
        <p:nvSpPr>
          <p:cNvPr id="91" name="矩形 90"/>
          <p:cNvSpPr/>
          <p:nvPr>
            <p:custDataLst>
              <p:tags r:id="rId26"/>
            </p:custDataLst>
          </p:nvPr>
        </p:nvSpPr>
        <p:spPr>
          <a:xfrm>
            <a:off x="6196965" y="337312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2" name="文本框 91"/>
          <p:cNvSpPr txBox="1"/>
          <p:nvPr>
            <p:custDataLst>
              <p:tags r:id="rId27"/>
            </p:custDataLst>
          </p:nvPr>
        </p:nvSpPr>
        <p:spPr>
          <a:xfrm>
            <a:off x="6156960" y="3361055"/>
            <a:ext cx="429895" cy="368300"/>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3</a:t>
            </a:r>
          </a:p>
        </p:txBody>
      </p:sp>
      <p:sp>
        <p:nvSpPr>
          <p:cNvPr id="93" name="矩形 92"/>
          <p:cNvSpPr/>
          <p:nvPr>
            <p:custDataLst>
              <p:tags r:id="rId28"/>
            </p:custDataLst>
          </p:nvPr>
        </p:nvSpPr>
        <p:spPr>
          <a:xfrm>
            <a:off x="6196965" y="449580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4" name="文本框 93"/>
          <p:cNvSpPr txBox="1"/>
          <p:nvPr>
            <p:custDataLst>
              <p:tags r:id="rId29"/>
            </p:custDataLst>
          </p:nvPr>
        </p:nvSpPr>
        <p:spPr>
          <a:xfrm>
            <a:off x="6156960" y="4483735"/>
            <a:ext cx="429895" cy="368300"/>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p>
        </p:txBody>
      </p:sp>
      <p:pic>
        <p:nvPicPr>
          <p:cNvPr id="95" name="图片 94" descr="六边形"/>
          <p:cNvPicPr>
            <a:picLocks noChangeAspect="1"/>
          </p:cNvPicPr>
          <p:nvPr>
            <p:custDataLst>
              <p:tags r:id="rId30"/>
            </p:custDataLst>
          </p:nvPr>
        </p:nvPicPr>
        <p:blipFill>
          <a:blip r:embed="rId51"/>
          <a:stretch>
            <a:fillRect/>
          </a:stretch>
        </p:blipFill>
        <p:spPr>
          <a:xfrm>
            <a:off x="1452245" y="4322445"/>
            <a:ext cx="1757680" cy="1880870"/>
          </a:xfrm>
          <a:prstGeom prst="rect">
            <a:avLst/>
          </a:prstGeom>
        </p:spPr>
      </p:pic>
      <p:pic>
        <p:nvPicPr>
          <p:cNvPr id="96" name="图片 95" descr="六边形"/>
          <p:cNvPicPr>
            <a:picLocks noChangeAspect="1"/>
          </p:cNvPicPr>
          <p:nvPr>
            <p:custDataLst>
              <p:tags r:id="rId31"/>
            </p:custDataLst>
          </p:nvPr>
        </p:nvPicPr>
        <p:blipFill>
          <a:blip r:embed="rId51"/>
          <a:stretch>
            <a:fillRect/>
          </a:stretch>
        </p:blipFill>
        <p:spPr>
          <a:xfrm>
            <a:off x="3093720" y="4322445"/>
            <a:ext cx="1757680" cy="1880870"/>
          </a:xfrm>
          <a:prstGeom prst="rect">
            <a:avLst/>
          </a:prstGeom>
        </p:spPr>
      </p:pic>
      <p:sp>
        <p:nvSpPr>
          <p:cNvPr id="97" name="文本框 96"/>
          <p:cNvSpPr txBox="1"/>
          <p:nvPr>
            <p:custDataLst>
              <p:tags r:id="rId32"/>
            </p:custDataLst>
          </p:nvPr>
        </p:nvSpPr>
        <p:spPr>
          <a:xfrm>
            <a:off x="3294380" y="5297170"/>
            <a:ext cx="1356360" cy="368300"/>
          </a:xfrm>
          <a:prstGeom prst="rect">
            <a:avLst/>
          </a:prstGeom>
          <a:noFill/>
        </p:spPr>
        <p:txBody>
          <a:bodyPr wrap="square" rtlCol="0">
            <a:spAutoFit/>
          </a:bodyPr>
          <a:lstStyle/>
          <a:p>
            <a:pPr algn="ctr"/>
            <a:r>
              <a:rPr lang="zh-CN" altLang="en-US" b="1">
                <a:solidFill>
                  <a:schemeClr val="bg1"/>
                </a:solidFill>
              </a:rPr>
              <a:t>人才选拔</a:t>
            </a:r>
          </a:p>
        </p:txBody>
      </p:sp>
      <p:sp>
        <p:nvSpPr>
          <p:cNvPr id="98" name="文本框 97"/>
          <p:cNvSpPr txBox="1"/>
          <p:nvPr>
            <p:custDataLst>
              <p:tags r:id="rId33"/>
            </p:custDataLst>
          </p:nvPr>
        </p:nvSpPr>
        <p:spPr>
          <a:xfrm>
            <a:off x="1655445" y="5297170"/>
            <a:ext cx="1356360" cy="368300"/>
          </a:xfrm>
          <a:prstGeom prst="rect">
            <a:avLst/>
          </a:prstGeom>
          <a:noFill/>
        </p:spPr>
        <p:txBody>
          <a:bodyPr wrap="square" rtlCol="0">
            <a:spAutoFit/>
          </a:bodyPr>
          <a:lstStyle/>
          <a:p>
            <a:pPr algn="ctr"/>
            <a:r>
              <a:rPr lang="zh-CN" altLang="en-US" b="1">
                <a:solidFill>
                  <a:schemeClr val="bg1"/>
                </a:solidFill>
              </a:rPr>
              <a:t>小组研究</a:t>
            </a:r>
          </a:p>
        </p:txBody>
      </p:sp>
      <p:pic>
        <p:nvPicPr>
          <p:cNvPr id="99" name="图片 98" descr="4"/>
          <p:cNvPicPr>
            <a:picLocks noChangeAspect="1"/>
          </p:cNvPicPr>
          <p:nvPr>
            <p:custDataLst>
              <p:tags r:id="rId34"/>
            </p:custDataLst>
          </p:nvPr>
        </p:nvPicPr>
        <p:blipFill>
          <a:blip r:embed="rId55"/>
          <a:stretch>
            <a:fillRect/>
          </a:stretch>
        </p:blipFill>
        <p:spPr>
          <a:xfrm>
            <a:off x="3733165" y="4765675"/>
            <a:ext cx="499110" cy="499110"/>
          </a:xfrm>
          <a:prstGeom prst="rect">
            <a:avLst/>
          </a:prstGeom>
        </p:spPr>
      </p:pic>
      <p:pic>
        <p:nvPicPr>
          <p:cNvPr id="100" name="图片 99" descr="5"/>
          <p:cNvPicPr>
            <a:picLocks noChangeAspect="1"/>
          </p:cNvPicPr>
          <p:nvPr>
            <p:custDataLst>
              <p:tags r:id="rId35"/>
            </p:custDataLst>
          </p:nvPr>
        </p:nvPicPr>
        <p:blipFill>
          <a:blip r:embed="rId56"/>
          <a:stretch>
            <a:fillRect/>
          </a:stretch>
        </p:blipFill>
        <p:spPr>
          <a:xfrm>
            <a:off x="2085975" y="4749165"/>
            <a:ext cx="469900" cy="469900"/>
          </a:xfrm>
          <a:prstGeom prst="rect">
            <a:avLst/>
          </a:prstGeom>
        </p:spPr>
      </p:pic>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animEffect transition="in" filter="fade">
                                      <p:cBhvr>
                                        <p:cTn id="21" dur="500"/>
                                        <p:tgtEl>
                                          <p:spTgt spid="29"/>
                                        </p:tgtEl>
                                      </p:cBhvr>
                                    </p:animEffect>
                                  </p:childTnLst>
                                </p:cTn>
                              </p:par>
                            </p:childTnLst>
                          </p:cTn>
                        </p:par>
                        <p:par>
                          <p:cTn id="22" fill="hold">
                            <p:stCondLst>
                              <p:cond delay="1500"/>
                            </p:stCondLst>
                            <p:childTnLst>
                              <p:par>
                                <p:cTn id="23" presetID="2" presetClass="entr" presetSubtype="8" fill="hold" nodeType="after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0-#ppt_w/2"/>
                                          </p:val>
                                        </p:tav>
                                        <p:tav tm="100000">
                                          <p:val>
                                            <p:strVal val="#ppt_x"/>
                                          </p:val>
                                        </p:tav>
                                      </p:tavLst>
                                    </p:anim>
                                    <p:anim calcmode="lin" valueType="num">
                                      <p:cBhvr additive="base">
                                        <p:cTn id="26" dur="500" fill="hold"/>
                                        <p:tgtEl>
                                          <p:spTgt spid="41"/>
                                        </p:tgtEl>
                                        <p:attrNameLst>
                                          <p:attrName>ppt_y</p:attrName>
                                        </p:attrNameLst>
                                      </p:cBhvr>
                                      <p:tavLst>
                                        <p:tav tm="0">
                                          <p:val>
                                            <p:strVal val="#ppt_y"/>
                                          </p:val>
                                        </p:tav>
                                        <p:tav tm="100000">
                                          <p:val>
                                            <p:strVal val="#ppt_y"/>
                                          </p:val>
                                        </p:tav>
                                      </p:tavLst>
                                    </p:anim>
                                  </p:childTnLst>
                                </p:cTn>
                              </p:par>
                            </p:childTnLst>
                          </p:cTn>
                        </p:par>
                        <p:par>
                          <p:cTn id="27" fill="hold">
                            <p:stCondLst>
                              <p:cond delay="2000"/>
                            </p:stCondLst>
                            <p:childTnLst>
                              <p:par>
                                <p:cTn id="28" presetID="29" presetClass="entr" presetSubtype="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p:cTn id="30" dur="500" fill="hold"/>
                                        <p:tgtEl>
                                          <p:spTgt spid="44"/>
                                        </p:tgtEl>
                                        <p:attrNameLst>
                                          <p:attrName>ppt_x</p:attrName>
                                        </p:attrNameLst>
                                      </p:cBhvr>
                                      <p:tavLst>
                                        <p:tav tm="0">
                                          <p:val>
                                            <p:strVal val="#ppt_x-.2"/>
                                          </p:val>
                                        </p:tav>
                                        <p:tav tm="100000">
                                          <p:val>
                                            <p:strVal val="#ppt_x"/>
                                          </p:val>
                                        </p:tav>
                                      </p:tavLst>
                                    </p:anim>
                                    <p:anim calcmode="lin" valueType="num">
                                      <p:cBhvr>
                                        <p:cTn id="31"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3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全流程定量定性相结合的投资策略池：资产配置</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文本框 45"/>
          <p:cNvSpPr txBox="1"/>
          <p:nvPr/>
        </p:nvSpPr>
        <p:spPr>
          <a:xfrm>
            <a:off x="513430" y="1053783"/>
            <a:ext cx="11621770" cy="933589"/>
          </a:xfrm>
          <a:prstGeom prst="rect">
            <a:avLst/>
          </a:prstGeom>
          <a:noFill/>
        </p:spPr>
        <p:txBody>
          <a:bodyPr wrap="square" rtlCol="0">
            <a:spAutoFit/>
          </a:bodyPr>
          <a:lstStyle/>
          <a:p>
            <a:pPr marL="285750" indent="-285750" defTabSz="1304290">
              <a:lnSpc>
                <a:spcPct val="150000"/>
              </a:lnSpc>
              <a:spcBef>
                <a:spcPts val="360"/>
              </a:spcBef>
              <a:spcAft>
                <a:spcPts val="360"/>
              </a:spcAft>
              <a:buClr>
                <a:srgbClr val="C00000"/>
              </a:buClr>
              <a:buFont typeface="Wingdings" panose="05000000000000000000" pitchFamily="2" charset="2"/>
              <a:buChar char="p"/>
            </a:pPr>
            <a:r>
              <a:rPr sz="1600" dirty="0" err="1">
                <a:latin typeface="微软雅黑" panose="020B0503020204020204" pitchFamily="34" charset="-122"/>
                <a:ea typeface="微软雅黑" panose="020B0503020204020204" pitchFamily="34" charset="-122"/>
                <a:cs typeface="微软雅黑" panose="020B0503020204020204" pitchFamily="34" charset="-122"/>
              </a:rPr>
              <a:t>定量定性相结合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确定</a:t>
            </a:r>
            <a:r>
              <a:rPr sz="1600" dirty="0" err="1">
                <a:latin typeface="微软雅黑" panose="020B0503020204020204" pitchFamily="34" charset="-122"/>
                <a:ea typeface="微软雅黑" panose="020B0503020204020204" pitchFamily="34" charset="-122"/>
                <a:cs typeface="微软雅黑" panose="020B0503020204020204" pitchFamily="34" charset="-122"/>
              </a:rPr>
              <a:t>投资策略池</a:t>
            </a:r>
            <a:r>
              <a:rPr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主要分为</a:t>
            </a:r>
            <a:r>
              <a:rPr sz="1600" dirty="0" err="1">
                <a:latin typeface="微软雅黑" panose="020B0503020204020204" pitchFamily="34" charset="-122"/>
                <a:ea typeface="微软雅黑" panose="020B0503020204020204" pitchFamily="34" charset="-122"/>
                <a:cs typeface="微软雅黑" panose="020B0503020204020204" pitchFamily="34" charset="-122"/>
              </a:rPr>
              <a:t>资产配置</a:t>
            </a:r>
            <a:r>
              <a:rPr sz="1600" dirty="0" err="1" smtClean="0">
                <a:latin typeface="微软雅黑" panose="020B0503020204020204" pitchFamily="34" charset="-122"/>
                <a:ea typeface="微软雅黑" panose="020B0503020204020204" pitchFamily="34" charset="-122"/>
                <a:cs typeface="微软雅黑" panose="020B0503020204020204" pitchFamily="34" charset="-122"/>
              </a:rPr>
              <a:t>、ETF轮动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ETF</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收益增强</a:t>
            </a:r>
            <a:r>
              <a:rPr sz="1600" dirty="0" err="1" smtClean="0">
                <a:latin typeface="微软雅黑" panose="020B0503020204020204" pitchFamily="34" charset="-122"/>
                <a:ea typeface="微软雅黑" panose="020B0503020204020204" pitchFamily="34" charset="-122"/>
                <a:cs typeface="微软雅黑" panose="020B0503020204020204" pitchFamily="34" charset="-122"/>
              </a:rPr>
              <a:t>三个维度</a:t>
            </a:r>
            <a:r>
              <a:rPr sz="1600" dirty="0">
                <a:latin typeface="微软雅黑" panose="020B0503020204020204" pitchFamily="34" charset="-122"/>
                <a:ea typeface="微软雅黑" panose="020B0503020204020204" pitchFamily="34" charset="-122"/>
                <a:cs typeface="微软雅黑" panose="020B0503020204020204" pitchFamily="34" charset="-122"/>
              </a:rPr>
              <a:t>。</a:t>
            </a:r>
          </a:p>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资产配置模型对整体组合资产达成风险预算、回撤控制起到重要作用。</a:t>
            </a:r>
          </a:p>
        </p:txBody>
      </p:sp>
      <p:pic>
        <p:nvPicPr>
          <p:cNvPr id="48" name="图片 47" descr="框"/>
          <p:cNvPicPr>
            <a:picLocks noChangeAspect="1"/>
          </p:cNvPicPr>
          <p:nvPr/>
        </p:nvPicPr>
        <p:blipFill>
          <a:blip r:embed="rId4"/>
          <a:stretch>
            <a:fillRect/>
          </a:stretch>
        </p:blipFill>
        <p:spPr>
          <a:xfrm>
            <a:off x="257810" y="1990090"/>
            <a:ext cx="10839168" cy="3004820"/>
          </a:xfrm>
          <a:prstGeom prst="rect">
            <a:avLst/>
          </a:prstGeom>
        </p:spPr>
      </p:pic>
      <p:pic>
        <p:nvPicPr>
          <p:cNvPr id="51" name="图片 50" descr="框"/>
          <p:cNvPicPr>
            <a:picLocks noChangeAspect="1"/>
          </p:cNvPicPr>
          <p:nvPr/>
        </p:nvPicPr>
        <p:blipFill>
          <a:blip r:embed="rId4"/>
          <a:stretch>
            <a:fillRect/>
          </a:stretch>
        </p:blipFill>
        <p:spPr>
          <a:xfrm>
            <a:off x="321310" y="4292600"/>
            <a:ext cx="10775668" cy="3004820"/>
          </a:xfrm>
          <a:prstGeom prst="rect">
            <a:avLst/>
          </a:prstGeom>
        </p:spPr>
      </p:pic>
      <p:sp>
        <p:nvSpPr>
          <p:cNvPr id="52" name="文本框 51"/>
          <p:cNvSpPr txBox="1"/>
          <p:nvPr/>
        </p:nvSpPr>
        <p:spPr>
          <a:xfrm>
            <a:off x="1863725" y="2840355"/>
            <a:ext cx="8684260" cy="738664"/>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基于概率论思维，将各类资产的历史净值数据进行量化方式拟合分布</a:t>
            </a:r>
          </a:p>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运用蒙特卡洛模拟，对各类资产的未来走势分布进行预测</a:t>
            </a:r>
          </a:p>
        </p:txBody>
      </p:sp>
      <p:sp>
        <p:nvSpPr>
          <p:cNvPr id="53" name="文本框 52"/>
          <p:cNvSpPr txBox="1"/>
          <p:nvPr/>
        </p:nvSpPr>
        <p:spPr>
          <a:xfrm>
            <a:off x="1263015" y="2279650"/>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量化系统给出底线配置</a:t>
            </a:r>
          </a:p>
        </p:txBody>
      </p:sp>
      <p:sp>
        <p:nvSpPr>
          <p:cNvPr id="54" name="文本框 53"/>
          <p:cNvSpPr txBox="1"/>
          <p:nvPr/>
        </p:nvSpPr>
        <p:spPr>
          <a:xfrm>
            <a:off x="1863725" y="5107940"/>
            <a:ext cx="5457190" cy="737235"/>
          </a:xfrm>
          <a:prstGeom prst="rect">
            <a:avLst/>
          </a:prstGeom>
          <a:noFill/>
        </p:spPr>
        <p:txBody>
          <a:bodyPr wrap="square" rtlCol="0">
            <a:spAutoFit/>
          </a:bodyPr>
          <a:lstStyle/>
          <a:p>
            <a:pPr marL="114300" lvl="1" indent="-114300" fontAlgn="auto">
              <a:lnSpc>
                <a:spcPct val="150000"/>
              </a:lnSpc>
              <a:spcBef>
                <a:spcPct val="0"/>
              </a:spcBef>
              <a:spcAft>
                <a:spcPct val="15000"/>
              </a:spcAft>
              <a:buChar char="•"/>
            </a:pPr>
            <a:r>
              <a:rPr sz="1400" dirty="0" err="1">
                <a:solidFill>
                  <a:schemeClr val="dk1"/>
                </a:solidFill>
                <a:latin typeface="微软雅黑" panose="020B0503020204020204" pitchFamily="34" charset="-122"/>
                <a:ea typeface="微软雅黑" panose="020B0503020204020204" pitchFamily="34" charset="-122"/>
                <a:cs typeface="Inter" pitchFamily="34" charset="-120"/>
                <a:sym typeface="+mn-ea"/>
              </a:rPr>
              <a:t>进一步结合市场周期、估值性价比、宏观基本面等因素，以及各个组合的风险预算，做出最终的战略调整</a:t>
            </a:r>
            <a:r>
              <a:rPr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a:t>
            </a:r>
          </a:p>
        </p:txBody>
      </p:sp>
      <p:sp>
        <p:nvSpPr>
          <p:cNvPr id="56" name="文本框 55"/>
          <p:cNvSpPr txBox="1"/>
          <p:nvPr/>
        </p:nvSpPr>
        <p:spPr>
          <a:xfrm>
            <a:off x="1358900" y="4711065"/>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定性把关</a:t>
            </a:r>
          </a:p>
        </p:txBody>
      </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en-US" altLang="zh-CN" sz="2200" b="1" dirty="0">
                <a:solidFill>
                  <a:srgbClr val="B83835"/>
                </a:solidFill>
                <a:latin typeface="微软雅黑" panose="020B0503020204020204" pitchFamily="34" charset="-122"/>
                <a:ea typeface="微软雅黑" panose="020B0503020204020204" pitchFamily="34" charset="-122"/>
                <a:sym typeface="+mn-ea"/>
              </a:rPr>
              <a:t>AI</a:t>
            </a:r>
            <a:r>
              <a:rPr lang="zh-CN" altLang="en-US" sz="2200" b="1" dirty="0">
                <a:solidFill>
                  <a:srgbClr val="B83835"/>
                </a:solidFill>
                <a:latin typeface="微软雅黑" panose="020B0503020204020204" pitchFamily="34" charset="-122"/>
                <a:ea typeface="微软雅黑" panose="020B0503020204020204" pitchFamily="34" charset="-122"/>
                <a:sym typeface="+mn-ea"/>
              </a:rPr>
              <a:t>赋能：</a:t>
            </a:r>
            <a:r>
              <a:rPr lang="zh-CN" altLang="en-US" sz="2200" b="1" dirty="0">
                <a:latin typeface="微软雅黑" panose="020B0503020204020204" pitchFamily="34" charset="-122"/>
                <a:ea typeface="微软雅黑" panose="020B0503020204020204" pitchFamily="34" charset="-122"/>
                <a:sym typeface="+mn-ea"/>
              </a:rPr>
              <a:t>定制化资产配置</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rcRect b="31574"/>
          <a:stretch>
            <a:fillRect/>
          </a:stretch>
        </p:blipFill>
        <p:spPr>
          <a:xfrm>
            <a:off x="513430" y="809200"/>
            <a:ext cx="5047989" cy="3482555"/>
          </a:xfrm>
          <a:prstGeom prst="rect">
            <a:avLst/>
          </a:prstGeom>
          <a:ln>
            <a:solidFill>
              <a:srgbClr val="B83835"/>
            </a:solidFill>
          </a:ln>
        </p:spPr>
      </p:pic>
      <p:pic>
        <p:nvPicPr>
          <p:cNvPr id="4" name="图片 3"/>
          <p:cNvPicPr>
            <a:picLocks noChangeAspect="1"/>
          </p:cNvPicPr>
          <p:nvPr/>
        </p:nvPicPr>
        <p:blipFill>
          <a:blip r:embed="rId5"/>
          <a:srcRect b="36659"/>
          <a:stretch>
            <a:fillRect/>
          </a:stretch>
        </p:blipFill>
        <p:spPr>
          <a:xfrm>
            <a:off x="6048615" y="809200"/>
            <a:ext cx="6048587" cy="3474701"/>
          </a:xfrm>
          <a:prstGeom prst="rect">
            <a:avLst/>
          </a:prstGeom>
          <a:ln>
            <a:solidFill>
              <a:srgbClr val="B83835"/>
            </a:solidFill>
          </a:ln>
        </p:spPr>
      </p:pic>
      <p:sp>
        <p:nvSpPr>
          <p:cNvPr id="2" name="文本框 1"/>
          <p:cNvSpPr txBox="1"/>
          <p:nvPr/>
        </p:nvSpPr>
        <p:spPr>
          <a:xfrm>
            <a:off x="612324" y="5310706"/>
            <a:ext cx="5390659" cy="252730"/>
          </a:xfrm>
          <a:prstGeom prst="rect">
            <a:avLst/>
          </a:prstGeom>
          <a:noFill/>
        </p:spPr>
        <p:txBody>
          <a:bodyPr wrap="square" rtlCol="0">
            <a:spAutoFit/>
          </a:bodyPr>
          <a:lstStyle/>
          <a:p>
            <a:r>
              <a:rPr lang="zh-CN" altLang="en-US" sz="1050" b="1" dirty="0">
                <a:latin typeface="+mj-ea"/>
                <a:ea typeface="+mj-ea"/>
              </a:rPr>
              <a:t>注：仅代表</a:t>
            </a:r>
            <a:r>
              <a:rPr lang="en-US" altLang="zh-CN" sz="1050" b="1" dirty="0">
                <a:latin typeface="+mj-ea"/>
                <a:ea typeface="+mj-ea"/>
              </a:rPr>
              <a:t>AI</a:t>
            </a:r>
            <a:r>
              <a:rPr lang="zh-CN" altLang="en-US" sz="1050" b="1" dirty="0">
                <a:latin typeface="+mj-ea"/>
                <a:ea typeface="+mj-ea"/>
              </a:rPr>
              <a:t>对投资的赋能，相关数据不代表实际投资表现</a:t>
            </a:r>
          </a:p>
        </p:txBody>
      </p:sp>
      <p:sp>
        <p:nvSpPr>
          <p:cNvPr id="5" name="文本框 4"/>
          <p:cNvSpPr txBox="1"/>
          <p:nvPr/>
        </p:nvSpPr>
        <p:spPr>
          <a:xfrm>
            <a:off x="612324" y="6590240"/>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6" name="矩形 5">
            <a:extLst>
              <a:ext uri="{FF2B5EF4-FFF2-40B4-BE49-F238E27FC236}">
                <a16:creationId xmlns="" xmlns:a16="http://schemas.microsoft.com/office/drawing/2014/main" id="{A3865011-06F6-C731-A021-DB475EC997E8}"/>
              </a:ext>
            </a:extLst>
          </p:cNvPr>
          <p:cNvSpPr/>
          <p:nvPr/>
        </p:nvSpPr>
        <p:spPr>
          <a:xfrm>
            <a:off x="557408" y="1291216"/>
            <a:ext cx="4850615" cy="3074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 xmlns:a16="http://schemas.microsoft.com/office/drawing/2014/main" id="{84662862-9473-12ED-9769-4D13A43C0F9C}"/>
              </a:ext>
            </a:extLst>
          </p:cNvPr>
          <p:cNvSpPr/>
          <p:nvPr/>
        </p:nvSpPr>
        <p:spPr>
          <a:xfrm>
            <a:off x="557408" y="4599139"/>
            <a:ext cx="5047989" cy="3194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 xmlns:a16="http://schemas.microsoft.com/office/drawing/2014/main" id="{6742E209-E051-221D-94B2-D993888A78D5}"/>
              </a:ext>
            </a:extLst>
          </p:cNvPr>
          <p:cNvSpPr/>
          <p:nvPr/>
        </p:nvSpPr>
        <p:spPr>
          <a:xfrm>
            <a:off x="6096000" y="1122935"/>
            <a:ext cx="5859354" cy="4105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资产定性分析：</a:t>
            </a:r>
            <a:r>
              <a:rPr lang="zh-CN" altLang="en-US" sz="2200" b="1" dirty="0">
                <a:latin typeface="微软雅黑" panose="020B0503020204020204" pitchFamily="34" charset="-122"/>
                <a:ea typeface="微软雅黑" panose="020B0503020204020204" pitchFamily="34" charset="-122"/>
                <a:sym typeface="+mn-ea"/>
              </a:rPr>
              <a:t>大类资产的收益与风险驱动因素</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p:cNvGrpSpPr/>
          <p:nvPr/>
        </p:nvGrpSpPr>
        <p:grpSpPr>
          <a:xfrm>
            <a:off x="1873176" y="1326395"/>
            <a:ext cx="8368111" cy="4747945"/>
            <a:chOff x="639763" y="1772816"/>
            <a:chExt cx="7864475" cy="4462189"/>
          </a:xfrm>
        </p:grpSpPr>
        <p:sp>
          <p:nvSpPr>
            <p:cNvPr id="15" name="矩形 9"/>
            <p:cNvSpPr>
              <a:spLocks noChangeArrowheads="1"/>
            </p:cNvSpPr>
            <p:nvPr/>
          </p:nvSpPr>
          <p:spPr bwMode="gray">
            <a:xfrm>
              <a:off x="639763" y="3500920"/>
              <a:ext cx="7864475" cy="953465"/>
            </a:xfrm>
            <a:prstGeom prst="rect">
              <a:avLst/>
            </a:prstGeom>
            <a:gradFill rotWithShape="1">
              <a:gsLst>
                <a:gs pos="0">
                  <a:srgbClr val="DDDDDD"/>
                </a:gs>
                <a:gs pos="50000">
                  <a:srgbClr val="F4F4F4"/>
                </a:gs>
                <a:gs pos="100000">
                  <a:srgbClr val="DDDDDD"/>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1915"/>
            </a:p>
          </p:txBody>
        </p:sp>
        <p:sp>
          <p:nvSpPr>
            <p:cNvPr id="16" name="Rectangle 9"/>
            <p:cNvSpPr>
              <a:spLocks noChangeArrowheads="1"/>
            </p:cNvSpPr>
            <p:nvPr/>
          </p:nvSpPr>
          <p:spPr bwMode="auto">
            <a:xfrm>
              <a:off x="2361325"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基本面因素</a:t>
              </a:r>
            </a:p>
          </p:txBody>
        </p:sp>
        <p:cxnSp>
          <p:nvCxnSpPr>
            <p:cNvPr id="17" name="AutoShape 14"/>
            <p:cNvCxnSpPr>
              <a:cxnSpLocks noChangeShapeType="1"/>
              <a:stCxn id="16" idx="0"/>
              <a:endCxn id="18" idx="2"/>
            </p:cNvCxnSpPr>
            <p:nvPr/>
          </p:nvCxnSpPr>
          <p:spPr bwMode="auto">
            <a:xfrm rot="5400000" flipH="1" flipV="1">
              <a:off x="3686392" y="1455749"/>
              <a:ext cx="272888" cy="1627022"/>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sp>
          <p:nvSpPr>
            <p:cNvPr id="18" name="Rectangle 8"/>
            <p:cNvSpPr>
              <a:spLocks noChangeArrowheads="1"/>
            </p:cNvSpPr>
            <p:nvPr/>
          </p:nvSpPr>
          <p:spPr bwMode="auto">
            <a:xfrm>
              <a:off x="3376347" y="1772816"/>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实体与虚拟基本面的相互印证</a:t>
              </a:r>
            </a:p>
          </p:txBody>
        </p:sp>
        <p:sp>
          <p:nvSpPr>
            <p:cNvPr id="19" name="Rectangle 15"/>
            <p:cNvSpPr>
              <a:spLocks noChangeArrowheads="1"/>
            </p:cNvSpPr>
            <p:nvPr/>
          </p:nvSpPr>
          <p:spPr bwMode="auto">
            <a:xfrm>
              <a:off x="1276737"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宏观周期</a:t>
              </a:r>
            </a:p>
          </p:txBody>
        </p:sp>
        <p:sp>
          <p:nvSpPr>
            <p:cNvPr id="20" name="Rectangle 15"/>
            <p:cNvSpPr>
              <a:spLocks noChangeArrowheads="1"/>
            </p:cNvSpPr>
            <p:nvPr/>
          </p:nvSpPr>
          <p:spPr bwMode="auto">
            <a:xfrm>
              <a:off x="2521282" y="3079566"/>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政策周期</a:t>
              </a:r>
            </a:p>
          </p:txBody>
        </p:sp>
        <p:sp>
          <p:nvSpPr>
            <p:cNvPr id="21" name="Rectangle 15"/>
            <p:cNvSpPr>
              <a:spLocks noChangeArrowheads="1"/>
            </p:cNvSpPr>
            <p:nvPr/>
          </p:nvSpPr>
          <p:spPr bwMode="auto">
            <a:xfrm>
              <a:off x="3736492"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产业周期</a:t>
              </a:r>
            </a:p>
          </p:txBody>
        </p:sp>
        <p:sp>
          <p:nvSpPr>
            <p:cNvPr id="22" name="Rectangle 15"/>
            <p:cNvSpPr>
              <a:spLocks noChangeArrowheads="1"/>
            </p:cNvSpPr>
            <p:nvPr/>
          </p:nvSpPr>
          <p:spPr bwMode="auto">
            <a:xfrm>
              <a:off x="492136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货币供应</a:t>
              </a:r>
            </a:p>
          </p:txBody>
        </p:sp>
        <p:sp>
          <p:nvSpPr>
            <p:cNvPr id="23" name="Rectangle 15"/>
            <p:cNvSpPr>
              <a:spLocks noChangeArrowheads="1"/>
            </p:cNvSpPr>
            <p:nvPr/>
          </p:nvSpPr>
          <p:spPr bwMode="auto">
            <a:xfrm>
              <a:off x="659609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资金分配</a:t>
              </a:r>
            </a:p>
          </p:txBody>
        </p:sp>
        <p:sp>
          <p:nvSpPr>
            <p:cNvPr id="24" name="Rectangle 8"/>
            <p:cNvSpPr>
              <a:spLocks noChangeArrowheads="1"/>
            </p:cNvSpPr>
            <p:nvPr/>
          </p:nvSpPr>
          <p:spPr bwMode="auto">
            <a:xfrm>
              <a:off x="3378004" y="5875005"/>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风险与收益的平衡</a:t>
              </a:r>
            </a:p>
          </p:txBody>
        </p:sp>
        <p:sp>
          <p:nvSpPr>
            <p:cNvPr id="25" name="Rectangle 9"/>
            <p:cNvSpPr>
              <a:spLocks noChangeArrowheads="1"/>
            </p:cNvSpPr>
            <p:nvPr/>
          </p:nvSpPr>
          <p:spPr bwMode="auto">
            <a:xfrm>
              <a:off x="2152075" y="5082917"/>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估值因素</a:t>
              </a:r>
            </a:p>
          </p:txBody>
        </p:sp>
        <p:sp>
          <p:nvSpPr>
            <p:cNvPr id="26" name="Rectangle 11"/>
            <p:cNvSpPr>
              <a:spLocks noChangeArrowheads="1"/>
            </p:cNvSpPr>
            <p:nvPr/>
          </p:nvSpPr>
          <p:spPr bwMode="auto">
            <a:xfrm>
              <a:off x="5680323" y="5082917"/>
              <a:ext cx="1296000" cy="504000"/>
            </a:xfrm>
            <a:prstGeom prst="rect">
              <a:avLst/>
            </a:prstGeom>
            <a:solidFill>
              <a:srgbClr val="C00000"/>
            </a:solidFill>
            <a:ln w="9525">
              <a:solidFill>
                <a:srgbClr val="C0C0C0"/>
              </a:solid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供求交易因素</a:t>
              </a:r>
            </a:p>
          </p:txBody>
        </p:sp>
        <p:sp>
          <p:nvSpPr>
            <p:cNvPr id="27" name="Rectangle 11"/>
            <p:cNvSpPr>
              <a:spLocks noChangeArrowheads="1"/>
            </p:cNvSpPr>
            <p:nvPr/>
          </p:nvSpPr>
          <p:spPr bwMode="auto">
            <a:xfrm>
              <a:off x="5650950"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流动性因素</a:t>
              </a:r>
            </a:p>
          </p:txBody>
        </p:sp>
        <p:sp>
          <p:nvSpPr>
            <p:cNvPr id="28" name="Rectangle 7"/>
            <p:cNvSpPr>
              <a:spLocks noChangeArrowheads="1"/>
            </p:cNvSpPr>
            <p:nvPr/>
          </p:nvSpPr>
          <p:spPr bwMode="auto">
            <a:xfrm>
              <a:off x="3990713" y="3895035"/>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股票、新三板</a:t>
              </a:r>
            </a:p>
          </p:txBody>
        </p:sp>
        <p:sp>
          <p:nvSpPr>
            <p:cNvPr id="29" name="Rectangle 8"/>
            <p:cNvSpPr>
              <a:spLocks noChangeArrowheads="1"/>
            </p:cNvSpPr>
            <p:nvPr/>
          </p:nvSpPr>
          <p:spPr bwMode="auto">
            <a:xfrm>
              <a:off x="3990713" y="3645487"/>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权益类资产</a:t>
              </a:r>
            </a:p>
          </p:txBody>
        </p:sp>
        <p:sp>
          <p:nvSpPr>
            <p:cNvPr id="30" name="Rectangle 7"/>
            <p:cNvSpPr>
              <a:spLocks noChangeArrowheads="1"/>
            </p:cNvSpPr>
            <p:nvPr/>
          </p:nvSpPr>
          <p:spPr bwMode="auto">
            <a:xfrm>
              <a:off x="2460932" y="3887519"/>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债券、非标</a:t>
              </a:r>
            </a:p>
          </p:txBody>
        </p:sp>
        <p:sp>
          <p:nvSpPr>
            <p:cNvPr id="31" name="Rectangle 8"/>
            <p:cNvSpPr>
              <a:spLocks noChangeArrowheads="1"/>
            </p:cNvSpPr>
            <p:nvPr/>
          </p:nvSpPr>
          <p:spPr bwMode="auto">
            <a:xfrm>
              <a:off x="2460932" y="363797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固收类资产</a:t>
              </a:r>
            </a:p>
          </p:txBody>
        </p:sp>
        <p:sp>
          <p:nvSpPr>
            <p:cNvPr id="32" name="Rectangle 7"/>
            <p:cNvSpPr>
              <a:spLocks noChangeArrowheads="1"/>
            </p:cNvSpPr>
            <p:nvPr/>
          </p:nvSpPr>
          <p:spPr bwMode="auto">
            <a:xfrm>
              <a:off x="5562122" y="3908565"/>
              <a:ext cx="1143247"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房地产、大宗</a:t>
              </a:r>
            </a:p>
          </p:txBody>
        </p:sp>
        <p:sp>
          <p:nvSpPr>
            <p:cNvPr id="33" name="Rectangle 8"/>
            <p:cNvSpPr>
              <a:spLocks noChangeArrowheads="1"/>
            </p:cNvSpPr>
            <p:nvPr/>
          </p:nvSpPr>
          <p:spPr bwMode="auto">
            <a:xfrm>
              <a:off x="5565095" y="3651500"/>
              <a:ext cx="1143247"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商品类资产</a:t>
              </a:r>
            </a:p>
          </p:txBody>
        </p:sp>
        <p:sp>
          <p:nvSpPr>
            <p:cNvPr id="34" name="Rectangle 7"/>
            <p:cNvSpPr>
              <a:spLocks noChangeArrowheads="1"/>
            </p:cNvSpPr>
            <p:nvPr/>
          </p:nvSpPr>
          <p:spPr bwMode="auto">
            <a:xfrm>
              <a:off x="931150" y="3883008"/>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回购、票据</a:t>
              </a:r>
            </a:p>
          </p:txBody>
        </p:sp>
        <p:sp>
          <p:nvSpPr>
            <p:cNvPr id="35" name="Rectangle 8"/>
            <p:cNvSpPr>
              <a:spLocks noChangeArrowheads="1"/>
            </p:cNvSpPr>
            <p:nvPr/>
          </p:nvSpPr>
          <p:spPr bwMode="auto">
            <a:xfrm>
              <a:off x="931150" y="363346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货币类资产</a:t>
              </a:r>
            </a:p>
          </p:txBody>
        </p:sp>
        <p:sp>
          <p:nvSpPr>
            <p:cNvPr id="36" name="Rectangle 7"/>
            <p:cNvSpPr>
              <a:spLocks noChangeArrowheads="1"/>
            </p:cNvSpPr>
            <p:nvPr/>
          </p:nvSpPr>
          <p:spPr bwMode="auto">
            <a:xfrm>
              <a:off x="7094876" y="3884512"/>
              <a:ext cx="1143248"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美股、美债</a:t>
              </a:r>
            </a:p>
          </p:txBody>
        </p:sp>
        <p:sp>
          <p:nvSpPr>
            <p:cNvPr id="37" name="Rectangle 8"/>
            <p:cNvSpPr>
              <a:spLocks noChangeArrowheads="1"/>
            </p:cNvSpPr>
            <p:nvPr/>
          </p:nvSpPr>
          <p:spPr bwMode="auto">
            <a:xfrm>
              <a:off x="7094876" y="3634964"/>
              <a:ext cx="1143248"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en-US" altLang="zh-CN" sz="1490" b="1" kern="0" dirty="0">
                  <a:solidFill>
                    <a:srgbClr val="FFFFFF"/>
                  </a:solidFill>
                  <a:latin typeface="微软雅黑" panose="020B0503020204020204" pitchFamily="34" charset="-122"/>
                  <a:ea typeface="微软雅黑" panose="020B0503020204020204" pitchFamily="34" charset="-122"/>
                </a:rPr>
                <a:t>QDII</a:t>
              </a:r>
              <a:endParaRPr lang="zh-CN" altLang="en-US" sz="1490" b="1" kern="0" dirty="0">
                <a:solidFill>
                  <a:srgbClr val="FFFFFF"/>
                </a:solidFill>
                <a:latin typeface="微软雅黑" panose="020B0503020204020204" pitchFamily="34" charset="-122"/>
                <a:ea typeface="微软雅黑" panose="020B0503020204020204" pitchFamily="34" charset="-122"/>
              </a:endParaRPr>
            </a:p>
          </p:txBody>
        </p:sp>
        <p:cxnSp>
          <p:nvCxnSpPr>
            <p:cNvPr id="38" name="连接符: 肘形 42"/>
            <p:cNvCxnSpPr>
              <a:stCxn id="16" idx="3"/>
              <a:endCxn id="21" idx="0"/>
            </p:cNvCxnSpPr>
            <p:nvPr/>
          </p:nvCxnSpPr>
          <p:spPr>
            <a:xfrm>
              <a:off x="3657325" y="2657704"/>
              <a:ext cx="565167"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9" name="AutoShape 14"/>
            <p:cNvCxnSpPr>
              <a:cxnSpLocks noChangeShapeType="1"/>
              <a:stCxn id="27" idx="0"/>
              <a:endCxn id="18" idx="2"/>
            </p:cNvCxnSpPr>
            <p:nvPr/>
          </p:nvCxnSpPr>
          <p:spPr bwMode="auto">
            <a:xfrm rot="16200000" flipV="1">
              <a:off x="5331205" y="1437958"/>
              <a:ext cx="272888" cy="1662603"/>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40" name="连接符: 肘形 44"/>
            <p:cNvCxnSpPr>
              <a:stCxn id="16" idx="1"/>
              <a:endCxn id="19" idx="0"/>
            </p:cNvCxnSpPr>
            <p:nvPr/>
          </p:nvCxnSpPr>
          <p:spPr>
            <a:xfrm rot="10800000" flipV="1">
              <a:off x="1762737" y="2657703"/>
              <a:ext cx="598588"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7" name="连接符: 肘形 45"/>
            <p:cNvCxnSpPr>
              <a:stCxn id="27" idx="1"/>
              <a:endCxn id="22" idx="0"/>
            </p:cNvCxnSpPr>
            <p:nvPr/>
          </p:nvCxnSpPr>
          <p:spPr>
            <a:xfrm rot="10800000" flipV="1">
              <a:off x="5407368" y="2657704"/>
              <a:ext cx="243582"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9" name="连接符: 肘形 46"/>
            <p:cNvCxnSpPr>
              <a:stCxn id="27" idx="3"/>
              <a:endCxn id="23" idx="0"/>
            </p:cNvCxnSpPr>
            <p:nvPr/>
          </p:nvCxnSpPr>
          <p:spPr>
            <a:xfrm>
              <a:off x="6946950" y="2657704"/>
              <a:ext cx="135148"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sp>
          <p:nvSpPr>
            <p:cNvPr id="50" name="Rectangle 15"/>
            <p:cNvSpPr>
              <a:spLocks noChangeArrowheads="1"/>
            </p:cNvSpPr>
            <p:nvPr/>
          </p:nvSpPr>
          <p:spPr bwMode="auto">
            <a:xfrm>
              <a:off x="1185901"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绝对估值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5" name="Rectangle 15"/>
            <p:cNvSpPr>
              <a:spLocks noChangeArrowheads="1"/>
            </p:cNvSpPr>
            <p:nvPr/>
          </p:nvSpPr>
          <p:spPr bwMode="auto">
            <a:xfrm>
              <a:off x="2257635"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相对估值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7" name="Rectangle 15"/>
            <p:cNvSpPr>
              <a:spLocks noChangeArrowheads="1"/>
            </p:cNvSpPr>
            <p:nvPr/>
          </p:nvSpPr>
          <p:spPr bwMode="auto">
            <a:xfrm>
              <a:off x="3329369" y="4581129"/>
              <a:ext cx="1296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风险估值调整</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8" name="Rectangle 15"/>
            <p:cNvSpPr>
              <a:spLocks noChangeArrowheads="1"/>
            </p:cNvSpPr>
            <p:nvPr/>
          </p:nvSpPr>
          <p:spPr bwMode="auto">
            <a:xfrm>
              <a:off x="4797103"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资产结构</a:t>
              </a:r>
            </a:p>
          </p:txBody>
        </p:sp>
        <p:sp>
          <p:nvSpPr>
            <p:cNvPr id="59" name="Rectangle 15"/>
            <p:cNvSpPr>
              <a:spLocks noChangeArrowheads="1"/>
            </p:cNvSpPr>
            <p:nvPr/>
          </p:nvSpPr>
          <p:spPr bwMode="auto">
            <a:xfrm>
              <a:off x="5868837" y="4581129"/>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投资者结构</a:t>
              </a:r>
            </a:p>
          </p:txBody>
        </p:sp>
        <p:sp>
          <p:nvSpPr>
            <p:cNvPr id="60" name="Rectangle 15"/>
            <p:cNvSpPr>
              <a:spLocks noChangeArrowheads="1"/>
            </p:cNvSpPr>
            <p:nvPr/>
          </p:nvSpPr>
          <p:spPr bwMode="auto">
            <a:xfrm>
              <a:off x="7012571" y="4581129"/>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市场情绪</a:t>
              </a:r>
            </a:p>
          </p:txBody>
        </p:sp>
        <p:cxnSp>
          <p:nvCxnSpPr>
            <p:cNvPr id="61" name="AutoShape 14"/>
            <p:cNvCxnSpPr>
              <a:cxnSpLocks noChangeShapeType="1"/>
              <a:stCxn id="26" idx="2"/>
              <a:endCxn id="24" idx="0"/>
            </p:cNvCxnSpPr>
            <p:nvPr/>
          </p:nvCxnSpPr>
          <p:spPr bwMode="auto">
            <a:xfrm rot="5400000">
              <a:off x="5339120" y="4885802"/>
              <a:ext cx="288088" cy="169031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2" name="AutoShape 14"/>
            <p:cNvCxnSpPr>
              <a:cxnSpLocks noChangeShapeType="1"/>
              <a:stCxn id="25" idx="2"/>
              <a:endCxn id="24" idx="0"/>
            </p:cNvCxnSpPr>
            <p:nvPr/>
          </p:nvCxnSpPr>
          <p:spPr bwMode="auto">
            <a:xfrm rot="16200000" flipH="1">
              <a:off x="3574995" y="4811996"/>
              <a:ext cx="288088" cy="183792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3" name="AutoShape 14"/>
            <p:cNvCxnSpPr>
              <a:cxnSpLocks noChangeShapeType="1"/>
              <a:stCxn id="50" idx="2"/>
              <a:endCxn id="25" idx="1"/>
            </p:cNvCxnSpPr>
            <p:nvPr/>
          </p:nvCxnSpPr>
          <p:spPr bwMode="auto">
            <a:xfrm rot="16200000" flipH="1">
              <a:off x="1661094" y="4843935"/>
              <a:ext cx="465789" cy="51617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4" name="AutoShape 14"/>
            <p:cNvCxnSpPr>
              <a:cxnSpLocks noChangeShapeType="1"/>
              <a:stCxn id="57" idx="2"/>
              <a:endCxn id="25" idx="3"/>
            </p:cNvCxnSpPr>
            <p:nvPr/>
          </p:nvCxnSpPr>
          <p:spPr bwMode="auto">
            <a:xfrm rot="5400000">
              <a:off x="3479828" y="4837376"/>
              <a:ext cx="465788" cy="52929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5" name="AutoShape 14"/>
            <p:cNvCxnSpPr>
              <a:cxnSpLocks noChangeShapeType="1"/>
              <a:stCxn id="58" idx="2"/>
              <a:endCxn id="26" idx="1"/>
            </p:cNvCxnSpPr>
            <p:nvPr/>
          </p:nvCxnSpPr>
          <p:spPr bwMode="auto">
            <a:xfrm rot="16200000" flipH="1">
              <a:off x="5230819" y="4885412"/>
              <a:ext cx="465789" cy="433220"/>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6" name="AutoShape 14"/>
            <p:cNvCxnSpPr>
              <a:cxnSpLocks noChangeShapeType="1"/>
              <a:stCxn id="60" idx="2"/>
              <a:endCxn id="26" idx="3"/>
            </p:cNvCxnSpPr>
            <p:nvPr/>
          </p:nvCxnSpPr>
          <p:spPr bwMode="auto">
            <a:xfrm rot="5400000">
              <a:off x="6986553" y="4858899"/>
              <a:ext cx="465788" cy="486248"/>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gr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en-US" altLang="zh-CN" sz="2200" b="1" dirty="0" smtClean="0">
                <a:solidFill>
                  <a:srgbClr val="B83835"/>
                </a:solidFill>
                <a:latin typeface="微软雅黑" panose="020B0503020204020204" pitchFamily="34" charset="-122"/>
                <a:ea typeface="微软雅黑" panose="020B0503020204020204" pitchFamily="34" charset="-122"/>
                <a:sym typeface="+mn-ea"/>
              </a:rPr>
              <a:t>ETF</a:t>
            </a:r>
            <a:r>
              <a:rPr lang="zh-CN" altLang="en-US" sz="2200" b="1" dirty="0" smtClean="0">
                <a:solidFill>
                  <a:srgbClr val="B83835"/>
                </a:solidFill>
                <a:latin typeface="微软雅黑" panose="020B0503020204020204" pitchFamily="34" charset="-122"/>
                <a:ea typeface="微软雅黑" panose="020B0503020204020204" pitchFamily="34" charset="-122"/>
                <a:sym typeface="+mn-ea"/>
              </a:rPr>
              <a:t>轮动策略的目标</a:t>
            </a:r>
            <a:r>
              <a:rPr lang="zh-CN" altLang="en-US" sz="2200" b="1" dirty="0">
                <a:solidFill>
                  <a:srgbClr val="B83835"/>
                </a:solidFill>
                <a:latin typeface="微软雅黑" panose="020B0503020204020204" pitchFamily="34" charset="-122"/>
                <a:ea typeface="微软雅黑" panose="020B0503020204020204" pitchFamily="34" charset="-122"/>
                <a:sym typeface="+mn-ea"/>
              </a:rPr>
              <a:t>：</a:t>
            </a:r>
            <a:r>
              <a:rPr lang="zh-CN" altLang="en-US" sz="2200" b="1" dirty="0">
                <a:latin typeface="微软雅黑" panose="020B0503020204020204" pitchFamily="34" charset="-122"/>
                <a:ea typeface="微软雅黑" panose="020B0503020204020204" pitchFamily="34" charset="-122"/>
                <a:sym typeface="+mn-ea"/>
              </a:rPr>
              <a:t>战胜偏股基金指数（</a:t>
            </a:r>
            <a:r>
              <a:rPr lang="en-US" altLang="zh-CN" sz="2200" b="1" dirty="0">
                <a:latin typeface="微软雅黑" panose="020B0503020204020204" pitchFamily="34" charset="-122"/>
                <a:ea typeface="微软雅黑" panose="020B0503020204020204" pitchFamily="34" charset="-122"/>
                <a:sym typeface="+mn-ea"/>
              </a:rPr>
              <a:t>930950.CSI</a:t>
            </a:r>
            <a:r>
              <a:rPr lang="zh-CN" altLang="en-US" sz="2200" b="1" dirty="0">
                <a:latin typeface="微软雅黑" panose="020B0503020204020204" pitchFamily="34" charset="-122"/>
                <a:ea typeface="微软雅黑" panose="020B0503020204020204" pitchFamily="34" charset="-122"/>
                <a:sym typeface="+mn-ea"/>
              </a:rPr>
              <a:t>）</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p:nvPr/>
        </p:nvSpPr>
        <p:spPr>
          <a:xfrm>
            <a:off x="391510" y="1085851"/>
            <a:ext cx="7171621" cy="369332"/>
          </a:xfrm>
          <a:prstGeom prst="rect">
            <a:avLst/>
          </a:prstGeom>
          <a:noFill/>
        </p:spPr>
        <p:txBody>
          <a:bodyPr wrap="square" rtlCol="0">
            <a:spAutoFit/>
          </a:bodyPr>
          <a:lstStyle/>
          <a:p>
            <a:r>
              <a:rPr lang="en-US" altLang="zh-CN" dirty="0">
                <a:latin typeface="+mj-ea"/>
                <a:ea typeface="+mj-ea"/>
              </a:rPr>
              <a:t>2021</a:t>
            </a:r>
            <a:r>
              <a:rPr lang="zh-CN" altLang="en-US" dirty="0">
                <a:latin typeface="+mj-ea"/>
                <a:ea typeface="+mj-ea"/>
              </a:rPr>
              <a:t>年至</a:t>
            </a:r>
            <a:r>
              <a:rPr lang="en-US" altLang="zh-CN" dirty="0">
                <a:latin typeface="+mj-ea"/>
                <a:ea typeface="+mj-ea"/>
              </a:rPr>
              <a:t>2025</a:t>
            </a:r>
            <a:r>
              <a:rPr lang="zh-CN" altLang="en-US" dirty="0">
                <a:latin typeface="+mj-ea"/>
                <a:ea typeface="+mj-ea"/>
              </a:rPr>
              <a:t>年总收益超越偏股基金指数的基金数量和比例</a:t>
            </a:r>
          </a:p>
        </p:txBody>
      </p:sp>
      <p:graphicFrame>
        <p:nvGraphicFramePr>
          <p:cNvPr id="21" name="表格 20"/>
          <p:cNvGraphicFramePr>
            <a:graphicFrameLocks noGrp="1"/>
          </p:cNvGraphicFramePr>
          <p:nvPr/>
        </p:nvGraphicFramePr>
        <p:xfrm>
          <a:off x="507930" y="1705503"/>
          <a:ext cx="6061780" cy="1590852"/>
        </p:xfrm>
        <a:graphic>
          <a:graphicData uri="http://schemas.openxmlformats.org/drawingml/2006/table">
            <a:tbl>
              <a:tblPr>
                <a:tableStyleId>{5C22544A-7EE6-4342-B048-85BDC9FD1C3A}</a:tableStyleId>
              </a:tblPr>
              <a:tblGrid>
                <a:gridCol w="1697299">
                  <a:extLst>
                    <a:ext uri="{9D8B030D-6E8A-4147-A177-3AD203B41FA5}">
                      <a16:colId xmlns="" xmlns:a16="http://schemas.microsoft.com/office/drawing/2014/main" val="20000"/>
                    </a:ext>
                  </a:extLst>
                </a:gridCol>
                <a:gridCol w="1143078">
                  <a:extLst>
                    <a:ext uri="{9D8B030D-6E8A-4147-A177-3AD203B41FA5}">
                      <a16:colId xmlns="" xmlns:a16="http://schemas.microsoft.com/office/drawing/2014/main" val="20001"/>
                    </a:ext>
                  </a:extLst>
                </a:gridCol>
                <a:gridCol w="1143078">
                  <a:extLst>
                    <a:ext uri="{9D8B030D-6E8A-4147-A177-3AD203B41FA5}">
                      <a16:colId xmlns="" xmlns:a16="http://schemas.microsoft.com/office/drawing/2014/main" val="20002"/>
                    </a:ext>
                  </a:extLst>
                </a:gridCol>
                <a:gridCol w="1143078">
                  <a:extLst>
                    <a:ext uri="{9D8B030D-6E8A-4147-A177-3AD203B41FA5}">
                      <a16:colId xmlns="" xmlns:a16="http://schemas.microsoft.com/office/drawing/2014/main" val="20003"/>
                    </a:ext>
                  </a:extLst>
                </a:gridCol>
                <a:gridCol w="935247">
                  <a:extLst>
                    <a:ext uri="{9D8B030D-6E8A-4147-A177-3AD203B41FA5}">
                      <a16:colId xmlns="" xmlns:a16="http://schemas.microsoft.com/office/drawing/2014/main" val="20004"/>
                    </a:ext>
                  </a:extLst>
                </a:gridCol>
              </a:tblGrid>
              <a:tr h="397713">
                <a:tc>
                  <a:txBody>
                    <a:bodyPr/>
                    <a:lstStyle/>
                    <a:p>
                      <a:pPr algn="l" fontAlgn="ctr"/>
                      <a:r>
                        <a:rPr lang="zh-CN" altLang="en-US" sz="1400" u="none" strike="noStrike" dirty="0">
                          <a:effectLst/>
                        </a:rPr>
                        <a:t>　</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普通股票型</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偏股混合型</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灵活配置型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加总</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 xmlns:a16="http://schemas.microsoft.com/office/drawing/2014/main" val="10000"/>
                  </a:ext>
                </a:extLst>
              </a:tr>
              <a:tr h="397713">
                <a:tc>
                  <a:txBody>
                    <a:bodyPr/>
                    <a:lstStyle/>
                    <a:p>
                      <a:pPr algn="l" fontAlgn="ctr"/>
                      <a:r>
                        <a:rPr lang="zh-CN" altLang="en-US" sz="1400" u="none" strike="noStrike" dirty="0">
                          <a:effectLst/>
                        </a:rPr>
                        <a:t>数量</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201</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502</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789</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1492</a:t>
                      </a:r>
                    </a:p>
                  </a:txBody>
                  <a:tcPr marL="9525" marR="9525" marT="9525" marB="0" anchor="ctr"/>
                </a:tc>
                <a:extLst>
                  <a:ext uri="{0D108BD9-81ED-4DB2-BD59-A6C34878D82A}">
                    <a16:rowId xmlns="" xmlns:a16="http://schemas.microsoft.com/office/drawing/2014/main" val="10001"/>
                  </a:ext>
                </a:extLst>
              </a:tr>
              <a:tr h="397713">
                <a:tc>
                  <a:txBody>
                    <a:bodyPr/>
                    <a:lstStyle/>
                    <a:p>
                      <a:pPr algn="l" fontAlgn="ctr"/>
                      <a:r>
                        <a:rPr lang="zh-CN" altLang="en-US" sz="1400" u="none" strike="noStrike">
                          <a:effectLst/>
                        </a:rPr>
                        <a:t>总数</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379</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1067</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1290</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2736</a:t>
                      </a:r>
                    </a:p>
                  </a:txBody>
                  <a:tcPr marL="9525" marR="9525" marT="9525" marB="0" anchor="ctr"/>
                </a:tc>
                <a:extLst>
                  <a:ext uri="{0D108BD9-81ED-4DB2-BD59-A6C34878D82A}">
                    <a16:rowId xmlns="" xmlns:a16="http://schemas.microsoft.com/office/drawing/2014/main" val="10002"/>
                  </a:ext>
                </a:extLst>
              </a:tr>
              <a:tr h="397713">
                <a:tc>
                  <a:txBody>
                    <a:bodyPr/>
                    <a:lstStyle/>
                    <a:p>
                      <a:pPr algn="l" fontAlgn="ctr"/>
                      <a:r>
                        <a:rPr lang="zh-CN" altLang="en-US" sz="1400" u="none" strike="noStrike">
                          <a:effectLst/>
                        </a:rPr>
                        <a:t>比率</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53%</a:t>
                      </a:r>
                    </a:p>
                  </a:txBody>
                  <a:tcPr marL="9525" marR="9525" marT="9525" marB="0" anchor="ctr">
                    <a:solidFill>
                      <a:srgbClr val="FFFF00"/>
                    </a:solidFill>
                  </a:tcPr>
                </a:tc>
                <a:tc>
                  <a:txBody>
                    <a:bodyPr/>
                    <a:lstStyle/>
                    <a:p>
                      <a:pPr algn="r" fontAlgn="ctr"/>
                      <a:r>
                        <a:rPr lang="en-US" altLang="zh-CN" sz="1400" b="0" i="0" u="none" strike="noStrike">
                          <a:solidFill>
                            <a:srgbClr val="000000"/>
                          </a:solidFill>
                          <a:effectLst/>
                          <a:latin typeface="+mj-ea"/>
                          <a:ea typeface="+mj-ea"/>
                        </a:rPr>
                        <a:t>47%</a:t>
                      </a:r>
                    </a:p>
                  </a:txBody>
                  <a:tcPr marL="9525" marR="9525" marT="9525" marB="0" anchor="ctr">
                    <a:solidFill>
                      <a:srgbClr val="FFFF00"/>
                    </a:solidFill>
                  </a:tcPr>
                </a:tc>
                <a:tc>
                  <a:txBody>
                    <a:bodyPr/>
                    <a:lstStyle/>
                    <a:p>
                      <a:pPr algn="r" fontAlgn="ctr"/>
                      <a:r>
                        <a:rPr lang="en-US" altLang="zh-CN" sz="1400" b="0" i="0" u="none" strike="noStrike" dirty="0">
                          <a:solidFill>
                            <a:srgbClr val="000000"/>
                          </a:solidFill>
                          <a:effectLst/>
                          <a:latin typeface="+mj-ea"/>
                          <a:ea typeface="+mj-ea"/>
                        </a:rPr>
                        <a:t>61%</a:t>
                      </a:r>
                    </a:p>
                  </a:txBody>
                  <a:tcPr marL="9525" marR="9525" marT="9525" marB="0" anchor="ctr">
                    <a:solidFill>
                      <a:srgbClr val="FFFF00"/>
                    </a:solidFill>
                  </a:tcPr>
                </a:tc>
                <a:tc>
                  <a:txBody>
                    <a:bodyPr/>
                    <a:lstStyle/>
                    <a:p>
                      <a:pPr algn="r" fontAlgn="ctr"/>
                      <a:r>
                        <a:rPr lang="en-US" altLang="zh-CN" sz="1400" b="0" i="0" u="none" strike="noStrike" dirty="0">
                          <a:solidFill>
                            <a:srgbClr val="000000"/>
                          </a:solidFill>
                          <a:effectLst/>
                          <a:latin typeface="+mj-ea"/>
                          <a:ea typeface="+mj-ea"/>
                        </a:rPr>
                        <a:t>55%</a:t>
                      </a:r>
                    </a:p>
                  </a:txBody>
                  <a:tcPr marL="9525" marR="9525" marT="9525" marB="0" anchor="ctr">
                    <a:solidFill>
                      <a:srgbClr val="FFFF00"/>
                    </a:solidFill>
                  </a:tcPr>
                </a:tc>
                <a:extLst>
                  <a:ext uri="{0D108BD9-81ED-4DB2-BD59-A6C34878D82A}">
                    <a16:rowId xmlns="" xmlns:a16="http://schemas.microsoft.com/office/drawing/2014/main" val="10003"/>
                  </a:ext>
                </a:extLst>
              </a:tr>
            </a:tbl>
          </a:graphicData>
        </a:graphic>
      </p:graphicFrame>
      <p:sp>
        <p:nvSpPr>
          <p:cNvPr id="22" name="文本框 21"/>
          <p:cNvSpPr txBox="1"/>
          <p:nvPr/>
        </p:nvSpPr>
        <p:spPr>
          <a:xfrm>
            <a:off x="89467" y="3744385"/>
            <a:ext cx="7775705" cy="646331"/>
          </a:xfrm>
          <a:prstGeom prst="rect">
            <a:avLst/>
          </a:prstGeom>
          <a:noFill/>
        </p:spPr>
        <p:txBody>
          <a:bodyPr wrap="square" rtlCol="0">
            <a:spAutoFit/>
          </a:bodyPr>
          <a:lstStyle/>
          <a:p>
            <a:r>
              <a:rPr lang="en-US" altLang="zh-CN" dirty="0">
                <a:latin typeface="+mj-ea"/>
                <a:ea typeface="+mj-ea"/>
              </a:rPr>
              <a:t>2021</a:t>
            </a:r>
            <a:r>
              <a:rPr lang="zh-CN" altLang="en-US" dirty="0">
                <a:latin typeface="+mj-ea"/>
                <a:ea typeface="+mj-ea"/>
              </a:rPr>
              <a:t>年至</a:t>
            </a:r>
            <a:r>
              <a:rPr lang="en-US" altLang="zh-CN" dirty="0">
                <a:latin typeface="+mj-ea"/>
                <a:ea typeface="+mj-ea"/>
              </a:rPr>
              <a:t>2025</a:t>
            </a:r>
            <a:r>
              <a:rPr lang="zh-CN" altLang="en-US" dirty="0">
                <a:latin typeface="+mj-ea"/>
                <a:ea typeface="+mj-ea"/>
              </a:rPr>
              <a:t>年每年收益都超越偏股基金指数的基金数量和比例</a:t>
            </a:r>
          </a:p>
          <a:p>
            <a:endParaRPr lang="zh-CN" altLang="en-US" dirty="0">
              <a:latin typeface="+mj-ea"/>
              <a:ea typeface="+mj-ea"/>
            </a:endParaRPr>
          </a:p>
        </p:txBody>
      </p:sp>
      <p:graphicFrame>
        <p:nvGraphicFramePr>
          <p:cNvPr id="23" name="表格 22"/>
          <p:cNvGraphicFramePr>
            <a:graphicFrameLocks noGrp="1"/>
          </p:cNvGraphicFramePr>
          <p:nvPr/>
        </p:nvGraphicFramePr>
        <p:xfrm>
          <a:off x="505461" y="4390716"/>
          <a:ext cx="6075539" cy="1904236"/>
        </p:xfrm>
        <a:graphic>
          <a:graphicData uri="http://schemas.openxmlformats.org/drawingml/2006/table">
            <a:tbl>
              <a:tblPr>
                <a:tableStyleId>{5C22544A-7EE6-4342-B048-85BDC9FD1C3A}</a:tableStyleId>
              </a:tblPr>
              <a:tblGrid>
                <a:gridCol w="1701151">
                  <a:extLst>
                    <a:ext uri="{9D8B030D-6E8A-4147-A177-3AD203B41FA5}">
                      <a16:colId xmlns="" xmlns:a16="http://schemas.microsoft.com/office/drawing/2014/main" val="20000"/>
                    </a:ext>
                  </a:extLst>
                </a:gridCol>
                <a:gridCol w="1145673">
                  <a:extLst>
                    <a:ext uri="{9D8B030D-6E8A-4147-A177-3AD203B41FA5}">
                      <a16:colId xmlns="" xmlns:a16="http://schemas.microsoft.com/office/drawing/2014/main" val="20001"/>
                    </a:ext>
                  </a:extLst>
                </a:gridCol>
                <a:gridCol w="1145673">
                  <a:extLst>
                    <a:ext uri="{9D8B030D-6E8A-4147-A177-3AD203B41FA5}">
                      <a16:colId xmlns="" xmlns:a16="http://schemas.microsoft.com/office/drawing/2014/main" val="20002"/>
                    </a:ext>
                  </a:extLst>
                </a:gridCol>
                <a:gridCol w="1145673">
                  <a:extLst>
                    <a:ext uri="{9D8B030D-6E8A-4147-A177-3AD203B41FA5}">
                      <a16:colId xmlns="" xmlns:a16="http://schemas.microsoft.com/office/drawing/2014/main" val="20003"/>
                    </a:ext>
                  </a:extLst>
                </a:gridCol>
                <a:gridCol w="937369">
                  <a:extLst>
                    <a:ext uri="{9D8B030D-6E8A-4147-A177-3AD203B41FA5}">
                      <a16:colId xmlns="" xmlns:a16="http://schemas.microsoft.com/office/drawing/2014/main" val="20004"/>
                    </a:ext>
                  </a:extLst>
                </a:gridCol>
              </a:tblGrid>
              <a:tr h="476059">
                <a:tc>
                  <a:txBody>
                    <a:bodyPr/>
                    <a:lstStyle/>
                    <a:p>
                      <a:pPr algn="l" fontAlgn="ctr"/>
                      <a:r>
                        <a:rPr lang="zh-CN" altLang="en-US" sz="1400" u="none" strike="noStrike" dirty="0">
                          <a:effectLst/>
                        </a:rPr>
                        <a:t>　</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普通股票型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偏股混合型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灵活配置型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加总</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 xmlns:a16="http://schemas.microsoft.com/office/drawing/2014/main" val="10000"/>
                  </a:ext>
                </a:extLst>
              </a:tr>
              <a:tr h="476059">
                <a:tc>
                  <a:txBody>
                    <a:bodyPr/>
                    <a:lstStyle/>
                    <a:p>
                      <a:pPr algn="l" fontAlgn="ctr"/>
                      <a:r>
                        <a:rPr lang="zh-CN" altLang="en-US" sz="1400" u="none" strike="noStrike" dirty="0">
                          <a:effectLst/>
                        </a:rPr>
                        <a:t>数量</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16</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27</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51</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94</a:t>
                      </a:r>
                    </a:p>
                  </a:txBody>
                  <a:tcPr marL="9525" marR="9525" marT="9525" marB="0" anchor="ctr"/>
                </a:tc>
                <a:extLst>
                  <a:ext uri="{0D108BD9-81ED-4DB2-BD59-A6C34878D82A}">
                    <a16:rowId xmlns="" xmlns:a16="http://schemas.microsoft.com/office/drawing/2014/main" val="10001"/>
                  </a:ext>
                </a:extLst>
              </a:tr>
              <a:tr h="476059">
                <a:tc>
                  <a:txBody>
                    <a:bodyPr/>
                    <a:lstStyle/>
                    <a:p>
                      <a:pPr algn="l" fontAlgn="ctr"/>
                      <a:r>
                        <a:rPr lang="zh-CN" altLang="en-US" sz="1400" u="none" strike="noStrike" dirty="0">
                          <a:effectLst/>
                        </a:rPr>
                        <a:t>总数</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379</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1067</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1290</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2736</a:t>
                      </a:r>
                    </a:p>
                  </a:txBody>
                  <a:tcPr marL="9525" marR="9525" marT="9525" marB="0" anchor="ctr"/>
                </a:tc>
                <a:extLst>
                  <a:ext uri="{0D108BD9-81ED-4DB2-BD59-A6C34878D82A}">
                    <a16:rowId xmlns="" xmlns:a16="http://schemas.microsoft.com/office/drawing/2014/main" val="10002"/>
                  </a:ext>
                </a:extLst>
              </a:tr>
              <a:tr h="476059">
                <a:tc>
                  <a:txBody>
                    <a:bodyPr/>
                    <a:lstStyle/>
                    <a:p>
                      <a:pPr algn="l" fontAlgn="ctr"/>
                      <a:r>
                        <a:rPr lang="zh-CN" altLang="en-US" sz="1400" u="none" strike="noStrike" dirty="0">
                          <a:effectLst/>
                        </a:rPr>
                        <a:t>比率</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dirty="0">
                          <a:solidFill>
                            <a:srgbClr val="FF0000"/>
                          </a:solidFill>
                          <a:effectLst/>
                          <a:latin typeface="+mj-ea"/>
                          <a:ea typeface="+mj-ea"/>
                        </a:rPr>
                        <a:t>4%</a:t>
                      </a:r>
                    </a:p>
                  </a:txBody>
                  <a:tcPr marL="9525" marR="9525" marT="9525" marB="0" anchor="ctr">
                    <a:solidFill>
                      <a:srgbClr val="FFFF00"/>
                    </a:solidFill>
                  </a:tcPr>
                </a:tc>
                <a:tc>
                  <a:txBody>
                    <a:bodyPr/>
                    <a:lstStyle/>
                    <a:p>
                      <a:pPr algn="r" fontAlgn="ctr"/>
                      <a:r>
                        <a:rPr lang="en-US" altLang="zh-CN" sz="1400" b="0" i="0" u="none" strike="noStrike" dirty="0">
                          <a:solidFill>
                            <a:srgbClr val="FF0000"/>
                          </a:solidFill>
                          <a:effectLst/>
                          <a:latin typeface="+mj-ea"/>
                          <a:ea typeface="+mj-ea"/>
                        </a:rPr>
                        <a:t>3%</a:t>
                      </a:r>
                    </a:p>
                  </a:txBody>
                  <a:tcPr marL="9525" marR="9525" marT="9525" marB="0" anchor="ctr">
                    <a:solidFill>
                      <a:srgbClr val="FFFF00"/>
                    </a:solidFill>
                  </a:tcPr>
                </a:tc>
                <a:tc>
                  <a:txBody>
                    <a:bodyPr/>
                    <a:lstStyle/>
                    <a:p>
                      <a:pPr algn="r" fontAlgn="ctr"/>
                      <a:r>
                        <a:rPr lang="en-US" altLang="zh-CN" sz="1400" b="0" i="0" u="none" strike="noStrike" dirty="0">
                          <a:solidFill>
                            <a:srgbClr val="FF0000"/>
                          </a:solidFill>
                          <a:effectLst/>
                          <a:latin typeface="+mj-ea"/>
                          <a:ea typeface="+mj-ea"/>
                        </a:rPr>
                        <a:t>4%</a:t>
                      </a:r>
                    </a:p>
                  </a:txBody>
                  <a:tcPr marL="9525" marR="9525" marT="9525" marB="0" anchor="ctr">
                    <a:solidFill>
                      <a:srgbClr val="FFFF00"/>
                    </a:solidFill>
                  </a:tcPr>
                </a:tc>
                <a:tc>
                  <a:txBody>
                    <a:bodyPr/>
                    <a:lstStyle/>
                    <a:p>
                      <a:pPr algn="r" fontAlgn="ctr"/>
                      <a:r>
                        <a:rPr lang="en-US" altLang="zh-CN" sz="1400" b="0" i="0" u="none" strike="noStrike" dirty="0">
                          <a:solidFill>
                            <a:srgbClr val="FF0000"/>
                          </a:solidFill>
                          <a:effectLst/>
                          <a:latin typeface="+mj-ea"/>
                          <a:ea typeface="+mj-ea"/>
                        </a:rPr>
                        <a:t>3%</a:t>
                      </a:r>
                    </a:p>
                  </a:txBody>
                  <a:tcPr marL="9525" marR="9525" marT="9525" marB="0" anchor="ctr">
                    <a:solidFill>
                      <a:srgbClr val="FFFF00"/>
                    </a:solidFill>
                  </a:tcPr>
                </a:tc>
                <a:extLst>
                  <a:ext uri="{0D108BD9-81ED-4DB2-BD59-A6C34878D82A}">
                    <a16:rowId xmlns="" xmlns:a16="http://schemas.microsoft.com/office/drawing/2014/main" val="10003"/>
                  </a:ext>
                </a:extLst>
              </a:tr>
            </a:tbl>
          </a:graphicData>
        </a:graphic>
      </p:graphicFrame>
      <p:sp>
        <p:nvSpPr>
          <p:cNvPr id="24" name="文本框 23"/>
          <p:cNvSpPr txBox="1"/>
          <p:nvPr/>
        </p:nvSpPr>
        <p:spPr>
          <a:xfrm>
            <a:off x="7179732" y="1070786"/>
            <a:ext cx="4447823" cy="507831"/>
          </a:xfrm>
          <a:prstGeom prst="rect">
            <a:avLst/>
          </a:prstGeom>
          <a:noFill/>
        </p:spPr>
        <p:txBody>
          <a:bodyPr wrap="square">
            <a:spAutoFit/>
          </a:bodyPr>
          <a:lstStyle/>
          <a:p>
            <a:pPr algn="ctr">
              <a:lnSpc>
                <a:spcPct val="150000"/>
              </a:lnSpc>
              <a:spcAft>
                <a:spcPts val="530"/>
              </a:spcAft>
              <a:tabLst>
                <a:tab pos="901065" algn="l"/>
              </a:tabLst>
              <a:defRPr/>
            </a:pPr>
            <a:r>
              <a:rPr lang="zh-CN" altLang="en-US" dirty="0">
                <a:solidFill>
                  <a:prstClr val="black"/>
                </a:solidFill>
                <a:latin typeface="微软雅黑" panose="020B0503020204020204" pitchFamily="34" charset="-122"/>
                <a:ea typeface="微软雅黑" panose="020B0503020204020204" pitchFamily="34" charset="-122"/>
                <a:cs typeface="+mn-ea"/>
              </a:rPr>
              <a:t>偏股基金指数在主动偏股基金中的分位数</a:t>
            </a:r>
            <a:endParaRPr lang="en-US" altLang="zh-CN" dirty="0">
              <a:solidFill>
                <a:prstClr val="black"/>
              </a:solidFill>
              <a:latin typeface="微软雅黑" panose="020B0503020204020204" pitchFamily="34" charset="-122"/>
              <a:ea typeface="微软雅黑" panose="020B0503020204020204" pitchFamily="34" charset="-122"/>
              <a:cs typeface="+mn-ea"/>
            </a:endParaRPr>
          </a:p>
        </p:txBody>
      </p:sp>
      <p:graphicFrame>
        <p:nvGraphicFramePr>
          <p:cNvPr id="25" name="表格 24"/>
          <p:cNvGraphicFramePr>
            <a:graphicFrameLocks noGrp="1"/>
          </p:cNvGraphicFramePr>
          <p:nvPr/>
        </p:nvGraphicFramePr>
        <p:xfrm>
          <a:off x="7264262" y="1728390"/>
          <a:ext cx="4340715" cy="4048239"/>
        </p:xfrm>
        <a:graphic>
          <a:graphicData uri="http://schemas.openxmlformats.org/drawingml/2006/table">
            <a:tbl>
              <a:tblPr>
                <a:tableStyleId>{5C22544A-7EE6-4342-B048-85BDC9FD1C3A}</a:tableStyleId>
              </a:tblPr>
              <a:tblGrid>
                <a:gridCol w="1691794">
                  <a:extLst>
                    <a:ext uri="{9D8B030D-6E8A-4147-A177-3AD203B41FA5}">
                      <a16:colId xmlns="" xmlns:a16="http://schemas.microsoft.com/office/drawing/2014/main" val="20000"/>
                    </a:ext>
                  </a:extLst>
                </a:gridCol>
                <a:gridCol w="2648921">
                  <a:extLst>
                    <a:ext uri="{9D8B030D-6E8A-4147-A177-3AD203B41FA5}">
                      <a16:colId xmlns="" xmlns:a16="http://schemas.microsoft.com/office/drawing/2014/main" val="20001"/>
                    </a:ext>
                  </a:extLst>
                </a:gridCol>
              </a:tblGrid>
              <a:tr h="311403">
                <a:tc>
                  <a:txBody>
                    <a:bodyPr/>
                    <a:lstStyle/>
                    <a:p>
                      <a:pPr algn="ctr" fontAlgn="b"/>
                      <a:endParaRPr lang="zh-CN" altLang="en-US" sz="1600" b="1" i="0" u="none" strike="noStrike" dirty="0">
                        <a:solidFill>
                          <a:schemeClr val="bg1"/>
                        </a:solidFill>
                        <a:effectLst/>
                        <a:latin typeface="+mj-ea"/>
                        <a:ea typeface="+mj-ea"/>
                      </a:endParaRPr>
                    </a:p>
                  </a:txBody>
                  <a:tcPr marL="9525" marR="9525" marT="9525" marB="0" anchor="b">
                    <a:solidFill>
                      <a:schemeClr val="tx2"/>
                    </a:solidFill>
                  </a:tcPr>
                </a:tc>
                <a:tc>
                  <a:txBody>
                    <a:bodyPr/>
                    <a:lstStyle/>
                    <a:p>
                      <a:pPr algn="ctr" fontAlgn="b"/>
                      <a:r>
                        <a:rPr lang="zh-CN" altLang="en-US" sz="1600" b="1" u="none" strike="noStrike" dirty="0">
                          <a:solidFill>
                            <a:schemeClr val="bg1"/>
                          </a:solidFill>
                          <a:effectLst/>
                          <a:latin typeface="+mj-ea"/>
                          <a:ea typeface="+mj-ea"/>
                        </a:rPr>
                        <a:t>偏股基金指数的分位数</a:t>
                      </a:r>
                      <a:endParaRPr lang="zh-CN" altLang="en-US" sz="1600" b="1" i="0" u="none" strike="noStrike" dirty="0">
                        <a:solidFill>
                          <a:schemeClr val="bg1"/>
                        </a:solidFill>
                        <a:effectLst/>
                        <a:latin typeface="+mj-ea"/>
                        <a:ea typeface="+mj-ea"/>
                      </a:endParaRPr>
                    </a:p>
                  </a:txBody>
                  <a:tcPr marL="9525" marR="9525" marT="9525" marB="0" anchor="b">
                    <a:solidFill>
                      <a:schemeClr val="tx2"/>
                    </a:solidFill>
                  </a:tcPr>
                </a:tc>
                <a:extLst>
                  <a:ext uri="{0D108BD9-81ED-4DB2-BD59-A6C34878D82A}">
                    <a16:rowId xmlns="" xmlns:a16="http://schemas.microsoft.com/office/drawing/2014/main" val="10000"/>
                  </a:ext>
                </a:extLst>
              </a:tr>
              <a:tr h="311403">
                <a:tc>
                  <a:txBody>
                    <a:bodyPr/>
                    <a:lstStyle/>
                    <a:p>
                      <a:pPr algn="ctr" fontAlgn="b"/>
                      <a:r>
                        <a:rPr lang="en-US" altLang="zh-CN" sz="1600" b="1" u="none" strike="noStrike" dirty="0">
                          <a:solidFill>
                            <a:schemeClr val="bg1"/>
                          </a:solidFill>
                          <a:effectLst/>
                          <a:latin typeface="+mj-ea"/>
                          <a:ea typeface="+mj-ea"/>
                        </a:rPr>
                        <a:t>2025</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42.5%</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1"/>
                  </a:ext>
                </a:extLst>
              </a:tr>
              <a:tr h="311403">
                <a:tc>
                  <a:txBody>
                    <a:bodyPr/>
                    <a:lstStyle/>
                    <a:p>
                      <a:pPr algn="ctr" fontAlgn="b"/>
                      <a:r>
                        <a:rPr lang="en-US" altLang="zh-CN" sz="1600" b="1" u="none" strike="noStrike" dirty="0">
                          <a:solidFill>
                            <a:schemeClr val="bg1"/>
                          </a:solidFill>
                          <a:effectLst/>
                          <a:latin typeface="+mj-ea"/>
                          <a:ea typeface="+mj-ea"/>
                        </a:rPr>
                        <a:t>2024</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49.5%</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2"/>
                  </a:ext>
                </a:extLst>
              </a:tr>
              <a:tr h="311403">
                <a:tc>
                  <a:txBody>
                    <a:bodyPr/>
                    <a:lstStyle/>
                    <a:p>
                      <a:pPr algn="ctr" fontAlgn="b"/>
                      <a:r>
                        <a:rPr lang="en-US" altLang="zh-CN" sz="1600" b="1" u="none" strike="noStrike" dirty="0">
                          <a:solidFill>
                            <a:schemeClr val="bg1"/>
                          </a:solidFill>
                          <a:effectLst/>
                          <a:latin typeface="+mj-ea"/>
                          <a:ea typeface="+mj-ea"/>
                        </a:rPr>
                        <a:t>2023</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53.9%</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3"/>
                  </a:ext>
                </a:extLst>
              </a:tr>
              <a:tr h="311403">
                <a:tc>
                  <a:txBody>
                    <a:bodyPr/>
                    <a:lstStyle/>
                    <a:p>
                      <a:pPr algn="ctr" fontAlgn="b"/>
                      <a:r>
                        <a:rPr lang="en-US" altLang="zh-CN" sz="1600" b="1" u="none" strike="noStrike" dirty="0">
                          <a:solidFill>
                            <a:schemeClr val="bg1"/>
                          </a:solidFill>
                          <a:effectLst/>
                          <a:latin typeface="+mj-ea"/>
                          <a:ea typeface="+mj-ea"/>
                        </a:rPr>
                        <a:t>2022</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57.5%</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4"/>
                  </a:ext>
                </a:extLst>
              </a:tr>
              <a:tr h="311403">
                <a:tc>
                  <a:txBody>
                    <a:bodyPr/>
                    <a:lstStyle/>
                    <a:p>
                      <a:pPr algn="ctr" fontAlgn="b"/>
                      <a:r>
                        <a:rPr lang="en-US" altLang="zh-CN" sz="1600" b="1" u="none" strike="noStrike" dirty="0">
                          <a:solidFill>
                            <a:schemeClr val="bg1"/>
                          </a:solidFill>
                          <a:effectLst/>
                          <a:latin typeface="+mj-ea"/>
                          <a:ea typeface="+mj-ea"/>
                        </a:rPr>
                        <a:t>2021</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48.4%</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5"/>
                  </a:ext>
                </a:extLst>
              </a:tr>
              <a:tr h="311403">
                <a:tc>
                  <a:txBody>
                    <a:bodyPr/>
                    <a:lstStyle/>
                    <a:p>
                      <a:pPr algn="ctr" fontAlgn="b"/>
                      <a:r>
                        <a:rPr lang="en-US" altLang="zh-CN" sz="1600" b="1" u="none" strike="noStrike" dirty="0">
                          <a:solidFill>
                            <a:schemeClr val="bg1"/>
                          </a:solidFill>
                          <a:effectLst/>
                          <a:latin typeface="+mj-ea"/>
                          <a:ea typeface="+mj-ea"/>
                        </a:rPr>
                        <a:t>2020</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53.0%</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6"/>
                  </a:ext>
                </a:extLst>
              </a:tr>
              <a:tr h="311403">
                <a:tc>
                  <a:txBody>
                    <a:bodyPr/>
                    <a:lstStyle/>
                    <a:p>
                      <a:pPr algn="ctr" fontAlgn="b"/>
                      <a:r>
                        <a:rPr lang="en-US" altLang="zh-CN" sz="1600" b="1" u="none" strike="noStrike" dirty="0">
                          <a:solidFill>
                            <a:schemeClr val="bg1"/>
                          </a:solidFill>
                          <a:effectLst/>
                          <a:latin typeface="+mj-ea"/>
                          <a:ea typeface="+mj-ea"/>
                        </a:rPr>
                        <a:t>2019</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44.8%</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7"/>
                  </a:ext>
                </a:extLst>
              </a:tr>
              <a:tr h="311403">
                <a:tc>
                  <a:txBody>
                    <a:bodyPr/>
                    <a:lstStyle/>
                    <a:p>
                      <a:pPr algn="ctr" fontAlgn="b"/>
                      <a:r>
                        <a:rPr lang="en-US" altLang="zh-CN" sz="1600" b="1" u="none" strike="noStrike" dirty="0">
                          <a:solidFill>
                            <a:schemeClr val="bg1"/>
                          </a:solidFill>
                          <a:effectLst/>
                          <a:latin typeface="+mj-ea"/>
                          <a:ea typeface="+mj-ea"/>
                        </a:rPr>
                        <a:t>2018</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57.4%</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8"/>
                  </a:ext>
                </a:extLst>
              </a:tr>
              <a:tr h="311403">
                <a:tc>
                  <a:txBody>
                    <a:bodyPr/>
                    <a:lstStyle/>
                    <a:p>
                      <a:pPr algn="ctr" fontAlgn="b"/>
                      <a:r>
                        <a:rPr lang="en-US" altLang="zh-CN" sz="1600" b="1" u="none" strike="noStrike" dirty="0">
                          <a:solidFill>
                            <a:schemeClr val="bg1"/>
                          </a:solidFill>
                          <a:effectLst/>
                          <a:latin typeface="+mj-ea"/>
                          <a:ea typeface="+mj-ea"/>
                        </a:rPr>
                        <a:t>2017</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43.8%</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9"/>
                  </a:ext>
                </a:extLst>
              </a:tr>
              <a:tr h="311403">
                <a:tc>
                  <a:txBody>
                    <a:bodyPr/>
                    <a:lstStyle/>
                    <a:p>
                      <a:pPr algn="ctr" fontAlgn="b"/>
                      <a:r>
                        <a:rPr lang="en-US" altLang="zh-CN" sz="1600" b="1" u="none" strike="noStrike" dirty="0">
                          <a:solidFill>
                            <a:schemeClr val="bg1"/>
                          </a:solidFill>
                          <a:effectLst/>
                          <a:latin typeface="+mj-ea"/>
                          <a:ea typeface="+mj-ea"/>
                        </a:rPr>
                        <a:t>2016</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52.0%</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10"/>
                  </a:ext>
                </a:extLst>
              </a:tr>
              <a:tr h="311403">
                <a:tc>
                  <a:txBody>
                    <a:bodyPr/>
                    <a:lstStyle/>
                    <a:p>
                      <a:pPr algn="ctr" fontAlgn="b"/>
                      <a:r>
                        <a:rPr lang="en-US" altLang="zh-CN" sz="1600" b="1" u="none" strike="noStrike">
                          <a:solidFill>
                            <a:schemeClr val="bg1"/>
                          </a:solidFill>
                          <a:effectLst/>
                          <a:latin typeface="+mj-ea"/>
                          <a:ea typeface="+mj-ea"/>
                        </a:rPr>
                        <a:t>2015</a:t>
                      </a:r>
                      <a:r>
                        <a:rPr lang="zh-CN" altLang="en-US" sz="1600" b="1" u="none" strike="noStrike">
                          <a:solidFill>
                            <a:schemeClr val="bg1"/>
                          </a:solidFill>
                          <a:effectLst/>
                          <a:latin typeface="+mj-ea"/>
                          <a:ea typeface="+mj-ea"/>
                        </a:rPr>
                        <a:t>年</a:t>
                      </a:r>
                      <a:endParaRPr lang="zh-CN" altLang="en-US" sz="1600" b="1" i="0" u="none" strike="noStrike">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52.8%</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11"/>
                  </a:ext>
                </a:extLst>
              </a:tr>
              <a:tr h="311403">
                <a:tc>
                  <a:txBody>
                    <a:bodyPr/>
                    <a:lstStyle/>
                    <a:p>
                      <a:pPr algn="ctr" fontAlgn="b"/>
                      <a:r>
                        <a:rPr lang="en-US" altLang="zh-CN" sz="1600" b="1" u="none" strike="noStrike">
                          <a:solidFill>
                            <a:schemeClr val="bg1"/>
                          </a:solidFill>
                          <a:effectLst/>
                          <a:latin typeface="+mj-ea"/>
                          <a:ea typeface="+mj-ea"/>
                        </a:rPr>
                        <a:t>2014</a:t>
                      </a:r>
                      <a:r>
                        <a:rPr lang="zh-CN" altLang="en-US" sz="1600" b="1" u="none" strike="noStrike">
                          <a:solidFill>
                            <a:schemeClr val="bg1"/>
                          </a:solidFill>
                          <a:effectLst/>
                          <a:latin typeface="+mj-ea"/>
                          <a:ea typeface="+mj-ea"/>
                        </a:rPr>
                        <a:t>年</a:t>
                      </a:r>
                      <a:endParaRPr lang="zh-CN" altLang="en-US" sz="1600" b="1" i="0" u="none" strike="noStrike">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50.4%</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12"/>
                  </a:ext>
                </a:extLst>
              </a:tr>
            </a:tbl>
          </a:graphicData>
        </a:graphic>
      </p:graphicFrame>
      <p:sp>
        <p:nvSpPr>
          <p:cNvPr id="2" name="文本框 1"/>
          <p:cNvSpPr txBox="1"/>
          <p:nvPr/>
        </p:nvSpPr>
        <p:spPr>
          <a:xfrm>
            <a:off x="336331" y="6585306"/>
            <a:ext cx="5194673" cy="253916"/>
          </a:xfrm>
          <a:prstGeom prst="rect">
            <a:avLst/>
          </a:prstGeom>
          <a:noFill/>
        </p:spPr>
        <p:txBody>
          <a:bodyPr wrap="square" rtlCol="0">
            <a:spAutoFit/>
          </a:bodyPr>
          <a:lstStyle/>
          <a:p>
            <a:r>
              <a:rPr lang="zh-CN" altLang="en-US" sz="1050" dirty="0">
                <a:latin typeface="+mj-ea"/>
                <a:ea typeface="+mj-ea"/>
              </a:rPr>
              <a:t>数据来源：</a:t>
            </a:r>
            <a:r>
              <a:rPr lang="en-US" altLang="zh-CN" sz="1050" dirty="0">
                <a:latin typeface="+mj-ea"/>
                <a:ea typeface="+mj-ea"/>
              </a:rPr>
              <a:t>Wind</a:t>
            </a:r>
            <a:r>
              <a:rPr lang="zh-CN" altLang="en-US" sz="1050" dirty="0">
                <a:latin typeface="+mj-ea"/>
                <a:ea typeface="+mj-ea"/>
              </a:rPr>
              <a:t>。</a:t>
            </a:r>
            <a:r>
              <a:rPr lang="en-US" altLang="zh-CN" sz="1050" dirty="0">
                <a:latin typeface="+mj-ea"/>
                <a:ea typeface="+mj-ea"/>
              </a:rPr>
              <a:t>2014.1.1-2025.12.31</a:t>
            </a:r>
            <a:r>
              <a:rPr lang="zh-CN" altLang="en-US" sz="1050" dirty="0">
                <a:latin typeface="+mj-ea"/>
                <a:ea typeface="+mj-ea"/>
              </a:rPr>
              <a:t>。</a:t>
            </a:r>
            <a:r>
              <a:rPr lang="zh-CN" altLang="en-US" sz="1050" b="1" dirty="0">
                <a:latin typeface="+mj-ea"/>
                <a:ea typeface="+mj-ea"/>
              </a:rPr>
              <a:t>基金过往表现不预示未来收益。</a:t>
            </a:r>
          </a:p>
        </p:txBody>
      </p:sp>
      <p:sp>
        <p:nvSpPr>
          <p:cNvPr id="3" name="文本框 2"/>
          <p:cNvSpPr txBox="1"/>
          <p:nvPr/>
        </p:nvSpPr>
        <p:spPr>
          <a:xfrm>
            <a:off x="4944294" y="6597860"/>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 xmlns:a16="http://schemas.microsoft.com/office/drawing/2014/main" id="{C8631F32-1035-B751-AEF5-8C4550C53151}"/>
              </a:ext>
            </a:extLst>
          </p:cNvPr>
          <p:cNvSpPr txBox="1"/>
          <p:nvPr/>
        </p:nvSpPr>
        <p:spPr>
          <a:xfrm>
            <a:off x="223870" y="6382388"/>
            <a:ext cx="10913565" cy="369332"/>
          </a:xfrm>
          <a:prstGeom prst="rect">
            <a:avLst/>
          </a:prstGeom>
          <a:noFill/>
        </p:spPr>
        <p:txBody>
          <a:bodyPr wrap="none" rtlCol="0">
            <a:spAutoFit/>
          </a:bodyPr>
          <a:lstStyle/>
          <a:p>
            <a:r>
              <a:rPr lang="zh-CN" altLang="en-US" sz="900" dirty="0">
                <a:highlight>
                  <a:srgbClr val="FFFF00"/>
                </a:highlight>
                <a:latin typeface="+mj-ea"/>
                <a:ea typeface="+mj-ea"/>
              </a:rPr>
              <a:t>注：</a:t>
            </a:r>
            <a:r>
              <a:rPr lang="zh-CN" altLang="zh-CN" sz="900" dirty="0">
                <a:highlight>
                  <a:srgbClr val="FFFF00"/>
                </a:highlight>
                <a:latin typeface="+mj-ea"/>
                <a:ea typeface="+mj-ea"/>
              </a:rPr>
              <a:t>依据基金合同约定</a:t>
            </a:r>
            <a:r>
              <a:rPr lang="zh-CN" altLang="en-US" sz="900" dirty="0">
                <a:highlight>
                  <a:srgbClr val="FFFF00"/>
                </a:highlight>
                <a:latin typeface="+mj-ea"/>
                <a:ea typeface="+mj-ea"/>
              </a:rPr>
              <a:t>，</a:t>
            </a:r>
            <a:r>
              <a:rPr lang="zh-CN" altLang="zh-CN" sz="900" dirty="0">
                <a:highlight>
                  <a:srgbClr val="FFFF00"/>
                </a:highlight>
                <a:latin typeface="+mj-ea"/>
                <a:ea typeface="+mj-ea"/>
              </a:rPr>
              <a:t>普通股票型股票资产占基金资产的比例不低于80%</a:t>
            </a:r>
            <a:r>
              <a:rPr lang="zh-CN" altLang="en-US" sz="900" dirty="0">
                <a:highlight>
                  <a:srgbClr val="FFFF00"/>
                </a:highlight>
                <a:latin typeface="+mj-ea"/>
                <a:ea typeface="+mj-ea"/>
              </a:rPr>
              <a:t>，</a:t>
            </a:r>
            <a:r>
              <a:rPr lang="zh-CN" altLang="zh-CN" sz="900" dirty="0">
                <a:highlight>
                  <a:srgbClr val="FFFF00"/>
                </a:highlight>
                <a:latin typeface="+mj-ea"/>
                <a:ea typeface="+mj-ea"/>
              </a:rPr>
              <a:t>偏股混合型​通常股票资产占基金资产的比例范围为60%-95%​ </a:t>
            </a:r>
            <a:r>
              <a:rPr lang="zh-CN" altLang="en-US" sz="900" dirty="0">
                <a:highlight>
                  <a:srgbClr val="FFFF00"/>
                </a:highlight>
                <a:latin typeface="+mj-ea"/>
                <a:ea typeface="+mj-ea"/>
              </a:rPr>
              <a:t>，</a:t>
            </a:r>
            <a:r>
              <a:rPr lang="zh-CN" altLang="zh-CN" sz="900" dirty="0">
                <a:highlight>
                  <a:srgbClr val="FFFF00"/>
                </a:highlight>
                <a:latin typeface="+mj-ea"/>
                <a:ea typeface="+mj-ea"/>
              </a:rPr>
              <a:t>灵活配置型股票资产占基金资产的比例范围非常宽泛，常见为0-95%。</a:t>
            </a:r>
          </a:p>
          <a:p>
            <a:endParaRPr lang="zh-CN" altLang="en-US" sz="900" dirty="0">
              <a:highlight>
                <a:srgbClr val="FFFF00"/>
              </a:highlight>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5" y="287933"/>
            <a:ext cx="7795192" cy="430887"/>
          </a:xfrm>
          <a:prstGeom prst="rect">
            <a:avLst/>
          </a:prstGeom>
          <a:noFill/>
        </p:spPr>
        <p:txBody>
          <a:bodyPr wrap="square" rtlCol="0">
            <a:spAutoFit/>
          </a:bodyPr>
          <a:lstStyle/>
          <a:p>
            <a:r>
              <a:rPr lang="en-US" altLang="zh-CN" sz="2200" b="1" dirty="0" smtClean="0">
                <a:solidFill>
                  <a:srgbClr val="B83835"/>
                </a:solidFill>
                <a:latin typeface="微软雅黑" panose="020B0503020204020204" pitchFamily="34" charset="-122"/>
                <a:ea typeface="微软雅黑" panose="020B0503020204020204" pitchFamily="34" charset="-122"/>
                <a:sym typeface="+mn-ea"/>
              </a:rPr>
              <a:t>930950</a:t>
            </a:r>
            <a:r>
              <a:rPr lang="zh-CN" altLang="en-US" sz="2200" b="1" dirty="0" smtClean="0">
                <a:solidFill>
                  <a:srgbClr val="B83835"/>
                </a:solidFill>
                <a:latin typeface="微软雅黑" panose="020B0503020204020204" pitchFamily="34" charset="-122"/>
                <a:ea typeface="微软雅黑" panose="020B0503020204020204" pitchFamily="34" charset="-122"/>
                <a:sym typeface="+mn-ea"/>
              </a:rPr>
              <a:t>行业仓位探测：</a:t>
            </a:r>
            <a:r>
              <a:rPr lang="zh-CN" altLang="en-US" sz="2200" b="1" dirty="0" smtClean="0">
                <a:latin typeface="微软雅黑" panose="020B0503020204020204" pitchFamily="34" charset="-122"/>
                <a:ea typeface="微软雅黑" panose="020B0503020204020204" pitchFamily="34" charset="-122"/>
                <a:sym typeface="+mn-ea"/>
              </a:rPr>
              <a:t>跟踪指数的变化</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930950_sector_allocation.png"/>
          <p:cNvPicPr>
            <a:picLocks noChangeAspect="1"/>
          </p:cNvPicPr>
          <p:nvPr/>
        </p:nvPicPr>
        <p:blipFill>
          <a:blip r:embed="rId5"/>
          <a:stretch>
            <a:fillRect/>
          </a:stretch>
        </p:blipFill>
        <p:spPr>
          <a:xfrm>
            <a:off x="583695" y="863997"/>
            <a:ext cx="10047729" cy="5576132"/>
          </a:xfrm>
          <a:prstGeom prst="rect">
            <a:avLst/>
          </a:prstGeom>
        </p:spPr>
      </p:pic>
    </p:spTree>
    <p:extLst>
      <p:ext uri="{BB962C8B-B14F-4D97-AF65-F5344CB8AC3E}">
        <p14:creationId xmlns:p14="http://schemas.microsoft.com/office/powerpoint/2010/main" val="127351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4" y="287933"/>
            <a:ext cx="9908029" cy="430887"/>
          </a:xfrm>
          <a:prstGeom prst="rect">
            <a:avLst/>
          </a:prstGeom>
          <a:noFill/>
        </p:spPr>
        <p:txBody>
          <a:bodyPr wrap="square" rtlCol="0">
            <a:spAutoFit/>
          </a:bodyPr>
          <a:lstStyle/>
          <a:p>
            <a:r>
              <a:rPr lang="zh-CN" altLang="en-US" sz="2200" b="1" dirty="0" smtClean="0">
                <a:solidFill>
                  <a:srgbClr val="B83835"/>
                </a:solidFill>
                <a:latin typeface="微软雅黑" panose="020B0503020204020204" pitchFamily="34" charset="-122"/>
                <a:ea typeface="微软雅黑" panose="020B0503020204020204" pitchFamily="34" charset="-122"/>
                <a:sym typeface="+mn-ea"/>
              </a:rPr>
              <a:t>基金产品的行业仓位探测：</a:t>
            </a:r>
            <a:r>
              <a:rPr lang="zh-CN" altLang="en-US" sz="2200" b="1" dirty="0" smtClean="0">
                <a:latin typeface="微软雅黑" panose="020B0503020204020204" pitchFamily="34" charset="-122"/>
                <a:ea typeface="微软雅黑" panose="020B0503020204020204" pitchFamily="34" charset="-122"/>
                <a:sym typeface="+mn-ea"/>
              </a:rPr>
              <a:t>使用全市场最优秀的基金组合的行业持仓</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9" name="图片 8" descr="框"/>
          <p:cNvPicPr>
            <a:picLocks noChangeAspect="1"/>
          </p:cNvPicPr>
          <p:nvPr/>
        </p:nvPicPr>
        <p:blipFill>
          <a:blip r:embed="rId4"/>
          <a:stretch>
            <a:fillRect/>
          </a:stretch>
        </p:blipFill>
        <p:spPr>
          <a:xfrm>
            <a:off x="97970" y="1277976"/>
            <a:ext cx="10839168" cy="3004820"/>
          </a:xfrm>
          <a:prstGeom prst="rect">
            <a:avLst/>
          </a:prstGeom>
        </p:spPr>
      </p:pic>
      <p:pic>
        <p:nvPicPr>
          <p:cNvPr id="10" name="图片 9" descr="框"/>
          <p:cNvPicPr>
            <a:picLocks noChangeAspect="1"/>
          </p:cNvPicPr>
          <p:nvPr/>
        </p:nvPicPr>
        <p:blipFill>
          <a:blip r:embed="rId4"/>
          <a:stretch>
            <a:fillRect/>
          </a:stretch>
        </p:blipFill>
        <p:spPr>
          <a:xfrm>
            <a:off x="161470" y="3580486"/>
            <a:ext cx="10775668" cy="3004820"/>
          </a:xfrm>
          <a:prstGeom prst="rect">
            <a:avLst/>
          </a:prstGeom>
        </p:spPr>
      </p:pic>
      <p:sp>
        <p:nvSpPr>
          <p:cNvPr id="11" name="文本框 10"/>
          <p:cNvSpPr txBox="1"/>
          <p:nvPr/>
        </p:nvSpPr>
        <p:spPr>
          <a:xfrm>
            <a:off x="1703884" y="1935836"/>
            <a:ext cx="8011615" cy="1061829"/>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使用机器学习选基模型，提取基金产品的特征，使用海量历史数据训练，筛选最优异的基金产品</a:t>
            </a:r>
            <a:endParaRPr lang="en-US" altLang="zh-CN"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endParaRPr>
          </a:p>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a:t>
            </a: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基金行业高频仓位测算模型进行风险控制，仓位测算模型覆盖基金的动态分类、基金组合构建与动态风险监控等环节</a:t>
            </a:r>
            <a:endParaRPr lang="en-US" altLang="zh-CN" sz="1400" dirty="0">
              <a:solidFill>
                <a:schemeClr val="dk1"/>
              </a:solidFill>
              <a:latin typeface="微软雅黑" panose="020B0503020204020204" pitchFamily="34" charset="-122"/>
              <a:ea typeface="微软雅黑" panose="020B0503020204020204" pitchFamily="34" charset="-122"/>
              <a:cs typeface="Inter" pitchFamily="34" charset="-120"/>
              <a:sym typeface="+mn-ea"/>
            </a:endParaRPr>
          </a:p>
        </p:txBody>
      </p:sp>
      <p:sp>
        <p:nvSpPr>
          <p:cNvPr id="12" name="文本框 11"/>
          <p:cNvSpPr txBox="1"/>
          <p:nvPr/>
        </p:nvSpPr>
        <p:spPr>
          <a:xfrm>
            <a:off x="1103174" y="1567536"/>
            <a:ext cx="6212025" cy="369332"/>
          </a:xfrm>
          <a:prstGeom prst="rect">
            <a:avLst/>
          </a:prstGeom>
          <a:noFill/>
        </p:spPr>
        <p:txBody>
          <a:bodyPr wrap="square" rtlCol="0">
            <a:spAutoFit/>
          </a:bodyPr>
          <a:lstStyle/>
          <a:p>
            <a:r>
              <a:t>1. 扩展窗口机器学习选基模型，每期筛选Top20基金</a:t>
            </a:r>
          </a:p>
        </p:txBody>
      </p:sp>
      <p:sp>
        <p:nvSpPr>
          <p:cNvPr id="13" name="文本框 12"/>
          <p:cNvSpPr txBox="1"/>
          <p:nvPr/>
        </p:nvSpPr>
        <p:spPr>
          <a:xfrm>
            <a:off x="1703885" y="4395826"/>
            <a:ext cx="7314142" cy="738664"/>
          </a:xfrm>
          <a:prstGeom prst="rect">
            <a:avLst/>
          </a:prstGeom>
          <a:noFill/>
        </p:spPr>
        <p:txBody>
          <a:bodyPr wrap="square" rtlCol="0">
            <a:spAutoFit/>
          </a:bodyPr>
          <a:lstStyle/>
          <a:p>
            <a:r>
              <a:t>基金组合行业配置线上限25%；ETF组合行业配置上限35%。ETF缺乏主动管理alpha，需适度行业超配以获取超额，同时控制偏离。</a:t>
            </a:r>
          </a:p>
        </p:txBody>
      </p:sp>
      <p:sp>
        <p:nvSpPr>
          <p:cNvPr id="14" name="文本框 13"/>
          <p:cNvSpPr txBox="1"/>
          <p:nvPr/>
        </p:nvSpPr>
        <p:spPr>
          <a:xfrm>
            <a:off x="1199059" y="3998951"/>
            <a:ext cx="8042911" cy="369332"/>
          </a:xfrm>
          <a:prstGeom prst="rect">
            <a:avLst/>
          </a:prstGeom>
          <a:noFill/>
        </p:spPr>
        <p:txBody>
          <a:bodyPr wrap="square" rtlCol="0">
            <a:spAutoFit/>
          </a:bodyPr>
          <a:lstStyle/>
          <a:p>
            <a:r>
              <a:t>2. 穿透测算组合行业权重，映射为ETF轮动配置</a:t>
            </a:r>
          </a:p>
        </p:txBody>
      </p:sp>
    </p:spTree>
    <p:extLst>
      <p:ext uri="{BB962C8B-B14F-4D97-AF65-F5344CB8AC3E}">
        <p14:creationId xmlns:p14="http://schemas.microsoft.com/office/powerpoint/2010/main" val="218310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机器学习选基模型：</a:t>
            </a:r>
            <a:r>
              <a:rPr lang="zh-CN" altLang="en-US" sz="2200" b="1" dirty="0">
                <a:latin typeface="微软雅黑" panose="020B0503020204020204" pitchFamily="34" charset="-122"/>
                <a:ea typeface="微软雅黑" panose="020B0503020204020204" pitchFamily="34" charset="-122"/>
                <a:sym typeface="+mn-ea"/>
              </a:rPr>
              <a:t>回溯表现</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7091" y="6240269"/>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36332" y="6585306"/>
            <a:ext cx="8841122" cy="252730"/>
          </a:xfrm>
          <a:prstGeom prst="rect">
            <a:avLst/>
          </a:prstGeom>
          <a:noFill/>
        </p:spPr>
        <p:txBody>
          <a:bodyPr wrap="square" rtlCol="0">
            <a:spAutoFit/>
          </a:bodyPr>
          <a:lstStyle/>
          <a:p>
            <a:r>
              <a:rPr lang="zh-CN" altLang="en-US" sz="1050" dirty="0">
                <a:latin typeface="+mj-ea"/>
                <a:ea typeface="+mj-ea"/>
                <a:cs typeface="+mj-ea"/>
              </a:rPr>
              <a:t>注：仅代表机器学习选基模型的回溯表现，相关数据不代表实际投资表现。数据来源：银华基金、</a:t>
            </a:r>
            <a:r>
              <a:rPr lang="en-US" altLang="zh-CN" sz="1050" dirty="0">
                <a:latin typeface="+mj-ea"/>
                <a:ea typeface="+mj-ea"/>
                <a:cs typeface="+mj-ea"/>
              </a:rPr>
              <a:t>Wind</a:t>
            </a:r>
            <a:r>
              <a:rPr lang="zh-CN" altLang="en-US" sz="1050" dirty="0">
                <a:latin typeface="+mj-ea"/>
                <a:ea typeface="+mj-ea"/>
                <a:cs typeface="+mj-ea"/>
              </a:rPr>
              <a:t>，</a:t>
            </a:r>
            <a:r>
              <a:rPr lang="en-US" altLang="zh-CN" sz="1050" dirty="0">
                <a:latin typeface="+mj-ea"/>
                <a:ea typeface="+mj-ea"/>
                <a:cs typeface="+mj-ea"/>
              </a:rPr>
              <a:t>2017.1-2026.6</a:t>
            </a:r>
            <a:endParaRPr lang="zh-CN" altLang="en-US" sz="1050" dirty="0">
              <a:latin typeface="+mj-ea"/>
              <a:ea typeface="+mj-ea"/>
              <a:cs typeface="+mj-ea"/>
            </a:endParaRPr>
          </a:p>
        </p:txBody>
      </p:sp>
      <p:sp>
        <p:nvSpPr>
          <p:cNvPr id="3" name="文本框 2"/>
          <p:cNvSpPr txBox="1"/>
          <p:nvPr/>
        </p:nvSpPr>
        <p:spPr>
          <a:xfrm>
            <a:off x="7774489" y="65857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fund_model_nav.png"/>
          <p:cNvPicPr>
            <a:picLocks noChangeAspect="1"/>
          </p:cNvPicPr>
          <p:nvPr/>
        </p:nvPicPr>
        <p:blipFill>
          <a:blip r:embed="rId5"/>
          <a:stretch>
            <a:fillRect/>
          </a:stretch>
        </p:blipFill>
        <p:spPr>
          <a:xfrm>
            <a:off x="614098" y="1415716"/>
            <a:ext cx="9663764" cy="40265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机器学习选基模型：</a:t>
            </a:r>
            <a:r>
              <a:rPr lang="zh-CN" altLang="en-US" sz="2200" b="1" dirty="0">
                <a:latin typeface="微软雅黑" panose="020B0503020204020204" pitchFamily="34" charset="-122"/>
                <a:ea typeface="微软雅黑" panose="020B0503020204020204" pitchFamily="34" charset="-122"/>
                <a:sym typeface="+mn-ea"/>
              </a:rPr>
              <a:t>与传统回归模型的区别</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p:nvPr/>
        </p:nvSpPr>
        <p:spPr>
          <a:xfrm>
            <a:off x="152401" y="2800330"/>
            <a:ext cx="6303737" cy="984244"/>
          </a:xfrm>
          <a:prstGeom prst="rect">
            <a:avLst/>
          </a:prstGeom>
          <a:noFill/>
        </p:spPr>
        <p:txBody>
          <a:bodyPr wrap="square" rtlCol="0">
            <a:spAutoFit/>
          </a:bodyPr>
          <a:lstStyle/>
          <a:p>
            <a:r>
              <a:rPr lang="zh-CN" altLang="en-US" sz="2000" dirty="0">
                <a:ea typeface="微软雅黑" panose="020B0503020204020204" pitchFamily="34" charset="-122"/>
                <a:cs typeface="+mn-ea"/>
              </a:rPr>
              <a:t>通过分类的方式尝试寻找收益和特征之间的关系。</a:t>
            </a:r>
            <a:endParaRPr lang="en-US" altLang="zh-CN" sz="2000" dirty="0">
              <a:ea typeface="微软雅黑" panose="020B0503020204020204" pitchFamily="34" charset="-122"/>
              <a:cs typeface="+mn-ea"/>
            </a:endParaRPr>
          </a:p>
          <a:p>
            <a:r>
              <a:rPr lang="zh-CN" altLang="en-US" sz="1600" dirty="0">
                <a:ea typeface="微软雅黑" panose="020B0503020204020204" pitchFamily="34" charset="-122"/>
                <a:cs typeface="+mn-ea"/>
              </a:rPr>
              <a:t>（在特征构成的多维空间中，找到决策边界（超平面））</a:t>
            </a:r>
            <a:endParaRPr lang="en-US" altLang="zh-CN" sz="1600" dirty="0">
              <a:ea typeface="微软雅黑" panose="020B0503020204020204" pitchFamily="34" charset="-122"/>
              <a:cs typeface="+mn-ea"/>
            </a:endParaRPr>
          </a:p>
          <a:p>
            <a:endParaRPr lang="en-US" altLang="zh-CN" sz="2000" dirty="0">
              <a:ea typeface="微软雅黑" panose="020B0503020204020204" pitchFamily="34" charset="-122"/>
              <a:cs typeface="+mn-ea"/>
            </a:endParaRPr>
          </a:p>
        </p:txBody>
      </p:sp>
      <p:sp>
        <p:nvSpPr>
          <p:cNvPr id="14" name="文本框 13"/>
          <p:cNvSpPr txBox="1"/>
          <p:nvPr/>
        </p:nvSpPr>
        <p:spPr>
          <a:xfrm>
            <a:off x="152400" y="1259338"/>
            <a:ext cx="3845925" cy="399789"/>
          </a:xfrm>
          <a:prstGeom prst="rect">
            <a:avLst/>
          </a:prstGeom>
          <a:noFill/>
        </p:spPr>
        <p:txBody>
          <a:bodyPr wrap="none" rtlCol="0">
            <a:spAutoFit/>
          </a:bodyPr>
          <a:lstStyle/>
          <a:p>
            <a:r>
              <a:rPr lang="en-US" altLang="zh-CN" sz="2000" dirty="0">
                <a:ea typeface="微软雅黑" panose="020B0503020204020204" pitchFamily="34" charset="-122"/>
                <a:cs typeface="+mn-ea"/>
              </a:rPr>
              <a:t>AI-</a:t>
            </a:r>
            <a:r>
              <a:rPr lang="zh-CN" altLang="en-US" sz="2000" dirty="0">
                <a:ea typeface="微软雅黑" panose="020B0503020204020204" pitchFamily="34" charset="-122"/>
                <a:cs typeface="+mn-ea"/>
              </a:rPr>
              <a:t>机器学习模型（支持向量机）</a:t>
            </a:r>
            <a:endParaRPr lang="en-US" altLang="zh-CN" sz="2000" b="1" dirty="0">
              <a:solidFill>
                <a:srgbClr val="FF0000"/>
              </a:solidFill>
              <a:ea typeface="微软雅黑" panose="020B0503020204020204" pitchFamily="34" charset="-122"/>
              <a:cs typeface="+mn-ea"/>
            </a:endParaRPr>
          </a:p>
        </p:txBody>
      </p:sp>
      <p:sp>
        <p:nvSpPr>
          <p:cNvPr id="15" name="文本框 14"/>
          <p:cNvSpPr txBox="1"/>
          <p:nvPr/>
        </p:nvSpPr>
        <p:spPr>
          <a:xfrm>
            <a:off x="152401" y="4527716"/>
            <a:ext cx="6564994" cy="707245"/>
          </a:xfrm>
          <a:prstGeom prst="rect">
            <a:avLst/>
          </a:prstGeom>
          <a:noFill/>
        </p:spPr>
        <p:txBody>
          <a:bodyPr wrap="square" rtlCol="0">
            <a:spAutoFit/>
          </a:bodyPr>
          <a:lstStyle/>
          <a:p>
            <a:r>
              <a:rPr lang="zh-CN" altLang="en-US" sz="2000" dirty="0">
                <a:ea typeface="微软雅黑" panose="020B0503020204020204" pitchFamily="34" charset="-122"/>
                <a:cs typeface="+mn-ea"/>
              </a:rPr>
              <a:t>使用收益和风险特征，如夏普比例，波动率，最大回撤等</a:t>
            </a:r>
            <a:endParaRPr lang="en-US" altLang="zh-CN" sz="2000" dirty="0">
              <a:ea typeface="微软雅黑" panose="020B0503020204020204" pitchFamily="34" charset="-122"/>
              <a:cs typeface="+mn-ea"/>
            </a:endParaRPr>
          </a:p>
          <a:p>
            <a:endParaRPr lang="en-US" altLang="zh-CN" sz="2000" dirty="0">
              <a:ea typeface="微软雅黑" panose="020B0503020204020204" pitchFamily="34" charset="-122"/>
              <a:cs typeface="+mn-ea"/>
            </a:endParaRPr>
          </a:p>
        </p:txBody>
      </p:sp>
      <p:pic>
        <p:nvPicPr>
          <p:cNvPr id="16" name="图片 15"/>
          <p:cNvPicPr>
            <a:picLocks noChangeAspect="1"/>
          </p:cNvPicPr>
          <p:nvPr/>
        </p:nvPicPr>
        <p:blipFill>
          <a:blip r:embed="rId4"/>
          <a:stretch>
            <a:fillRect/>
          </a:stretch>
        </p:blipFill>
        <p:spPr>
          <a:xfrm>
            <a:off x="6681292" y="1210289"/>
            <a:ext cx="4692706" cy="3634256"/>
          </a:xfrm>
          <a:prstGeom prst="rect">
            <a:avLst/>
          </a:prstGeom>
        </p:spPr>
      </p:pic>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模型之后的定性分析：多维度评价体系</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611411" y="1632754"/>
            <a:ext cx="4298459" cy="3811133"/>
          </a:xfrm>
          <a:prstGeom prst="rect">
            <a:avLst/>
          </a:prstGeom>
        </p:spPr>
      </p:pic>
      <p:graphicFrame>
        <p:nvGraphicFramePr>
          <p:cNvPr id="10" name="图表 9"/>
          <p:cNvGraphicFramePr/>
          <p:nvPr/>
        </p:nvGraphicFramePr>
        <p:xfrm>
          <a:off x="5533962" y="1377198"/>
          <a:ext cx="5656872" cy="4322244"/>
        </p:xfrm>
        <a:graphic>
          <a:graphicData uri="http://schemas.openxmlformats.org/drawingml/2006/chart">
            <c:chart xmlns:c="http://schemas.openxmlformats.org/drawingml/2006/chart" xmlns:r="http://schemas.openxmlformats.org/officeDocument/2006/relationships" r:id="rId5"/>
          </a:graphicData>
        </a:graphic>
      </p:graphicFrame>
      <p:sp>
        <p:nvSpPr>
          <p:cNvPr id="11" name="文本框 10"/>
          <p:cNvSpPr txBox="1"/>
          <p:nvPr/>
        </p:nvSpPr>
        <p:spPr>
          <a:xfrm>
            <a:off x="9568872" y="5069110"/>
            <a:ext cx="2212622" cy="369332"/>
          </a:xfrm>
          <a:prstGeom prst="rect">
            <a:avLst/>
          </a:prstGeom>
          <a:noFill/>
        </p:spPr>
        <p:txBody>
          <a:bodyPr wrap="square" rtlCol="0">
            <a:spAutoFit/>
          </a:bodyPr>
          <a:lstStyle/>
          <a:p>
            <a:r>
              <a:rPr lang="zh-CN" altLang="en-US" dirty="0">
                <a:solidFill>
                  <a:schemeClr val="accent6"/>
                </a:solidFill>
                <a:latin typeface="+mj-ea"/>
                <a:ea typeface="+mj-ea"/>
              </a:rPr>
              <a:t>环境评价</a:t>
            </a:r>
          </a:p>
        </p:txBody>
      </p:sp>
      <p:sp>
        <p:nvSpPr>
          <p:cNvPr id="17" name="文本框 16"/>
          <p:cNvSpPr txBox="1"/>
          <p:nvPr/>
        </p:nvSpPr>
        <p:spPr>
          <a:xfrm>
            <a:off x="6016181" y="1806042"/>
            <a:ext cx="2212622" cy="369332"/>
          </a:xfrm>
          <a:prstGeom prst="rect">
            <a:avLst/>
          </a:prstGeom>
          <a:noFill/>
        </p:spPr>
        <p:txBody>
          <a:bodyPr wrap="square" rtlCol="0">
            <a:spAutoFit/>
          </a:bodyPr>
          <a:lstStyle/>
          <a:p>
            <a:r>
              <a:rPr lang="zh-CN" altLang="en-US" dirty="0">
                <a:solidFill>
                  <a:schemeClr val="accent5">
                    <a:lumMod val="75000"/>
                  </a:schemeClr>
                </a:solidFill>
                <a:latin typeface="+mj-ea"/>
                <a:ea typeface="+mj-ea"/>
              </a:rPr>
              <a:t>业绩表现</a:t>
            </a:r>
          </a:p>
        </p:txBody>
      </p:sp>
      <p:sp>
        <p:nvSpPr>
          <p:cNvPr id="18" name="文本框 17"/>
          <p:cNvSpPr txBox="1"/>
          <p:nvPr/>
        </p:nvSpPr>
        <p:spPr>
          <a:xfrm>
            <a:off x="5372715" y="3168989"/>
            <a:ext cx="2212622" cy="369332"/>
          </a:xfrm>
          <a:prstGeom prst="rect">
            <a:avLst/>
          </a:prstGeom>
          <a:noFill/>
        </p:spPr>
        <p:txBody>
          <a:bodyPr wrap="square" rtlCol="0">
            <a:spAutoFit/>
          </a:bodyPr>
          <a:lstStyle/>
          <a:p>
            <a:r>
              <a:rPr lang="zh-CN" altLang="en-US" dirty="0">
                <a:solidFill>
                  <a:srgbClr val="002060"/>
                </a:solidFill>
                <a:latin typeface="+mj-ea"/>
                <a:ea typeface="+mj-ea"/>
              </a:rPr>
              <a:t>投资偏好</a:t>
            </a:r>
          </a:p>
        </p:txBody>
      </p:sp>
      <p:sp>
        <p:nvSpPr>
          <p:cNvPr id="19" name="文本框 18"/>
          <p:cNvSpPr txBox="1"/>
          <p:nvPr/>
        </p:nvSpPr>
        <p:spPr>
          <a:xfrm>
            <a:off x="6096000" y="5074555"/>
            <a:ext cx="2212622" cy="369332"/>
          </a:xfrm>
          <a:prstGeom prst="rect">
            <a:avLst/>
          </a:prstGeom>
          <a:noFill/>
        </p:spPr>
        <p:txBody>
          <a:bodyPr wrap="square" rtlCol="0">
            <a:spAutoFit/>
          </a:bodyPr>
          <a:lstStyle/>
          <a:p>
            <a:r>
              <a:rPr lang="zh-CN" altLang="en-US" dirty="0">
                <a:solidFill>
                  <a:schemeClr val="accent2">
                    <a:lumMod val="75000"/>
                  </a:schemeClr>
                </a:solidFill>
                <a:latin typeface="+mj-ea"/>
                <a:ea typeface="+mj-ea"/>
              </a:rPr>
              <a:t>能力拆解</a:t>
            </a:r>
          </a:p>
        </p:txBody>
      </p:sp>
      <p:sp>
        <p:nvSpPr>
          <p:cNvPr id="20" name="文本框 19"/>
          <p:cNvSpPr txBox="1"/>
          <p:nvPr/>
        </p:nvSpPr>
        <p:spPr>
          <a:xfrm>
            <a:off x="10180986" y="3168988"/>
            <a:ext cx="2212622" cy="369332"/>
          </a:xfrm>
          <a:prstGeom prst="rect">
            <a:avLst/>
          </a:prstGeom>
          <a:noFill/>
        </p:spPr>
        <p:txBody>
          <a:bodyPr wrap="square" rtlCol="0">
            <a:spAutoFit/>
          </a:bodyPr>
          <a:lstStyle/>
          <a:p>
            <a:r>
              <a:rPr lang="zh-CN" altLang="en-US" dirty="0">
                <a:solidFill>
                  <a:schemeClr val="accent4">
                    <a:lumMod val="75000"/>
                  </a:schemeClr>
                </a:solidFill>
                <a:latin typeface="+mj-ea"/>
                <a:ea typeface="+mj-ea"/>
              </a:rPr>
              <a:t>基金经理</a:t>
            </a:r>
          </a:p>
        </p:txBody>
      </p:sp>
      <p:sp>
        <p:nvSpPr>
          <p:cNvPr id="21" name="文本框 20"/>
          <p:cNvSpPr txBox="1"/>
          <p:nvPr/>
        </p:nvSpPr>
        <p:spPr>
          <a:xfrm>
            <a:off x="9568872" y="1846874"/>
            <a:ext cx="2212622" cy="369332"/>
          </a:xfrm>
          <a:prstGeom prst="rect">
            <a:avLst/>
          </a:prstGeom>
          <a:noFill/>
        </p:spPr>
        <p:txBody>
          <a:bodyPr wrap="square" rtlCol="0">
            <a:spAutoFit/>
          </a:bodyPr>
          <a:lstStyle/>
          <a:p>
            <a:r>
              <a:rPr lang="zh-CN" altLang="en-US" dirty="0">
                <a:solidFill>
                  <a:srgbClr val="92D050"/>
                </a:solidFill>
                <a:latin typeface="+mj-ea"/>
                <a:ea typeface="+mj-ea"/>
              </a:rPr>
              <a:t>投资框架</a:t>
            </a:r>
          </a:p>
        </p:txBody>
      </p:sp>
      <p:sp>
        <p:nvSpPr>
          <p:cNvPr id="23" name="文本框 22"/>
          <p:cNvSpPr txBox="1"/>
          <p:nvPr/>
        </p:nvSpPr>
        <p:spPr>
          <a:xfrm>
            <a:off x="1936551" y="1078757"/>
            <a:ext cx="2212622" cy="369332"/>
          </a:xfrm>
          <a:prstGeom prst="rect">
            <a:avLst/>
          </a:prstGeom>
          <a:noFill/>
        </p:spPr>
        <p:txBody>
          <a:bodyPr wrap="square" rtlCol="0">
            <a:spAutoFit/>
          </a:bodyPr>
          <a:lstStyle/>
          <a:p>
            <a:r>
              <a:rPr lang="zh-CN" altLang="en-US" dirty="0">
                <a:solidFill>
                  <a:srgbClr val="C00000"/>
                </a:solidFill>
                <a:latin typeface="+mj-ea"/>
                <a:ea typeface="+mj-ea"/>
              </a:rPr>
              <a:t>梅西 </a:t>
            </a:r>
            <a:r>
              <a:rPr lang="en-US" altLang="zh-CN" dirty="0" err="1">
                <a:solidFill>
                  <a:srgbClr val="C00000"/>
                </a:solidFill>
                <a:latin typeface="+mj-ea"/>
                <a:ea typeface="+mj-ea"/>
              </a:rPr>
              <a:t>vs</a:t>
            </a:r>
            <a:r>
              <a:rPr lang="en-US" altLang="zh-CN" dirty="0">
                <a:solidFill>
                  <a:srgbClr val="C00000"/>
                </a:solidFill>
                <a:latin typeface="+mj-ea"/>
                <a:ea typeface="+mj-ea"/>
              </a:rPr>
              <a:t> </a:t>
            </a:r>
            <a:r>
              <a:rPr lang="zh-CN" altLang="en-US" dirty="0">
                <a:solidFill>
                  <a:srgbClr val="C00000"/>
                </a:solidFill>
                <a:latin typeface="+mj-ea"/>
                <a:ea typeface="+mj-ea"/>
              </a:rPr>
              <a:t>平均水平</a:t>
            </a:r>
          </a:p>
        </p:txBody>
      </p:sp>
      <p:sp>
        <p:nvSpPr>
          <p:cNvPr id="3" name="文本框 2"/>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全流程定量定性相结合的投资策略池：</a:t>
            </a:r>
            <a:r>
              <a:rPr lang="en-US" altLang="zh-CN" sz="2200" b="1" dirty="0" smtClean="0">
                <a:latin typeface="微软雅黑" panose="020B0503020204020204" pitchFamily="34" charset="-122"/>
                <a:ea typeface="微软雅黑" panose="020B0503020204020204" pitchFamily="34" charset="-122"/>
                <a:sym typeface="+mn-ea"/>
              </a:rPr>
              <a:t>ETF</a:t>
            </a:r>
            <a:r>
              <a:rPr lang="zh-CN" altLang="en-US" sz="2200" b="1" dirty="0" smtClean="0">
                <a:latin typeface="微软雅黑" panose="020B0503020204020204" pitchFamily="34" charset="-122"/>
                <a:ea typeface="微软雅黑" panose="020B0503020204020204" pitchFamily="34" charset="-122"/>
                <a:sym typeface="+mn-ea"/>
              </a:rPr>
              <a:t>收益增强</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文本框 45"/>
          <p:cNvSpPr txBox="1"/>
          <p:nvPr/>
        </p:nvSpPr>
        <p:spPr>
          <a:xfrm>
            <a:off x="513430" y="1053783"/>
            <a:ext cx="11621770" cy="1405513"/>
          </a:xfrm>
          <a:prstGeom prst="rect">
            <a:avLst/>
          </a:prstGeom>
          <a:noFill/>
        </p:spPr>
        <p:txBody>
          <a:bodyPr wrap="square" rtlCol="0">
            <a:spAutoFit/>
          </a:bodyPr>
          <a:lstStyle/>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ETF收益增强层面</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，银华FOF团队开发了多维度、低相关、具备独立收益来源</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的策略</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池。</a:t>
            </a:r>
          </a:p>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ETF收益增强属于卫星策略，其各个子策略收益来源独立、相关性低，可为整个投资组合增加弹性。</a:t>
            </a:r>
          </a:p>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目前已经构建了三个特色投资模型。</a:t>
            </a:r>
          </a:p>
        </p:txBody>
      </p:sp>
      <p:pic>
        <p:nvPicPr>
          <p:cNvPr id="48" name="图片 47" descr="框"/>
          <p:cNvPicPr>
            <a:picLocks noChangeAspect="1"/>
          </p:cNvPicPr>
          <p:nvPr/>
        </p:nvPicPr>
        <p:blipFill>
          <a:blip r:embed="rId4"/>
          <a:stretch>
            <a:fillRect/>
          </a:stretch>
        </p:blipFill>
        <p:spPr>
          <a:xfrm>
            <a:off x="-120241" y="2415823"/>
            <a:ext cx="10839168" cy="1727199"/>
          </a:xfrm>
          <a:prstGeom prst="rect">
            <a:avLst/>
          </a:prstGeom>
        </p:spPr>
      </p:pic>
      <p:sp>
        <p:nvSpPr>
          <p:cNvPr id="52" name="文本框 51"/>
          <p:cNvSpPr txBox="1"/>
          <p:nvPr/>
        </p:nvSpPr>
        <p:spPr>
          <a:xfrm>
            <a:off x="1485674" y="3073683"/>
            <a:ext cx="8684260" cy="700576"/>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用于跟踪优选主动行配基金的仓位动向</a:t>
            </a:r>
          </a:p>
          <a:p>
            <a:pPr marL="0" lvl="1" fontAlgn="auto">
              <a:lnSpc>
                <a:spcPct val="150000"/>
              </a:lnSpc>
              <a:spcBef>
                <a:spcPct val="0"/>
              </a:spcBef>
              <a:spcAft>
                <a:spcPts val="0"/>
              </a:spcAft>
            </a:pPr>
            <a:endPar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endParaRPr>
          </a:p>
        </p:txBody>
      </p:sp>
      <p:sp>
        <p:nvSpPr>
          <p:cNvPr id="53" name="文本框 52"/>
          <p:cNvSpPr txBox="1"/>
          <p:nvPr/>
        </p:nvSpPr>
        <p:spPr>
          <a:xfrm>
            <a:off x="884964" y="2705383"/>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“聪明资金”</a:t>
            </a:r>
            <a:r>
              <a:rPr lang="en-US" altLang="zh-CN" b="1" dirty="0">
                <a:solidFill>
                  <a:srgbClr val="C00000"/>
                </a:solidFill>
                <a:latin typeface="微软雅黑" panose="020B0503020204020204" pitchFamily="34" charset="-122"/>
                <a:ea typeface="微软雅黑" panose="020B0503020204020204" pitchFamily="34" charset="-122"/>
                <a:sym typeface="+mn-ea"/>
              </a:rPr>
              <a:t>ETF</a:t>
            </a:r>
            <a:r>
              <a:rPr lang="zh-CN" altLang="en-US" b="1" dirty="0">
                <a:solidFill>
                  <a:srgbClr val="C00000"/>
                </a:solidFill>
                <a:latin typeface="微软雅黑" panose="020B0503020204020204" pitchFamily="34" charset="-122"/>
                <a:ea typeface="微软雅黑" panose="020B0503020204020204" pitchFamily="34" charset="-122"/>
                <a:sym typeface="+mn-ea"/>
              </a:rPr>
              <a:t>轮动模型</a:t>
            </a:r>
          </a:p>
        </p:txBody>
      </p:sp>
      <p:pic>
        <p:nvPicPr>
          <p:cNvPr id="14" name="图片 13" descr="框"/>
          <p:cNvPicPr>
            <a:picLocks noChangeAspect="1"/>
          </p:cNvPicPr>
          <p:nvPr/>
        </p:nvPicPr>
        <p:blipFill>
          <a:blip r:embed="rId4"/>
          <a:stretch>
            <a:fillRect/>
          </a:stretch>
        </p:blipFill>
        <p:spPr>
          <a:xfrm>
            <a:off x="-120241" y="3734349"/>
            <a:ext cx="10839168" cy="1727199"/>
          </a:xfrm>
          <a:prstGeom prst="rect">
            <a:avLst/>
          </a:prstGeom>
        </p:spPr>
      </p:pic>
      <p:sp>
        <p:nvSpPr>
          <p:cNvPr id="15" name="文本框 14"/>
          <p:cNvSpPr txBox="1"/>
          <p:nvPr/>
        </p:nvSpPr>
        <p:spPr>
          <a:xfrm>
            <a:off x="1485674" y="4392209"/>
            <a:ext cx="8684260" cy="377411"/>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用于识别市场关键点位、特色数据、事件指标</a:t>
            </a:r>
          </a:p>
        </p:txBody>
      </p:sp>
      <p:sp>
        <p:nvSpPr>
          <p:cNvPr id="16" name="文本框 15"/>
          <p:cNvSpPr txBox="1"/>
          <p:nvPr/>
        </p:nvSpPr>
        <p:spPr>
          <a:xfrm>
            <a:off x="884964" y="4023909"/>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时点动量</a:t>
            </a:r>
            <a:r>
              <a:rPr lang="en-US" altLang="zh-CN" b="1" dirty="0">
                <a:solidFill>
                  <a:srgbClr val="C00000"/>
                </a:solidFill>
                <a:latin typeface="微软雅黑" panose="020B0503020204020204" pitchFamily="34" charset="-122"/>
                <a:ea typeface="微软雅黑" panose="020B0503020204020204" pitchFamily="34" charset="-122"/>
                <a:sym typeface="+mn-ea"/>
              </a:rPr>
              <a:t>ETF</a:t>
            </a:r>
            <a:r>
              <a:rPr lang="zh-CN" altLang="en-US" b="1" dirty="0">
                <a:solidFill>
                  <a:srgbClr val="C00000"/>
                </a:solidFill>
                <a:latin typeface="微软雅黑" panose="020B0503020204020204" pitchFamily="34" charset="-122"/>
                <a:ea typeface="微软雅黑" panose="020B0503020204020204" pitchFamily="34" charset="-122"/>
                <a:sym typeface="+mn-ea"/>
              </a:rPr>
              <a:t>轮动模型</a:t>
            </a:r>
          </a:p>
        </p:txBody>
      </p:sp>
      <p:pic>
        <p:nvPicPr>
          <p:cNvPr id="17" name="图片 16" descr="框"/>
          <p:cNvPicPr>
            <a:picLocks noChangeAspect="1"/>
          </p:cNvPicPr>
          <p:nvPr/>
        </p:nvPicPr>
        <p:blipFill>
          <a:blip r:embed="rId4"/>
          <a:stretch>
            <a:fillRect/>
          </a:stretch>
        </p:blipFill>
        <p:spPr>
          <a:xfrm>
            <a:off x="-120241" y="5076849"/>
            <a:ext cx="10839168" cy="1727199"/>
          </a:xfrm>
          <a:prstGeom prst="rect">
            <a:avLst/>
          </a:prstGeom>
        </p:spPr>
      </p:pic>
      <p:sp>
        <p:nvSpPr>
          <p:cNvPr id="18" name="文本框 17"/>
          <p:cNvSpPr txBox="1"/>
          <p:nvPr/>
        </p:nvSpPr>
        <p:spPr>
          <a:xfrm>
            <a:off x="1485674" y="5734709"/>
            <a:ext cx="8684260" cy="377411"/>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可通过行业</a:t>
            </a:r>
            <a:r>
              <a:rPr lang="en-US" altLang="zh-CN"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ETF</a:t>
            </a: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组合，动态复制偏股基金指数收益</a:t>
            </a:r>
          </a:p>
        </p:txBody>
      </p:sp>
      <p:sp>
        <p:nvSpPr>
          <p:cNvPr id="19" name="文本框 18"/>
          <p:cNvSpPr txBox="1"/>
          <p:nvPr/>
        </p:nvSpPr>
        <p:spPr>
          <a:xfrm>
            <a:off x="884964" y="5366409"/>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偏股复制</a:t>
            </a:r>
            <a:r>
              <a:rPr lang="en-US" altLang="zh-CN" b="1" dirty="0">
                <a:solidFill>
                  <a:srgbClr val="C00000"/>
                </a:solidFill>
                <a:latin typeface="微软雅黑" panose="020B0503020204020204" pitchFamily="34" charset="-122"/>
                <a:ea typeface="微软雅黑" panose="020B0503020204020204" pitchFamily="34" charset="-122"/>
                <a:sym typeface="+mn-ea"/>
              </a:rPr>
              <a:t>ETF</a:t>
            </a:r>
            <a:r>
              <a:rPr lang="zh-CN" altLang="en-US" b="1" dirty="0">
                <a:solidFill>
                  <a:srgbClr val="C00000"/>
                </a:solidFill>
                <a:latin typeface="微软雅黑" panose="020B0503020204020204" pitchFamily="34" charset="-122"/>
                <a:ea typeface="微软雅黑" panose="020B0503020204020204" pitchFamily="34" charset="-122"/>
                <a:sym typeface="+mn-ea"/>
              </a:rPr>
              <a:t>模型</a:t>
            </a:r>
          </a:p>
        </p:txBody>
      </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5" y="287933"/>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时点动量模型：</a:t>
            </a:r>
            <a:r>
              <a:rPr lang="zh-CN" altLang="en-US" sz="2200" b="1" dirty="0">
                <a:latin typeface="微软雅黑" panose="020B0503020204020204" pitchFamily="34" charset="-122"/>
                <a:ea typeface="微软雅黑" panose="020B0503020204020204" pitchFamily="34" charset="-122"/>
                <a:sym typeface="+mn-ea"/>
              </a:rPr>
              <a:t>系统化的信号捕捉和综合评测</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4"/>
          <a:stretch>
            <a:fillRect/>
          </a:stretch>
        </p:blipFill>
        <p:spPr>
          <a:xfrm>
            <a:off x="5937956" y="840683"/>
            <a:ext cx="4369953" cy="2698263"/>
          </a:xfrm>
          <a:prstGeom prst="rect">
            <a:avLst/>
          </a:prstGeom>
          <a:ln>
            <a:solidFill>
              <a:srgbClr val="B83835"/>
            </a:solidFill>
          </a:ln>
        </p:spPr>
      </p:pic>
      <p:pic>
        <p:nvPicPr>
          <p:cNvPr id="9" name="图片 8"/>
          <p:cNvPicPr>
            <a:picLocks noChangeAspect="1"/>
          </p:cNvPicPr>
          <p:nvPr/>
        </p:nvPicPr>
        <p:blipFill>
          <a:blip r:embed="rId5"/>
          <a:stretch>
            <a:fillRect/>
          </a:stretch>
        </p:blipFill>
        <p:spPr>
          <a:xfrm>
            <a:off x="5937956" y="3649985"/>
            <a:ext cx="4369953" cy="3055148"/>
          </a:xfrm>
          <a:prstGeom prst="rect">
            <a:avLst/>
          </a:prstGeom>
          <a:ln>
            <a:solidFill>
              <a:srgbClr val="B83835"/>
            </a:solidFill>
          </a:ln>
        </p:spPr>
      </p:pic>
      <p:pic>
        <p:nvPicPr>
          <p:cNvPr id="10" name="图片 9"/>
          <p:cNvPicPr>
            <a:picLocks noChangeAspect="1"/>
          </p:cNvPicPr>
          <p:nvPr/>
        </p:nvPicPr>
        <p:blipFill>
          <a:blip r:embed="rId6"/>
          <a:stretch>
            <a:fillRect/>
          </a:stretch>
        </p:blipFill>
        <p:spPr>
          <a:xfrm>
            <a:off x="558585" y="4494738"/>
            <a:ext cx="2782926" cy="2244392"/>
          </a:xfrm>
          <a:prstGeom prst="rect">
            <a:avLst/>
          </a:prstGeom>
          <a:ln>
            <a:solidFill>
              <a:srgbClr val="C00000"/>
            </a:solidFill>
          </a:ln>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16" name="图片 15">
            <a:extLst>
              <a:ext uri="{FF2B5EF4-FFF2-40B4-BE49-F238E27FC236}">
                <a16:creationId xmlns="" xmlns:a16="http://schemas.microsoft.com/office/drawing/2014/main" id="{125E57F6-644F-7BDB-125F-12024E07F2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7519" y="840682"/>
            <a:ext cx="4463397" cy="3534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half" idx="1"/>
          </p:nvPr>
        </p:nvSpPr>
        <p:spPr/>
        <p:txBody>
          <a:bodyPr/>
          <a:lstStyle/>
          <a:p>
            <a:pPr>
              <a:lnSpc>
                <a:spcPct val="130000"/>
              </a:lnSpc>
            </a:pPr>
            <a:r>
              <a:rPr lang="zh-CN" altLang="en-US" dirty="0"/>
              <a:t>本文件所包含的资料仅供一般性参考，不应视为任何形式的要约、要约邀请，亦非对任何交易的正式确认。本文件所提供的信息和资料不作为向本文件接收者提出的任何建议。银华基金及其雇员不对本文件信息资料的真实性、准确性、可靠性、完整性或其他方面作出保证或承诺，也不就该等信息的任何错误或遗漏承担任何责任。</a:t>
            </a:r>
          </a:p>
          <a:p>
            <a:pPr>
              <a:lnSpc>
                <a:spcPct val="130000"/>
              </a:lnSpc>
            </a:pPr>
            <a:endParaRPr lang="zh-CN" altLang="en-US" dirty="0"/>
          </a:p>
          <a:p>
            <a:pPr>
              <a:lnSpc>
                <a:spcPct val="130000"/>
              </a:lnSpc>
            </a:pPr>
            <a:r>
              <a:rPr lang="zh-CN" altLang="en-US" dirty="0"/>
              <a:t>任何通过本文件而获得的信息（包括但不限于产品信息、企业信息、行业资讯等），接收者应自行确认信息的真实性、准确性、完整性、时效性。</a:t>
            </a:r>
          </a:p>
          <a:p>
            <a:pPr>
              <a:lnSpc>
                <a:spcPct val="130000"/>
              </a:lnSpc>
            </a:pPr>
            <a:endParaRPr lang="zh-CN" altLang="en-US" dirty="0"/>
          </a:p>
          <a:p>
            <a:pPr>
              <a:lnSpc>
                <a:spcPct val="130000"/>
              </a:lnSpc>
            </a:pPr>
            <a:r>
              <a:rPr lang="zh-CN" altLang="en-US" dirty="0"/>
              <a:t>投资有风险，投资者在作出投资决策前应认真阅读相关产品正式法律文件以及银华基金相关公告的信息，以其作准，并自主决策、自行承担投资风险。</a:t>
            </a:r>
          </a:p>
          <a:p>
            <a:pPr>
              <a:lnSpc>
                <a:spcPct val="130000"/>
              </a:lnSpc>
            </a:pPr>
            <a:endParaRPr lang="zh-CN" altLang="en-US" dirty="0"/>
          </a:p>
          <a:p>
            <a:pPr>
              <a:lnSpc>
                <a:spcPct val="130000"/>
              </a:lnSpc>
            </a:pPr>
            <a:r>
              <a:rPr lang="zh-CN" altLang="en-US" dirty="0"/>
              <a:t>接收者应当对本文件进行严格保密，未经许可，不得向第三方披露、援引或用于其他用途、亦不得复制或传播本文件。</a:t>
            </a:r>
          </a:p>
        </p:txBody>
      </p:sp>
      <p:sp>
        <p:nvSpPr>
          <p:cNvPr id="3" name="标题 2"/>
          <p:cNvSpPr>
            <a:spLocks noGrp="1"/>
          </p:cNvSpPr>
          <p:nvPr>
            <p:ph type="title"/>
          </p:nvPr>
        </p:nvSpPr>
        <p:spPr>
          <a:prstGeom prst="rect">
            <a:avLst/>
          </a:prstGeom>
        </p:spPr>
        <p:txBody>
          <a:bodyPr/>
          <a:lstStyle/>
          <a:p>
            <a:r>
              <a:rPr lang="zh-CN" altLang="en-US" dirty="0"/>
              <a:t>声明页</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prstGeom prst="rect">
            <a:avLst/>
          </a:prstGeom>
        </p:spPr>
        <p:txBody>
          <a:bodyPr/>
          <a:lstStyle/>
          <a:p>
            <a:r>
              <a:rPr lang="zh-CN" altLang="en-US" dirty="0"/>
              <a:t>风险提示</a:t>
            </a:r>
          </a:p>
        </p:txBody>
      </p:sp>
      <p:sp>
        <p:nvSpPr>
          <p:cNvPr id="5" name="文本框 4"/>
          <p:cNvSpPr txBox="1"/>
          <p:nvPr/>
        </p:nvSpPr>
        <p:spPr>
          <a:xfrm>
            <a:off x="687705" y="1296670"/>
            <a:ext cx="10665460" cy="4754880"/>
          </a:xfrm>
          <a:prstGeom prst="rect">
            <a:avLst/>
          </a:prstGeom>
          <a:noFill/>
        </p:spPr>
        <p:txBody>
          <a:bodyPr wrap="square" rtlCol="0" anchor="t">
            <a:noAutofit/>
          </a:bodyPr>
          <a:lstStyle/>
          <a:p>
            <a:endParaRPr lang="zh-CN" altLang="en-US"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尊敬的投资者：</a:t>
            </a: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路演内容供参考，不作为投资建议。投资有风险，投资需谨慎。公开募集证券投资基金（以下简称</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基金</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是一种长期投资工具，其主要功能是分散投资，降低投资单一证券所带来的个别风险。基金不同于银行储蓄等能够提供固定收益预期的金融工具，当您购买基金产品时，既可能按持有份额分享基金投资所产生的收益，也可能承担基金投资所带来的损失。</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您在做出投资决策之前，请仔细阅读基金合同、基金招募说明书和基金产品资料概要等产品法律文件和本风险揭示书，充分认识本基金的风险收益特征和产品特性，认真考虑本基金存在的各项风险因素，并根据自身的投资目的、投资期限、投资经验、资产状况等因素充分考虑自身的风险承受能力，在了解产品情况及销售适当性意见的基础上，理性判断并谨慎做出投资决策。</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根据有关法律法规，银华基金管理股份有限公司做出如下风险揭示：</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一、依据投资对象的不同</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基金分为股票基金、混合基金、债券基金、货币市场基金、基金中基金、商品基金等不同类型，您投资不同类型的基金将获得不同的收益预期，也将承担不同程度的风险。一般来说，基金的收益预期越高，您承担的风险也越大。</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二、基金在投资运作过程中可能面临各种风险，既包括市场风险，也包括基金自身的管理风险、技术风险和合规风险等。巨额赎回风险是开放式基金所特有的一种风险，即当单个开放日基金的净赎回申请超过基金总份额的一定比例（开放式基金为百分之十，定期开放基金为百分之二十，中国证监会规定的特殊产品除外）时，您将可能无法及时赎回申请的全部基金份额，或您赎回的款项可能延缓支付。</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三、基金管理人承诺以诚实信用、勤勉尽责的原则管理和运用基金资产，但不保证本基金一定盈利，也不保证最低收益。</a:t>
            </a:r>
            <a:r>
              <a:rPr lang="zh-CN" altLang="en-US" sz="1200" b="1" dirty="0">
                <a:solidFill>
                  <a:schemeClr val="tx1"/>
                </a:solidFill>
                <a:latin typeface="新宋体" panose="02010609030101010101" charset="-122"/>
                <a:ea typeface="新宋体" panose="02010609030101010101" charset="-122"/>
                <a:cs typeface="新宋体" panose="02010609030101010101" charset="-122"/>
              </a:rPr>
              <a:t>基金的过往业绩及其净值高低并不预示其未来业绩表现，基金管理人管理的其他基金的业绩并不构成对本基金业绩表现的保证。</a:t>
            </a:r>
            <a:r>
              <a:rPr lang="zh-CN" altLang="en-US" sz="1000" dirty="0">
                <a:solidFill>
                  <a:schemeClr val="tx1"/>
                </a:solidFill>
                <a:latin typeface="新宋体" panose="02010609030101010101" charset="-122"/>
                <a:ea typeface="新宋体" panose="02010609030101010101" charset="-122"/>
                <a:cs typeface="新宋体" panose="02010609030101010101" charset="-122"/>
              </a:rPr>
              <a:t>银华基金管理股份有限公司提醒您基金投资的</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买者自负</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原则，在做出投资决策后，基金运营状况与基金净值变化引致的投资风险，由您自行负担。基金管理人、基金托管人、基金销售机构及相关机构不对基金投资收益做出任何承诺或保证。</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a:solidFill>
                  <a:schemeClr val="tx1"/>
                </a:solidFill>
                <a:latin typeface="新宋体" panose="02010609030101010101" charset="-122"/>
                <a:ea typeface="新宋体" panose="02010609030101010101" charset="-122"/>
                <a:cs typeface="新宋体" panose="02010609030101010101" charset="-122"/>
              </a:rPr>
              <a:t>四、</a:t>
            </a:r>
            <a:r>
              <a:rPr lang="zh-CN" altLang="en-US" sz="1000" dirty="0">
                <a:solidFill>
                  <a:schemeClr val="tx1"/>
                </a:solidFill>
                <a:latin typeface="新宋体" panose="02010609030101010101" charset="-122"/>
                <a:ea typeface="新宋体" panose="02010609030101010101" charset="-122"/>
                <a:cs typeface="新宋体" panose="02010609030101010101" charset="-122"/>
              </a:rPr>
              <a:t>银华基金管理股份有限公司旗下基金产品依照有关法律法规及约定申请募集，并经中国证券监督管理委员会（以下简称</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中国证监会</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）许可注册。基金的基金合同、基金招募说明书和基金产品资料概要已通过中国证监会基金电子披露网站</a:t>
            </a:r>
            <a:r>
              <a:rPr lang="en-US" altLang="zh-CN" sz="1000" dirty="0">
                <a:solidFill>
                  <a:schemeClr val="tx1"/>
                </a:solidFill>
                <a:latin typeface="新宋体" panose="02010609030101010101" charset="-122"/>
                <a:ea typeface="新宋体" panose="02010609030101010101" charset="-122"/>
                <a:cs typeface="新宋体" panose="02010609030101010101" charset="-122"/>
              </a:rPr>
              <a:t>http://eid.csrc.gov.cn/fund</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和基金管理人网站</a:t>
            </a:r>
            <a:r>
              <a:rPr lang="en-US" altLang="zh-CN" sz="1000" dirty="0">
                <a:solidFill>
                  <a:schemeClr val="tx1"/>
                </a:solidFill>
                <a:latin typeface="新宋体" panose="02010609030101010101" charset="-122"/>
                <a:ea typeface="新宋体" panose="02010609030101010101" charset="-122"/>
                <a:cs typeface="新宋体" panose="02010609030101010101" charset="-122"/>
              </a:rPr>
              <a:t>www.yhfund.com.cn</a:t>
            </a:r>
            <a:r>
              <a:rPr lang="zh-CN" altLang="en-US" sz="1000" dirty="0">
                <a:solidFill>
                  <a:schemeClr val="tx1"/>
                </a:solidFill>
                <a:latin typeface="新宋体" panose="02010609030101010101" charset="-122"/>
                <a:ea typeface="新宋体" panose="02010609030101010101" charset="-122"/>
                <a:cs typeface="新宋体" panose="02010609030101010101" charset="-122"/>
              </a:rPr>
              <a:t>进行了公开披露。中国证监会对本基金的注册，并不表明其对本基金的投资价值、市场前景和收益作出实质性判断或保证，也不表明投资于本基金没有风险。</a:t>
            </a:r>
          </a:p>
          <a:p>
            <a:endParaRPr lang="zh-CN" altLang="en-US" sz="1000" dirty="0">
              <a:solidFill>
                <a:schemeClr val="tx1"/>
              </a:solidFill>
              <a:latin typeface="新宋体" panose="02010609030101010101" charset="-122"/>
              <a:ea typeface="新宋体" panose="02010609030101010101" charset="-122"/>
              <a:cs typeface="新宋体" panose="0201060903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067800" y="4060504"/>
            <a:ext cx="1485900" cy="1143000"/>
          </a:xfrm>
          <a:prstGeom prst="roundRect">
            <a:avLst>
              <a:gd name="adj" fmla="val 10000"/>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486778" y="919130"/>
            <a:ext cx="7946623" cy="1056956"/>
          </a:xfrm>
          <a:prstGeom prst="rect">
            <a:avLst/>
          </a:prstGeom>
          <a:noFill/>
        </p:spPr>
        <p:txBody>
          <a:bodyPr wrap="square" rtlCol="0">
            <a:spAutoFit/>
            <a:scene3d>
              <a:camera prst="orthographicFront"/>
              <a:lightRig rig="threePt" dir="t"/>
            </a:scene3d>
            <a:sp3d contourW="12700"/>
          </a:bodyPr>
          <a:lstStyle/>
          <a:p>
            <a:pPr algn="r">
              <a:lnSpc>
                <a:spcPct val="114000"/>
              </a:lnSpc>
            </a:pPr>
            <a:r>
              <a:rPr lang="en-US" altLang="zh-CN" sz="6000" b="1" dirty="0">
                <a:solidFill>
                  <a:srgbClr val="B83835"/>
                </a:solidFill>
                <a:ea typeface="+mj-ea"/>
              </a:rPr>
              <a:t>THANK </a:t>
            </a:r>
            <a:r>
              <a:rPr lang="en-US" altLang="zh-CN" sz="6000" b="1" dirty="0">
                <a:solidFill>
                  <a:schemeClr val="bg2">
                    <a:lumMod val="25000"/>
                  </a:schemeClr>
                </a:solidFill>
                <a:ea typeface="+mj-ea"/>
              </a:rPr>
              <a:t>YOU</a:t>
            </a:r>
          </a:p>
        </p:txBody>
      </p:sp>
      <p:sp>
        <p:nvSpPr>
          <p:cNvPr id="5" name="任意多边形 30"/>
          <p:cNvSpPr/>
          <p:nvPr/>
        </p:nvSpPr>
        <p:spPr>
          <a:xfrm>
            <a:off x="0" y="4060504"/>
            <a:ext cx="7277100" cy="1143000"/>
          </a:xfrm>
          <a:custGeom>
            <a:avLst/>
            <a:gdLst>
              <a:gd name="connsiteX0" fmla="*/ 0 w 7277100"/>
              <a:gd name="connsiteY0" fmla="*/ 0 h 1143000"/>
              <a:gd name="connsiteX1" fmla="*/ 114300 w 7277100"/>
              <a:gd name="connsiteY1" fmla="*/ 0 h 1143000"/>
              <a:gd name="connsiteX2" fmla="*/ 3773714 w 7277100"/>
              <a:gd name="connsiteY2" fmla="*/ 0 h 1143000"/>
              <a:gd name="connsiteX3" fmla="*/ 7162800 w 7277100"/>
              <a:gd name="connsiteY3" fmla="*/ 0 h 1143000"/>
              <a:gd name="connsiteX4" fmla="*/ 7277100 w 7277100"/>
              <a:gd name="connsiteY4" fmla="*/ 114300 h 1143000"/>
              <a:gd name="connsiteX5" fmla="*/ 7277100 w 7277100"/>
              <a:gd name="connsiteY5" fmla="*/ 1028700 h 1143000"/>
              <a:gd name="connsiteX6" fmla="*/ 7162800 w 7277100"/>
              <a:gd name="connsiteY6" fmla="*/ 1143000 h 1143000"/>
              <a:gd name="connsiteX7" fmla="*/ 3773714 w 7277100"/>
              <a:gd name="connsiteY7" fmla="*/ 1143000 h 1143000"/>
              <a:gd name="connsiteX8" fmla="*/ 114300 w 7277100"/>
              <a:gd name="connsiteY8" fmla="*/ 1143000 h 1143000"/>
              <a:gd name="connsiteX9" fmla="*/ 0 w 7277100"/>
              <a:gd name="connsiteY9" fmla="*/ 1143000 h 1143000"/>
              <a:gd name="connsiteX10" fmla="*/ 0 w 7277100"/>
              <a:gd name="connsiteY10" fmla="*/ 1028700 h 1143000"/>
              <a:gd name="connsiteX11" fmla="*/ 0 w 7277100"/>
              <a:gd name="connsiteY11" fmla="*/ 114300 h 1143000"/>
              <a:gd name="connsiteX0-1" fmla="*/ 0 w 7277100"/>
              <a:gd name="connsiteY0-2" fmla="*/ 0 h 1143000"/>
              <a:gd name="connsiteX1-3" fmla="*/ 114300 w 7277100"/>
              <a:gd name="connsiteY1-4" fmla="*/ 0 h 1143000"/>
              <a:gd name="connsiteX2-5" fmla="*/ 7162800 w 7277100"/>
              <a:gd name="connsiteY2-6" fmla="*/ 0 h 1143000"/>
              <a:gd name="connsiteX3-7" fmla="*/ 7277100 w 7277100"/>
              <a:gd name="connsiteY3-8" fmla="*/ 114300 h 1143000"/>
              <a:gd name="connsiteX4-9" fmla="*/ 7277100 w 7277100"/>
              <a:gd name="connsiteY4-10" fmla="*/ 1028700 h 1143000"/>
              <a:gd name="connsiteX5-11" fmla="*/ 7162800 w 7277100"/>
              <a:gd name="connsiteY5-12" fmla="*/ 1143000 h 1143000"/>
              <a:gd name="connsiteX6-13" fmla="*/ 3773714 w 7277100"/>
              <a:gd name="connsiteY6-14" fmla="*/ 1143000 h 1143000"/>
              <a:gd name="connsiteX7-15" fmla="*/ 114300 w 7277100"/>
              <a:gd name="connsiteY7-16" fmla="*/ 1143000 h 1143000"/>
              <a:gd name="connsiteX8-17" fmla="*/ 0 w 7277100"/>
              <a:gd name="connsiteY8-18" fmla="*/ 1143000 h 1143000"/>
              <a:gd name="connsiteX9-19" fmla="*/ 0 w 7277100"/>
              <a:gd name="connsiteY9-20" fmla="*/ 1028700 h 1143000"/>
              <a:gd name="connsiteX10-21" fmla="*/ 0 w 7277100"/>
              <a:gd name="connsiteY10-22" fmla="*/ 114300 h 1143000"/>
              <a:gd name="connsiteX11-23" fmla="*/ 0 w 7277100"/>
              <a:gd name="connsiteY11-24" fmla="*/ 0 h 1143000"/>
              <a:gd name="connsiteX0-25" fmla="*/ 0 w 7277100"/>
              <a:gd name="connsiteY0-26" fmla="*/ 0 h 1143000"/>
              <a:gd name="connsiteX1-27" fmla="*/ 114300 w 7277100"/>
              <a:gd name="connsiteY1-28" fmla="*/ 0 h 1143000"/>
              <a:gd name="connsiteX2-29" fmla="*/ 7162800 w 7277100"/>
              <a:gd name="connsiteY2-30" fmla="*/ 0 h 1143000"/>
              <a:gd name="connsiteX3-31" fmla="*/ 7277100 w 7277100"/>
              <a:gd name="connsiteY3-32" fmla="*/ 114300 h 1143000"/>
              <a:gd name="connsiteX4-33" fmla="*/ 7277100 w 7277100"/>
              <a:gd name="connsiteY4-34" fmla="*/ 1028700 h 1143000"/>
              <a:gd name="connsiteX5-35" fmla="*/ 7162800 w 7277100"/>
              <a:gd name="connsiteY5-36" fmla="*/ 1143000 h 1143000"/>
              <a:gd name="connsiteX6-37" fmla="*/ 114300 w 7277100"/>
              <a:gd name="connsiteY6-38" fmla="*/ 1143000 h 1143000"/>
              <a:gd name="connsiteX7-39" fmla="*/ 0 w 7277100"/>
              <a:gd name="connsiteY7-40" fmla="*/ 1143000 h 1143000"/>
              <a:gd name="connsiteX8-41" fmla="*/ 0 w 7277100"/>
              <a:gd name="connsiteY8-42" fmla="*/ 1028700 h 1143000"/>
              <a:gd name="connsiteX9-43" fmla="*/ 0 w 7277100"/>
              <a:gd name="connsiteY9-44" fmla="*/ 114300 h 1143000"/>
              <a:gd name="connsiteX10-45" fmla="*/ 0 w 72771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7277100" h="1143000">
                <a:moveTo>
                  <a:pt x="0" y="0"/>
                </a:moveTo>
                <a:lnTo>
                  <a:pt x="114300" y="0"/>
                </a:lnTo>
                <a:lnTo>
                  <a:pt x="7162800" y="0"/>
                </a:lnTo>
                <a:cubicBezTo>
                  <a:pt x="7225926" y="0"/>
                  <a:pt x="7277100" y="51174"/>
                  <a:pt x="7277100" y="114300"/>
                </a:cubicBezTo>
                <a:lnTo>
                  <a:pt x="7277100" y="1028700"/>
                </a:lnTo>
                <a:cubicBezTo>
                  <a:pt x="7277100" y="1091826"/>
                  <a:pt x="7225926" y="1143000"/>
                  <a:pt x="7162800" y="1143000"/>
                </a:cubicBezTo>
                <a:lnTo>
                  <a:pt x="114300" y="1143000"/>
                </a:lnTo>
                <a:lnTo>
                  <a:pt x="0" y="1143000"/>
                </a:lnTo>
                <a:lnTo>
                  <a:pt x="0" y="1028700"/>
                </a:lnTo>
                <a:lnTo>
                  <a:pt x="0" y="114300"/>
                </a:lnTo>
                <a:lnTo>
                  <a:pt x="0" y="0"/>
                </a:lnTo>
                <a:close/>
              </a:path>
            </a:pathLst>
          </a:cu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28"/>
          <p:cNvSpPr/>
          <p:nvPr/>
        </p:nvSpPr>
        <p:spPr>
          <a:xfrm>
            <a:off x="7429500" y="2784154"/>
            <a:ext cx="4762500" cy="1143000"/>
          </a:xfrm>
          <a:custGeom>
            <a:avLst/>
            <a:gdLst>
              <a:gd name="connsiteX0" fmla="*/ 114300 w 4762500"/>
              <a:gd name="connsiteY0" fmla="*/ 0 h 1143000"/>
              <a:gd name="connsiteX1" fmla="*/ 3722204 w 4762500"/>
              <a:gd name="connsiteY1" fmla="*/ 0 h 1143000"/>
              <a:gd name="connsiteX2" fmla="*/ 4648200 w 4762500"/>
              <a:gd name="connsiteY2" fmla="*/ 0 h 1143000"/>
              <a:gd name="connsiteX3" fmla="*/ 4762500 w 4762500"/>
              <a:gd name="connsiteY3" fmla="*/ 0 h 1143000"/>
              <a:gd name="connsiteX4" fmla="*/ 4762500 w 4762500"/>
              <a:gd name="connsiteY4" fmla="*/ 114300 h 1143000"/>
              <a:gd name="connsiteX5" fmla="*/ 4762500 w 4762500"/>
              <a:gd name="connsiteY5" fmla="*/ 1028700 h 1143000"/>
              <a:gd name="connsiteX6" fmla="*/ 4762500 w 4762500"/>
              <a:gd name="connsiteY6" fmla="*/ 1143000 h 1143000"/>
              <a:gd name="connsiteX7" fmla="*/ 4648200 w 4762500"/>
              <a:gd name="connsiteY7" fmla="*/ 1143000 h 1143000"/>
              <a:gd name="connsiteX8" fmla="*/ 3722204 w 4762500"/>
              <a:gd name="connsiteY8" fmla="*/ 1143000 h 1143000"/>
              <a:gd name="connsiteX9" fmla="*/ 114300 w 4762500"/>
              <a:gd name="connsiteY9" fmla="*/ 1143000 h 1143000"/>
              <a:gd name="connsiteX10" fmla="*/ 0 w 4762500"/>
              <a:gd name="connsiteY10" fmla="*/ 1028700 h 1143000"/>
              <a:gd name="connsiteX11" fmla="*/ 0 w 4762500"/>
              <a:gd name="connsiteY11" fmla="*/ 114300 h 1143000"/>
              <a:gd name="connsiteX12" fmla="*/ 114300 w 4762500"/>
              <a:gd name="connsiteY12" fmla="*/ 0 h 1143000"/>
              <a:gd name="connsiteX0-1" fmla="*/ 114300 w 4762500"/>
              <a:gd name="connsiteY0-2" fmla="*/ 0 h 1143000"/>
              <a:gd name="connsiteX1-3" fmla="*/ 4648200 w 4762500"/>
              <a:gd name="connsiteY1-4" fmla="*/ 0 h 1143000"/>
              <a:gd name="connsiteX2-5" fmla="*/ 4762500 w 4762500"/>
              <a:gd name="connsiteY2-6" fmla="*/ 0 h 1143000"/>
              <a:gd name="connsiteX3-7" fmla="*/ 4762500 w 4762500"/>
              <a:gd name="connsiteY3-8" fmla="*/ 114300 h 1143000"/>
              <a:gd name="connsiteX4-9" fmla="*/ 4762500 w 4762500"/>
              <a:gd name="connsiteY4-10" fmla="*/ 1028700 h 1143000"/>
              <a:gd name="connsiteX5-11" fmla="*/ 4762500 w 4762500"/>
              <a:gd name="connsiteY5-12" fmla="*/ 1143000 h 1143000"/>
              <a:gd name="connsiteX6-13" fmla="*/ 4648200 w 4762500"/>
              <a:gd name="connsiteY6-14" fmla="*/ 1143000 h 1143000"/>
              <a:gd name="connsiteX7-15" fmla="*/ 3722204 w 4762500"/>
              <a:gd name="connsiteY7-16" fmla="*/ 1143000 h 1143000"/>
              <a:gd name="connsiteX8-17" fmla="*/ 114300 w 4762500"/>
              <a:gd name="connsiteY8-18" fmla="*/ 1143000 h 1143000"/>
              <a:gd name="connsiteX9-19" fmla="*/ 0 w 4762500"/>
              <a:gd name="connsiteY9-20" fmla="*/ 1028700 h 1143000"/>
              <a:gd name="connsiteX10-21" fmla="*/ 0 w 4762500"/>
              <a:gd name="connsiteY10-22" fmla="*/ 114300 h 1143000"/>
              <a:gd name="connsiteX11-23" fmla="*/ 114300 w 4762500"/>
              <a:gd name="connsiteY11-24" fmla="*/ 0 h 1143000"/>
              <a:gd name="connsiteX0-25" fmla="*/ 114300 w 4762500"/>
              <a:gd name="connsiteY0-26" fmla="*/ 0 h 1143000"/>
              <a:gd name="connsiteX1-27" fmla="*/ 4648200 w 4762500"/>
              <a:gd name="connsiteY1-28" fmla="*/ 0 h 1143000"/>
              <a:gd name="connsiteX2-29" fmla="*/ 4762500 w 4762500"/>
              <a:gd name="connsiteY2-30" fmla="*/ 0 h 1143000"/>
              <a:gd name="connsiteX3-31" fmla="*/ 4762500 w 4762500"/>
              <a:gd name="connsiteY3-32" fmla="*/ 114300 h 1143000"/>
              <a:gd name="connsiteX4-33" fmla="*/ 4762500 w 4762500"/>
              <a:gd name="connsiteY4-34" fmla="*/ 1028700 h 1143000"/>
              <a:gd name="connsiteX5-35" fmla="*/ 4762500 w 4762500"/>
              <a:gd name="connsiteY5-36" fmla="*/ 1143000 h 1143000"/>
              <a:gd name="connsiteX6-37" fmla="*/ 4648200 w 4762500"/>
              <a:gd name="connsiteY6-38" fmla="*/ 1143000 h 1143000"/>
              <a:gd name="connsiteX7-39" fmla="*/ 114300 w 4762500"/>
              <a:gd name="connsiteY7-40" fmla="*/ 1143000 h 1143000"/>
              <a:gd name="connsiteX8-41" fmla="*/ 0 w 4762500"/>
              <a:gd name="connsiteY8-42" fmla="*/ 1028700 h 1143000"/>
              <a:gd name="connsiteX9-43" fmla="*/ 0 w 4762500"/>
              <a:gd name="connsiteY9-44" fmla="*/ 114300 h 1143000"/>
              <a:gd name="connsiteX10-45" fmla="*/ 114300 w 47625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762500" h="1143000">
                <a:moveTo>
                  <a:pt x="114300" y="0"/>
                </a:moveTo>
                <a:lnTo>
                  <a:pt x="4648200" y="0"/>
                </a:lnTo>
                <a:lnTo>
                  <a:pt x="4762500" y="0"/>
                </a:lnTo>
                <a:lnTo>
                  <a:pt x="4762500" y="114300"/>
                </a:lnTo>
                <a:lnTo>
                  <a:pt x="4762500" y="1028700"/>
                </a:lnTo>
                <a:lnTo>
                  <a:pt x="4762500" y="1143000"/>
                </a:lnTo>
                <a:lnTo>
                  <a:pt x="4648200" y="1143000"/>
                </a:lnTo>
                <a:lnTo>
                  <a:pt x="114300" y="1143000"/>
                </a:lnTo>
                <a:cubicBezTo>
                  <a:pt x="51174" y="1143000"/>
                  <a:pt x="0" y="1091826"/>
                  <a:pt x="0" y="1028700"/>
                </a:cubicBezTo>
                <a:lnTo>
                  <a:pt x="0" y="114300"/>
                </a:lnTo>
                <a:cubicBezTo>
                  <a:pt x="0" y="51174"/>
                  <a:pt x="51174" y="0"/>
                  <a:pt x="114300" y="0"/>
                </a:cubicBezTo>
                <a:close/>
              </a:path>
            </a:pathLst>
          </a:custGeom>
          <a:solidFill>
            <a:srgbClr val="B83835">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7429500" y="4060504"/>
            <a:ext cx="1485900" cy="1143000"/>
          </a:xfrm>
          <a:prstGeom prst="roundRect">
            <a:avLst>
              <a:gd name="adj" fmla="val 10000"/>
            </a:avLst>
          </a:prstGeom>
          <a:solidFill>
            <a:srgbClr val="B83835">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object 8"/>
          <p:cNvSpPr/>
          <p:nvPr/>
        </p:nvSpPr>
        <p:spPr>
          <a:xfrm>
            <a:off x="9371255" y="5612037"/>
            <a:ext cx="644480" cy="661724"/>
          </a:xfrm>
          <a:custGeom>
            <a:avLst/>
            <a:gdLst/>
            <a:ahLst/>
            <a:cxnLst/>
            <a:rect l="l" t="t" r="r" b="b"/>
            <a:pathLst>
              <a:path w="788035" h="788035">
                <a:moveTo>
                  <a:pt x="787526" y="787539"/>
                </a:moveTo>
                <a:lnTo>
                  <a:pt x="0" y="787539"/>
                </a:lnTo>
                <a:lnTo>
                  <a:pt x="0" y="0"/>
                </a:lnTo>
                <a:lnTo>
                  <a:pt x="787526" y="0"/>
                </a:lnTo>
                <a:lnTo>
                  <a:pt x="787526" y="787539"/>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圆角矩形 21"/>
          <p:cNvSpPr/>
          <p:nvPr/>
        </p:nvSpPr>
        <p:spPr>
          <a:xfrm>
            <a:off x="5355771" y="2784154"/>
            <a:ext cx="1921329" cy="1143000"/>
          </a:xfrm>
          <a:prstGeom prst="roundRect">
            <a:avLst>
              <a:gd name="adj" fmla="val 10000"/>
            </a:avLst>
          </a:prstGeom>
          <a:solidFill>
            <a:srgbClr val="B83835">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10706100" y="4060504"/>
            <a:ext cx="1921329" cy="1143000"/>
          </a:xfrm>
          <a:prstGeom prst="roundRect">
            <a:avLst>
              <a:gd name="adj" fmla="val 10000"/>
            </a:avLst>
          </a:prstGeom>
          <a:solidFill>
            <a:srgbClr val="B83835">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533709" y="6181629"/>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533709" y="5827428"/>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533709" y="5473227"/>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08200" y="5457977"/>
            <a:ext cx="2740383" cy="276999"/>
          </a:xfrm>
          <a:prstGeom prst="rect">
            <a:avLst/>
          </a:prstGeom>
          <a:noFill/>
        </p:spPr>
        <p:txBody>
          <a:bodyPr wrap="square" rtlCol="0">
            <a:spAutoFit/>
            <a:scene3d>
              <a:camera prst="orthographicFront"/>
              <a:lightRig rig="threePt" dir="t"/>
            </a:scene3d>
            <a:sp3d contourW="12700"/>
          </a:bodyPr>
          <a:lstStyle/>
          <a:p>
            <a:pPr marL="12700">
              <a:spcBef>
                <a:spcPts val="165"/>
              </a:spcBef>
            </a:pP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网</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zh-CN" altLang="en-US"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址：</a:t>
            </a:r>
            <a:r>
              <a:rPr lang="en-GB" altLang="zh-CN" sz="1200" spc="9" dirty="0" err="1">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www.yhfund.com.cn</a:t>
            </a:r>
            <a:endParaRPr lang="en-GB" altLang="zh-CN"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endParaRPr>
          </a:p>
        </p:txBody>
      </p:sp>
      <p:sp>
        <p:nvSpPr>
          <p:cNvPr id="37" name="文本框 36"/>
          <p:cNvSpPr txBox="1"/>
          <p:nvPr/>
        </p:nvSpPr>
        <p:spPr>
          <a:xfrm>
            <a:off x="908200" y="5809340"/>
            <a:ext cx="3258857" cy="286425"/>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客服中心：</a:t>
            </a:r>
            <a:r>
              <a:rPr lang="en-US" altLang="zh-CN"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400</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en-US" altLang="zh-CN" sz="1200" spc="-15"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678</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en-US" altLang="zh-CN" sz="1200" spc="-15"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3333</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en-US" altLang="zh-CN" sz="1200" spc="-15"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010-85186558</a:t>
            </a:r>
            <a:endParaRPr lang="en-US" altLang="zh-CN" sz="1200" dirty="0">
              <a:solidFill>
                <a:schemeClr val="bg2">
                  <a:lumMod val="25000"/>
                </a:schemeClr>
              </a:solidFill>
              <a:latin typeface="Century Gothic" panose="020B0502020202020204" pitchFamily="34" charset="0"/>
              <a:ea typeface="+mj-ea"/>
            </a:endParaRPr>
          </a:p>
        </p:txBody>
      </p:sp>
      <p:sp>
        <p:nvSpPr>
          <p:cNvPr id="38" name="椭圆 23"/>
          <p:cNvSpPr/>
          <p:nvPr/>
        </p:nvSpPr>
        <p:spPr>
          <a:xfrm>
            <a:off x="596869" y="6227598"/>
            <a:ext cx="156601" cy="156395"/>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文本框 38"/>
          <p:cNvSpPr txBox="1"/>
          <p:nvPr/>
        </p:nvSpPr>
        <p:spPr>
          <a:xfrm>
            <a:off x="908200" y="6160703"/>
            <a:ext cx="7626200" cy="497380"/>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dirty="0">
                <a:solidFill>
                  <a:schemeClr val="bg2">
                    <a:lumMod val="25000"/>
                  </a:schemeClr>
                </a:solidFill>
                <a:latin typeface="+mn-ea"/>
              </a:rPr>
              <a:t>地址：</a:t>
            </a:r>
            <a:r>
              <a:rPr lang="zh-CN" altLang="en-US" sz="1200" dirty="0">
                <a:solidFill>
                  <a:schemeClr val="bg2">
                    <a:lumMod val="25000"/>
                  </a:schemeClr>
                </a:solidFill>
                <a:latin typeface="+mj-ea"/>
                <a:ea typeface="+mj-ea"/>
              </a:rPr>
              <a:t>北京市东城区东长安街</a:t>
            </a:r>
            <a:r>
              <a:rPr lang="en-US" altLang="zh-CN" sz="1200" dirty="0">
                <a:solidFill>
                  <a:schemeClr val="bg2">
                    <a:lumMod val="25000"/>
                  </a:schemeClr>
                </a:solidFill>
                <a:latin typeface="+mj-ea"/>
                <a:ea typeface="+mj-ea"/>
              </a:rPr>
              <a:t>1</a:t>
            </a:r>
            <a:r>
              <a:rPr lang="zh-CN" altLang="en-US" sz="1200" dirty="0">
                <a:solidFill>
                  <a:schemeClr val="bg2">
                    <a:lumMod val="25000"/>
                  </a:schemeClr>
                </a:solidFill>
                <a:latin typeface="+mj-ea"/>
                <a:ea typeface="+mj-ea"/>
              </a:rPr>
              <a:t>号东方广场东方经贸城中二办公楼十五层</a:t>
            </a:r>
          </a:p>
          <a:p>
            <a:pPr>
              <a:lnSpc>
                <a:spcPct val="114000"/>
              </a:lnSpc>
            </a:pPr>
            <a:endParaRPr lang="zh-CN" altLang="en-US" sz="1200" dirty="0">
              <a:solidFill>
                <a:schemeClr val="bg2">
                  <a:lumMod val="25000"/>
                </a:schemeClr>
              </a:solidFill>
              <a:latin typeface="+mj-ea"/>
              <a:ea typeface="+mj-ea"/>
            </a:endParaRPr>
          </a:p>
        </p:txBody>
      </p:sp>
      <p:pic>
        <p:nvPicPr>
          <p:cNvPr id="40" name="图片 39"/>
          <p:cNvPicPr>
            <a:picLocks noChangeAspect="1"/>
          </p:cNvPicPr>
          <p:nvPr/>
        </p:nvPicPr>
        <p:blipFill>
          <a:blip r:embed="rId3" cstate="print"/>
          <a:stretch>
            <a:fillRect/>
          </a:stretch>
        </p:blipFill>
        <p:spPr>
          <a:xfrm>
            <a:off x="591801" y="5530411"/>
            <a:ext cx="161641" cy="161641"/>
          </a:xfrm>
          <a:prstGeom prst="rect">
            <a:avLst/>
          </a:prstGeom>
        </p:spPr>
      </p:pic>
      <p:pic>
        <p:nvPicPr>
          <p:cNvPr id="41" name="图片 40"/>
          <p:cNvPicPr>
            <a:picLocks noChangeAspect="1"/>
          </p:cNvPicPr>
          <p:nvPr/>
        </p:nvPicPr>
        <p:blipFill>
          <a:blip r:embed="rId4" cstate="print"/>
          <a:stretch>
            <a:fillRect/>
          </a:stretch>
        </p:blipFill>
        <p:spPr>
          <a:xfrm>
            <a:off x="586810" y="5884090"/>
            <a:ext cx="169807" cy="162684"/>
          </a:xfrm>
          <a:prstGeom prst="rect">
            <a:avLst/>
          </a:prstGeom>
        </p:spPr>
      </p:pic>
      <p:pic>
        <p:nvPicPr>
          <p:cNvPr id="42" name="图片 11" descr="00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709" y="398914"/>
            <a:ext cx="1662557" cy="42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圆角矩形 42"/>
          <p:cNvSpPr/>
          <p:nvPr/>
        </p:nvSpPr>
        <p:spPr>
          <a:xfrm rot="5400000">
            <a:off x="11819164" y="3925813"/>
            <a:ext cx="1921329" cy="1143000"/>
          </a:xfrm>
          <a:prstGeom prst="roundRect">
            <a:avLst>
              <a:gd name="adj" fmla="val 10000"/>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000"/>
                            </p:stCondLst>
                            <p:childTnLst>
                              <p:par>
                                <p:cTn id="18" presetID="2" presetClass="entr" presetSubtype="8"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par>
                          <p:cTn id="47" fill="hold">
                            <p:stCondLst>
                              <p:cond delay="3500"/>
                            </p:stCondLst>
                            <p:childTnLst>
                              <p:par>
                                <p:cTn id="48" presetID="10" presetClass="entr" presetSubtype="0" fill="hold" grpId="0" nodeType="after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500"/>
                                        <p:tgtEl>
                                          <p:spTgt spid="34"/>
                                        </p:tgtEl>
                                      </p:cBhvr>
                                    </p:animEffec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childTnLst>
                          </p:cTn>
                        </p:par>
                        <p:par>
                          <p:cTn id="55" fill="hold">
                            <p:stCondLst>
                              <p:cond delay="4500"/>
                            </p:stCondLst>
                            <p:childTnLst>
                              <p:par>
                                <p:cTn id="56" presetID="10" presetClass="entr" presetSubtype="0" fill="hold" grpId="0" nodeType="after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animBg="1"/>
      <p:bldP spid="6" grpId="0" animBg="1"/>
      <p:bldP spid="7" grpId="0" animBg="1"/>
      <p:bldP spid="22" grpId="0" animBg="1"/>
      <p:bldP spid="23" grpId="0" animBg="1"/>
      <p:bldP spid="33" grpId="0" animBg="1"/>
      <p:bldP spid="34" grpId="0" animBg="1"/>
      <p:bldP spid="35" grpId="0" animBg="1"/>
      <p:bldP spid="36" grpId="0"/>
      <p:bldP spid="37" grpId="0"/>
      <p:bldP spid="39" grpId="0"/>
      <p:bldP spid="4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r>
              <a:t>资产配置</a:t>
            </a:r>
          </a:p>
        </p:txBody>
      </p:sp>
      <p:sp>
        <p:nvSpPr>
          <p:cNvPr id="8" name="文本框 7"/>
          <p:cNvSpPr txBox="1"/>
          <p:nvPr/>
        </p:nvSpPr>
        <p:spPr>
          <a:xfrm>
            <a:off x="231775" y="2459990"/>
            <a:ext cx="2075180" cy="1938020"/>
          </a:xfrm>
          <a:prstGeom prst="rect">
            <a:avLst/>
          </a:prstGeom>
          <a:noFill/>
        </p:spPr>
        <p:txBody>
          <a:bodyPr wrap="square" rtlCol="0">
            <a:spAutoFit/>
          </a:bodyPr>
          <a:lstStyle/>
          <a:p>
            <a:r>
              <a:t>02</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r>
              <a:t>ETF轮动</a:t>
            </a:r>
          </a:p>
        </p:txBody>
      </p:sp>
      <p:sp>
        <p:nvSpPr>
          <p:cNvPr id="8" name="文本框 7"/>
          <p:cNvSpPr txBox="1"/>
          <p:nvPr/>
        </p:nvSpPr>
        <p:spPr>
          <a:xfrm>
            <a:off x="231775" y="2459990"/>
            <a:ext cx="2075180" cy="1938020"/>
          </a:xfrm>
          <a:prstGeom prst="rect">
            <a:avLst/>
          </a:prstGeom>
          <a:noFill/>
        </p:spPr>
        <p:txBody>
          <a:bodyPr wrap="square" rtlCol="0">
            <a:spAutoFit/>
          </a:bodyPr>
          <a:lstStyle/>
          <a:p>
            <a:r>
              <a:t>03</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ETF轮动策略：核心思路</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p:cNvGrpSpPr/>
          <p:nvPr/>
        </p:nvGrpSpPr>
        <p:grpSpPr>
          <a:xfrm>
            <a:off x="1873176" y="1326395"/>
            <a:ext cx="8368111" cy="4747945"/>
            <a:chOff x="639763" y="1772816"/>
            <a:chExt cx="7864475" cy="4462189"/>
          </a:xfrm>
        </p:grpSpPr>
        <p:sp>
          <p:nvSpPr>
            <p:cNvPr id="15" name="矩形 9"/>
            <p:cNvSpPr>
              <a:spLocks noChangeArrowheads="1"/>
            </p:cNvSpPr>
            <p:nvPr/>
          </p:nvSpPr>
          <p:spPr bwMode="gray">
            <a:xfrm>
              <a:off x="639763" y="3500920"/>
              <a:ext cx="7864475" cy="953465"/>
            </a:xfrm>
            <a:prstGeom prst="rect">
              <a:avLst/>
            </a:prstGeom>
            <a:gradFill rotWithShape="1">
              <a:gsLst>
                <a:gs pos="0">
                  <a:srgbClr val="DDDDDD"/>
                </a:gs>
                <a:gs pos="50000">
                  <a:srgbClr val="F4F4F4"/>
                </a:gs>
                <a:gs pos="100000">
                  <a:srgbClr val="DDDDDD"/>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1915"/>
            </a:p>
          </p:txBody>
        </p:sp>
        <p:sp>
          <p:nvSpPr>
            <p:cNvPr id="16" name="Rectangle 9"/>
            <p:cNvSpPr>
              <a:spLocks noChangeArrowheads="1"/>
            </p:cNvSpPr>
            <p:nvPr/>
          </p:nvSpPr>
          <p:spPr bwMode="auto">
            <a:xfrm>
              <a:off x="2361325"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基本面因素</a:t>
              </a:r>
            </a:p>
          </p:txBody>
        </p:sp>
        <p:cxnSp>
          <p:nvCxnSpPr>
            <p:cNvPr id="17" name="AutoShape 14"/>
            <p:cNvCxnSpPr>
              <a:cxnSpLocks noChangeShapeType="1"/>
              <a:stCxn id="16" idx="0"/>
              <a:endCxn id="18" idx="2"/>
            </p:cNvCxnSpPr>
            <p:nvPr/>
          </p:nvCxnSpPr>
          <p:spPr bwMode="auto">
            <a:xfrm rot="5400000" flipH="1" flipV="1">
              <a:off x="3686392" y="1455749"/>
              <a:ext cx="272888" cy="1627022"/>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sp>
          <p:nvSpPr>
            <p:cNvPr id="18" name="Rectangle 8"/>
            <p:cNvSpPr>
              <a:spLocks noChangeArrowheads="1"/>
            </p:cNvSpPr>
            <p:nvPr/>
          </p:nvSpPr>
          <p:spPr bwMode="auto">
            <a:xfrm>
              <a:off x="3376347" y="1772816"/>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实体与虚拟基本面的相互印证</a:t>
              </a:r>
            </a:p>
          </p:txBody>
        </p:sp>
        <p:sp>
          <p:nvSpPr>
            <p:cNvPr id="19" name="Rectangle 15"/>
            <p:cNvSpPr>
              <a:spLocks noChangeArrowheads="1"/>
            </p:cNvSpPr>
            <p:nvPr/>
          </p:nvSpPr>
          <p:spPr bwMode="auto">
            <a:xfrm>
              <a:off x="1276737"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宏观周期</a:t>
              </a:r>
            </a:p>
          </p:txBody>
        </p:sp>
        <p:sp>
          <p:nvSpPr>
            <p:cNvPr id="20" name="Rectangle 15"/>
            <p:cNvSpPr>
              <a:spLocks noChangeArrowheads="1"/>
            </p:cNvSpPr>
            <p:nvPr/>
          </p:nvSpPr>
          <p:spPr bwMode="auto">
            <a:xfrm>
              <a:off x="2521282" y="3079566"/>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政策周期</a:t>
              </a:r>
            </a:p>
          </p:txBody>
        </p:sp>
        <p:sp>
          <p:nvSpPr>
            <p:cNvPr id="21" name="Rectangle 15"/>
            <p:cNvSpPr>
              <a:spLocks noChangeArrowheads="1"/>
            </p:cNvSpPr>
            <p:nvPr/>
          </p:nvSpPr>
          <p:spPr bwMode="auto">
            <a:xfrm>
              <a:off x="3736492"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产业周期</a:t>
              </a:r>
            </a:p>
          </p:txBody>
        </p:sp>
        <p:sp>
          <p:nvSpPr>
            <p:cNvPr id="22" name="Rectangle 15"/>
            <p:cNvSpPr>
              <a:spLocks noChangeArrowheads="1"/>
            </p:cNvSpPr>
            <p:nvPr/>
          </p:nvSpPr>
          <p:spPr bwMode="auto">
            <a:xfrm>
              <a:off x="492136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货币供应</a:t>
              </a:r>
            </a:p>
          </p:txBody>
        </p:sp>
        <p:sp>
          <p:nvSpPr>
            <p:cNvPr id="23" name="Rectangle 15"/>
            <p:cNvSpPr>
              <a:spLocks noChangeArrowheads="1"/>
            </p:cNvSpPr>
            <p:nvPr/>
          </p:nvSpPr>
          <p:spPr bwMode="auto">
            <a:xfrm>
              <a:off x="659609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资金分配</a:t>
              </a:r>
            </a:p>
          </p:txBody>
        </p:sp>
        <p:sp>
          <p:nvSpPr>
            <p:cNvPr id="24" name="Rectangle 8"/>
            <p:cNvSpPr>
              <a:spLocks noChangeArrowheads="1"/>
            </p:cNvSpPr>
            <p:nvPr/>
          </p:nvSpPr>
          <p:spPr bwMode="auto">
            <a:xfrm>
              <a:off x="3378004" y="5875005"/>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风险与收益的平衡</a:t>
              </a:r>
            </a:p>
          </p:txBody>
        </p:sp>
        <p:sp>
          <p:nvSpPr>
            <p:cNvPr id="25" name="Rectangle 9"/>
            <p:cNvSpPr>
              <a:spLocks noChangeArrowheads="1"/>
            </p:cNvSpPr>
            <p:nvPr/>
          </p:nvSpPr>
          <p:spPr bwMode="auto">
            <a:xfrm>
              <a:off x="2152075" y="5082917"/>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估值因素</a:t>
              </a:r>
            </a:p>
          </p:txBody>
        </p:sp>
        <p:sp>
          <p:nvSpPr>
            <p:cNvPr id="26" name="Rectangle 11"/>
            <p:cNvSpPr>
              <a:spLocks noChangeArrowheads="1"/>
            </p:cNvSpPr>
            <p:nvPr/>
          </p:nvSpPr>
          <p:spPr bwMode="auto">
            <a:xfrm>
              <a:off x="5680323" y="5082917"/>
              <a:ext cx="1296000" cy="504000"/>
            </a:xfrm>
            <a:prstGeom prst="rect">
              <a:avLst/>
            </a:prstGeom>
            <a:solidFill>
              <a:srgbClr val="C00000"/>
            </a:solidFill>
            <a:ln w="9525">
              <a:solidFill>
                <a:srgbClr val="C0C0C0"/>
              </a:solid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供求交易因素</a:t>
              </a:r>
            </a:p>
          </p:txBody>
        </p:sp>
        <p:sp>
          <p:nvSpPr>
            <p:cNvPr id="27" name="Rectangle 11"/>
            <p:cNvSpPr>
              <a:spLocks noChangeArrowheads="1"/>
            </p:cNvSpPr>
            <p:nvPr/>
          </p:nvSpPr>
          <p:spPr bwMode="auto">
            <a:xfrm>
              <a:off x="5650950"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流动性因素</a:t>
              </a:r>
            </a:p>
          </p:txBody>
        </p:sp>
        <p:sp>
          <p:nvSpPr>
            <p:cNvPr id="28" name="Rectangle 7"/>
            <p:cNvSpPr>
              <a:spLocks noChangeArrowheads="1"/>
            </p:cNvSpPr>
            <p:nvPr/>
          </p:nvSpPr>
          <p:spPr bwMode="auto">
            <a:xfrm>
              <a:off x="3990713" y="3895035"/>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股票、新三板</a:t>
              </a:r>
            </a:p>
          </p:txBody>
        </p:sp>
        <p:sp>
          <p:nvSpPr>
            <p:cNvPr id="29" name="Rectangle 8"/>
            <p:cNvSpPr>
              <a:spLocks noChangeArrowheads="1"/>
            </p:cNvSpPr>
            <p:nvPr/>
          </p:nvSpPr>
          <p:spPr bwMode="auto">
            <a:xfrm>
              <a:off x="3990713" y="3645487"/>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权益类资产</a:t>
              </a:r>
            </a:p>
          </p:txBody>
        </p:sp>
        <p:sp>
          <p:nvSpPr>
            <p:cNvPr id="30" name="Rectangle 7"/>
            <p:cNvSpPr>
              <a:spLocks noChangeArrowheads="1"/>
            </p:cNvSpPr>
            <p:nvPr/>
          </p:nvSpPr>
          <p:spPr bwMode="auto">
            <a:xfrm>
              <a:off x="2460932" y="3887519"/>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债券、非标</a:t>
              </a:r>
            </a:p>
          </p:txBody>
        </p:sp>
        <p:sp>
          <p:nvSpPr>
            <p:cNvPr id="31" name="Rectangle 8"/>
            <p:cNvSpPr>
              <a:spLocks noChangeArrowheads="1"/>
            </p:cNvSpPr>
            <p:nvPr/>
          </p:nvSpPr>
          <p:spPr bwMode="auto">
            <a:xfrm>
              <a:off x="2460932" y="363797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固收类资产</a:t>
              </a:r>
            </a:p>
          </p:txBody>
        </p:sp>
        <p:sp>
          <p:nvSpPr>
            <p:cNvPr id="32" name="Rectangle 7"/>
            <p:cNvSpPr>
              <a:spLocks noChangeArrowheads="1"/>
            </p:cNvSpPr>
            <p:nvPr/>
          </p:nvSpPr>
          <p:spPr bwMode="auto">
            <a:xfrm>
              <a:off x="5562122" y="3908565"/>
              <a:ext cx="1143247"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房地产、大宗</a:t>
              </a:r>
            </a:p>
          </p:txBody>
        </p:sp>
        <p:sp>
          <p:nvSpPr>
            <p:cNvPr id="33" name="Rectangle 8"/>
            <p:cNvSpPr>
              <a:spLocks noChangeArrowheads="1"/>
            </p:cNvSpPr>
            <p:nvPr/>
          </p:nvSpPr>
          <p:spPr bwMode="auto">
            <a:xfrm>
              <a:off x="5565095" y="3651500"/>
              <a:ext cx="1143247"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商品类资产</a:t>
              </a:r>
            </a:p>
          </p:txBody>
        </p:sp>
        <p:sp>
          <p:nvSpPr>
            <p:cNvPr id="34" name="Rectangle 7"/>
            <p:cNvSpPr>
              <a:spLocks noChangeArrowheads="1"/>
            </p:cNvSpPr>
            <p:nvPr/>
          </p:nvSpPr>
          <p:spPr bwMode="auto">
            <a:xfrm>
              <a:off x="931150" y="3883008"/>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回购、票据</a:t>
              </a:r>
            </a:p>
          </p:txBody>
        </p:sp>
        <p:sp>
          <p:nvSpPr>
            <p:cNvPr id="35" name="Rectangle 8"/>
            <p:cNvSpPr>
              <a:spLocks noChangeArrowheads="1"/>
            </p:cNvSpPr>
            <p:nvPr/>
          </p:nvSpPr>
          <p:spPr bwMode="auto">
            <a:xfrm>
              <a:off x="931150" y="363346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货币类资产</a:t>
              </a:r>
            </a:p>
          </p:txBody>
        </p:sp>
        <p:sp>
          <p:nvSpPr>
            <p:cNvPr id="36" name="Rectangle 7"/>
            <p:cNvSpPr>
              <a:spLocks noChangeArrowheads="1"/>
            </p:cNvSpPr>
            <p:nvPr/>
          </p:nvSpPr>
          <p:spPr bwMode="auto">
            <a:xfrm>
              <a:off x="7094876" y="3884512"/>
              <a:ext cx="1143248"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美股、美债</a:t>
              </a:r>
            </a:p>
          </p:txBody>
        </p:sp>
        <p:sp>
          <p:nvSpPr>
            <p:cNvPr id="37" name="Rectangle 8"/>
            <p:cNvSpPr>
              <a:spLocks noChangeArrowheads="1"/>
            </p:cNvSpPr>
            <p:nvPr/>
          </p:nvSpPr>
          <p:spPr bwMode="auto">
            <a:xfrm>
              <a:off x="7094876" y="3634964"/>
              <a:ext cx="1143248"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en-US" altLang="zh-CN" sz="1490" b="1" kern="0" dirty="0">
                  <a:solidFill>
                    <a:srgbClr val="FFFFFF"/>
                  </a:solidFill>
                  <a:latin typeface="微软雅黑" panose="020B0503020204020204" pitchFamily="34" charset="-122"/>
                  <a:ea typeface="微软雅黑" panose="020B0503020204020204" pitchFamily="34" charset="-122"/>
                </a:rPr>
                <a:t>QDII</a:t>
              </a:r>
              <a:endParaRPr lang="zh-CN" altLang="en-US" sz="1490" b="1" kern="0" dirty="0">
                <a:solidFill>
                  <a:srgbClr val="FFFFFF"/>
                </a:solidFill>
                <a:latin typeface="微软雅黑" panose="020B0503020204020204" pitchFamily="34" charset="-122"/>
                <a:ea typeface="微软雅黑" panose="020B0503020204020204" pitchFamily="34" charset="-122"/>
              </a:endParaRPr>
            </a:p>
          </p:txBody>
        </p:sp>
        <p:cxnSp>
          <p:nvCxnSpPr>
            <p:cNvPr id="38" name="连接符: 肘形 42"/>
            <p:cNvCxnSpPr>
              <a:stCxn id="16" idx="3"/>
              <a:endCxn id="21" idx="0"/>
            </p:cNvCxnSpPr>
            <p:nvPr/>
          </p:nvCxnSpPr>
          <p:spPr>
            <a:xfrm>
              <a:off x="3657325" y="2657704"/>
              <a:ext cx="565167"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9" name="AutoShape 14"/>
            <p:cNvCxnSpPr>
              <a:cxnSpLocks noChangeShapeType="1"/>
              <a:stCxn id="27" idx="0"/>
              <a:endCxn id="18" idx="2"/>
            </p:cNvCxnSpPr>
            <p:nvPr/>
          </p:nvCxnSpPr>
          <p:spPr bwMode="auto">
            <a:xfrm rot="16200000" flipV="1">
              <a:off x="5331205" y="1437958"/>
              <a:ext cx="272888" cy="1662603"/>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40" name="连接符: 肘形 44"/>
            <p:cNvCxnSpPr>
              <a:stCxn id="16" idx="1"/>
              <a:endCxn id="19" idx="0"/>
            </p:cNvCxnSpPr>
            <p:nvPr/>
          </p:nvCxnSpPr>
          <p:spPr>
            <a:xfrm rot="10800000" flipV="1">
              <a:off x="1762737" y="2657703"/>
              <a:ext cx="598588"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7" name="连接符: 肘形 45"/>
            <p:cNvCxnSpPr>
              <a:stCxn id="27" idx="1"/>
              <a:endCxn id="22" idx="0"/>
            </p:cNvCxnSpPr>
            <p:nvPr/>
          </p:nvCxnSpPr>
          <p:spPr>
            <a:xfrm rot="10800000" flipV="1">
              <a:off x="5407368" y="2657704"/>
              <a:ext cx="243582"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9" name="连接符: 肘形 46"/>
            <p:cNvCxnSpPr>
              <a:stCxn id="27" idx="3"/>
              <a:endCxn id="23" idx="0"/>
            </p:cNvCxnSpPr>
            <p:nvPr/>
          </p:nvCxnSpPr>
          <p:spPr>
            <a:xfrm>
              <a:off x="6946950" y="2657704"/>
              <a:ext cx="135148"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sp>
          <p:nvSpPr>
            <p:cNvPr id="50" name="Rectangle 15"/>
            <p:cNvSpPr>
              <a:spLocks noChangeArrowheads="1"/>
            </p:cNvSpPr>
            <p:nvPr/>
          </p:nvSpPr>
          <p:spPr bwMode="auto">
            <a:xfrm>
              <a:off x="1185901"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绝对估值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5" name="Rectangle 15"/>
            <p:cNvSpPr>
              <a:spLocks noChangeArrowheads="1"/>
            </p:cNvSpPr>
            <p:nvPr/>
          </p:nvSpPr>
          <p:spPr bwMode="auto">
            <a:xfrm>
              <a:off x="2257635"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相对估值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7" name="Rectangle 15"/>
            <p:cNvSpPr>
              <a:spLocks noChangeArrowheads="1"/>
            </p:cNvSpPr>
            <p:nvPr/>
          </p:nvSpPr>
          <p:spPr bwMode="auto">
            <a:xfrm>
              <a:off x="3329369" y="4581129"/>
              <a:ext cx="1296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风险估值调整</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8" name="Rectangle 15"/>
            <p:cNvSpPr>
              <a:spLocks noChangeArrowheads="1"/>
            </p:cNvSpPr>
            <p:nvPr/>
          </p:nvSpPr>
          <p:spPr bwMode="auto">
            <a:xfrm>
              <a:off x="4797103"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资产结构</a:t>
              </a:r>
            </a:p>
          </p:txBody>
        </p:sp>
        <p:sp>
          <p:nvSpPr>
            <p:cNvPr id="59" name="Rectangle 15"/>
            <p:cNvSpPr>
              <a:spLocks noChangeArrowheads="1"/>
            </p:cNvSpPr>
            <p:nvPr/>
          </p:nvSpPr>
          <p:spPr bwMode="auto">
            <a:xfrm>
              <a:off x="5868837" y="4581129"/>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投资者结构</a:t>
              </a:r>
            </a:p>
          </p:txBody>
        </p:sp>
        <p:sp>
          <p:nvSpPr>
            <p:cNvPr id="60" name="Rectangle 15"/>
            <p:cNvSpPr>
              <a:spLocks noChangeArrowheads="1"/>
            </p:cNvSpPr>
            <p:nvPr/>
          </p:nvSpPr>
          <p:spPr bwMode="auto">
            <a:xfrm>
              <a:off x="7012571" y="4581129"/>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市场情绪</a:t>
              </a:r>
            </a:p>
          </p:txBody>
        </p:sp>
        <p:cxnSp>
          <p:nvCxnSpPr>
            <p:cNvPr id="61" name="AutoShape 14"/>
            <p:cNvCxnSpPr>
              <a:cxnSpLocks noChangeShapeType="1"/>
              <a:stCxn id="26" idx="2"/>
              <a:endCxn id="24" idx="0"/>
            </p:cNvCxnSpPr>
            <p:nvPr/>
          </p:nvCxnSpPr>
          <p:spPr bwMode="auto">
            <a:xfrm rot="5400000">
              <a:off x="5339120" y="4885802"/>
              <a:ext cx="288088" cy="169031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2" name="AutoShape 14"/>
            <p:cNvCxnSpPr>
              <a:cxnSpLocks noChangeShapeType="1"/>
              <a:stCxn id="25" idx="2"/>
              <a:endCxn id="24" idx="0"/>
            </p:cNvCxnSpPr>
            <p:nvPr/>
          </p:nvCxnSpPr>
          <p:spPr bwMode="auto">
            <a:xfrm rot="16200000" flipH="1">
              <a:off x="3574995" y="4811996"/>
              <a:ext cx="288088" cy="183792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3" name="AutoShape 14"/>
            <p:cNvCxnSpPr>
              <a:cxnSpLocks noChangeShapeType="1"/>
              <a:stCxn id="50" idx="2"/>
              <a:endCxn id="25" idx="1"/>
            </p:cNvCxnSpPr>
            <p:nvPr/>
          </p:nvCxnSpPr>
          <p:spPr bwMode="auto">
            <a:xfrm rot="16200000" flipH="1">
              <a:off x="1661094" y="4843935"/>
              <a:ext cx="465789" cy="51617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4" name="AutoShape 14"/>
            <p:cNvCxnSpPr>
              <a:cxnSpLocks noChangeShapeType="1"/>
              <a:stCxn id="57" idx="2"/>
              <a:endCxn id="25" idx="3"/>
            </p:cNvCxnSpPr>
            <p:nvPr/>
          </p:nvCxnSpPr>
          <p:spPr bwMode="auto">
            <a:xfrm rot="5400000">
              <a:off x="3479828" y="4837376"/>
              <a:ext cx="465788" cy="52929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5" name="AutoShape 14"/>
            <p:cNvCxnSpPr>
              <a:cxnSpLocks noChangeShapeType="1"/>
              <a:stCxn id="58" idx="2"/>
              <a:endCxn id="26" idx="1"/>
            </p:cNvCxnSpPr>
            <p:nvPr/>
          </p:nvCxnSpPr>
          <p:spPr bwMode="auto">
            <a:xfrm rot="16200000" flipH="1">
              <a:off x="5230819" y="4885412"/>
              <a:ext cx="465789" cy="433220"/>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6" name="AutoShape 14"/>
            <p:cNvCxnSpPr>
              <a:cxnSpLocks noChangeShapeType="1"/>
              <a:stCxn id="60" idx="2"/>
              <a:endCxn id="26" idx="3"/>
            </p:cNvCxnSpPr>
            <p:nvPr/>
          </p:nvCxnSpPr>
          <p:spPr bwMode="auto">
            <a:xfrm rot="5400000">
              <a:off x="6986553" y="4858899"/>
              <a:ext cx="465788" cy="486248"/>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gr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67" name="TextBox 66"/>
          <p:cNvSpPr txBox="1"/>
          <p:nvPr/>
        </p:nvSpPr>
        <p:spPr>
          <a:xfrm>
            <a:off x="548640" y="1463040"/>
            <a:ext cx="10972800" cy="4846320"/>
          </a:xfrm>
          <a:prstGeom prst="rect">
            <a:avLst/>
          </a:prstGeom>
          <a:noFill/>
        </p:spPr>
        <p:txBody>
          <a:bodyPr wrap="square">
            <a:spAutoFit/>
          </a:bodyPr>
          <a:lstStyle/>
          <a:p>
            <a:pPr>
              <a:spcAft>
                <a:spcPts val="1200"/>
              </a:spcAft>
              <a:defRPr sz="1800">
                <a:solidFill>
                  <a:srgbClr val="1F4E79"/>
                </a:solidFill>
              </a:defRPr>
            </a:pPr>
            <a:r>
              <a:t>ETF轮动策略的本质：为ETF产品配置相应权重，以战胜既定基准。</a:t>
            </a:r>
          </a:p>
          <a:p>
            <a:pPr>
              <a:spcAft>
                <a:spcPts val="1200"/>
              </a:spcAft>
              <a:defRPr sz="1800">
                <a:solidFill>
                  <a:srgbClr val="1F4E79"/>
                </a:solidFill>
              </a:defRPr>
            </a:pPr>
            <a:r>
              <a:t>核心难点：每一期如何决定ETF的配置比例。</a:t>
            </a:r>
          </a:p>
          <a:p>
            <a:pPr>
              <a:spcAft>
                <a:spcPts val="1200"/>
              </a:spcAft>
              <a:defRPr sz="1800">
                <a:solidFill>
                  <a:srgbClr val="1F4E79"/>
                </a:solidFill>
              </a:defRPr>
            </a:pPr>
            <a:r>
              <a:t>银华FOF方案：让最优秀的基金组合指引ETF配置比例，解决最难的环节。</a:t>
            </a:r>
          </a:p>
          <a:p>
            <a:pPr>
              <a:spcAft>
                <a:spcPts val="1200"/>
              </a:spcAft>
              <a:defRPr sz="1800">
                <a:solidFill>
                  <a:srgbClr val="1F4E79"/>
                </a:solidFill>
              </a:defRPr>
            </a:pPr>
            <a:r>
              <a:t>在选基模型已实盘验证稳定超额（相对930950）的基础上，</a:t>
            </a:r>
          </a:p>
          <a:p>
            <a:pPr>
              <a:spcAft>
                <a:spcPts val="1200"/>
              </a:spcAft>
              <a:defRPr sz="1800">
                <a:solidFill>
                  <a:srgbClr val="1F4E79"/>
                </a:solidFill>
              </a:defRPr>
            </a:pPr>
            <a:r>
              <a:t>开发ETF替代组合，回测对930950同样具备稳定超额，具备产品化条件。</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机器学习选基模型：评价指标</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7091" y="6240269"/>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36332" y="6585306"/>
            <a:ext cx="8841122" cy="252730"/>
          </a:xfrm>
          <a:prstGeom prst="rect">
            <a:avLst/>
          </a:prstGeom>
          <a:noFill/>
        </p:spPr>
        <p:txBody>
          <a:bodyPr wrap="square" rtlCol="0">
            <a:spAutoFit/>
          </a:bodyPr>
          <a:lstStyle/>
          <a:p>
            <a:r>
              <a:t>注：数据来源银华基金、Wind；行业配置上限25%。</a:t>
            </a:r>
          </a:p>
        </p:txBody>
      </p:sp>
      <p:sp>
        <p:nvSpPr>
          <p:cNvPr id="3" name="文本框 2"/>
          <p:cNvSpPr txBox="1"/>
          <p:nvPr/>
        </p:nvSpPr>
        <p:spPr>
          <a:xfrm>
            <a:off x="7774489" y="65857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fund_model_kpi.png"/>
          <p:cNvPicPr>
            <a:picLocks noChangeAspect="1"/>
          </p:cNvPicPr>
          <p:nvPr/>
        </p:nvPicPr>
        <p:blipFill>
          <a:blip r:embed="rId2"/>
          <a:stretch>
            <a:fillRect/>
          </a:stretch>
        </p:blipFill>
        <p:spPr>
          <a:xfrm>
            <a:off x="614098" y="1415716"/>
            <a:ext cx="9663764" cy="402656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机器学习选基模型：逐年超额收益</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7091" y="6240269"/>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36332" y="6585306"/>
            <a:ext cx="8841122" cy="252730"/>
          </a:xfrm>
          <a:prstGeom prst="rect">
            <a:avLst/>
          </a:prstGeom>
          <a:noFill/>
        </p:spPr>
        <p:txBody>
          <a:bodyPr wrap="square" rtlCol="0">
            <a:spAutoFit/>
          </a:bodyPr>
          <a:lstStyle/>
          <a:p>
            <a:r>
              <a:t>注：2017-2026年，相对930950多数年份取得正超额。</a:t>
            </a:r>
          </a:p>
        </p:txBody>
      </p:sp>
      <p:sp>
        <p:nvSpPr>
          <p:cNvPr id="3" name="文本框 2"/>
          <p:cNvSpPr txBox="1"/>
          <p:nvPr/>
        </p:nvSpPr>
        <p:spPr>
          <a:xfrm>
            <a:off x="7774489" y="65857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fund_model_annual_excess.png"/>
          <p:cNvPicPr>
            <a:picLocks noChangeAspect="1"/>
          </p:cNvPicPr>
          <p:nvPr/>
        </p:nvPicPr>
        <p:blipFill>
          <a:blip r:embed="rId2"/>
          <a:stretch>
            <a:fillRect/>
          </a:stretch>
        </p:blipFill>
        <p:spPr>
          <a:xfrm>
            <a:off x="614098" y="1415716"/>
            <a:ext cx="9663764" cy="402656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4" y="287933"/>
            <a:ext cx="9908029" cy="430887"/>
          </a:xfrm>
          <a:prstGeom prst="rect">
            <a:avLst/>
          </a:prstGeom>
          <a:noFill/>
        </p:spPr>
        <p:txBody>
          <a:bodyPr wrap="square" rtlCol="0">
            <a:spAutoFit/>
          </a:bodyPr>
          <a:lstStyle/>
          <a:p>
            <a:r>
              <a:t>ETF替代组合结构：85/10/5</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10" name="图片 9" descr="框"/>
          <p:cNvPicPr>
            <a:picLocks noChangeAspect="1"/>
          </p:cNvPicPr>
          <p:nvPr/>
        </p:nvPicPr>
        <p:blipFill>
          <a:blip r:embed="rId4"/>
          <a:stretch>
            <a:fillRect/>
          </a:stretch>
        </p:blipFill>
        <p:spPr>
          <a:xfrm>
            <a:off x="161470" y="3580486"/>
            <a:ext cx="10775668" cy="3004820"/>
          </a:xfrm>
          <a:prstGeom prst="rect">
            <a:avLst/>
          </a:prstGeom>
        </p:spPr>
      </p:pic>
      <p:sp>
        <p:nvSpPr>
          <p:cNvPr id="11" name="文本框 10"/>
          <p:cNvSpPr txBox="1"/>
          <p:nvPr/>
        </p:nvSpPr>
        <p:spPr>
          <a:xfrm>
            <a:off x="1703884" y="1935836"/>
            <a:ext cx="8011615" cy="1061829"/>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使用机器学习选基模型，提取基金产品的特征，使用海量历史数据训练，筛选最优异的基金产品</a:t>
            </a:r>
            <a:endParaRPr lang="en-US" altLang="zh-CN"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endParaRPr>
          </a:p>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a:t>
            </a: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基金行业高频仓位测算模型进行风险控制，仓位测算模型覆盖基金的动态分类、基金组合构建与动态风险监控等环节</a:t>
            </a:r>
            <a:endParaRPr lang="en-US" altLang="zh-CN" sz="1400" dirty="0">
              <a:solidFill>
                <a:schemeClr val="dk1"/>
              </a:solidFill>
              <a:latin typeface="微软雅黑" panose="020B0503020204020204" pitchFamily="34" charset="-122"/>
              <a:ea typeface="微软雅黑" panose="020B0503020204020204" pitchFamily="34" charset="-122"/>
              <a:cs typeface="Inter" pitchFamily="34" charset="-120"/>
              <a:sym typeface="+mn-ea"/>
            </a:endParaRPr>
          </a:p>
        </p:txBody>
      </p:sp>
      <p:sp>
        <p:nvSpPr>
          <p:cNvPr id="12" name="文本框 11"/>
          <p:cNvSpPr txBox="1"/>
          <p:nvPr/>
        </p:nvSpPr>
        <p:spPr>
          <a:xfrm>
            <a:off x="1103174" y="1567536"/>
            <a:ext cx="6212025" cy="369332"/>
          </a:xfrm>
          <a:prstGeom prst="rect">
            <a:avLst/>
          </a:prstGeom>
          <a:noFill/>
        </p:spPr>
        <p:txBody>
          <a:bodyPr wrap="square" rtlCol="0">
            <a:spAutoFit/>
          </a:bodyPr>
          <a:lstStyle/>
          <a:p>
            <a:r>
              <a:t>1. 扩展窗口机器学习选基模型，每期筛选Top20基金</a:t>
            </a:r>
          </a:p>
        </p:txBody>
      </p:sp>
      <p:sp>
        <p:nvSpPr>
          <p:cNvPr id="13" name="文本框 12"/>
          <p:cNvSpPr txBox="1"/>
          <p:nvPr/>
        </p:nvSpPr>
        <p:spPr>
          <a:xfrm>
            <a:off x="1703885" y="4395826"/>
            <a:ext cx="7314142" cy="738664"/>
          </a:xfrm>
          <a:prstGeom prst="rect">
            <a:avLst/>
          </a:prstGeom>
          <a:noFill/>
        </p:spPr>
        <p:txBody>
          <a:bodyPr wrap="square" rtlCol="0">
            <a:spAutoFit/>
          </a:bodyPr>
          <a:lstStyle/>
          <a:p>
            <a:r>
              <a:t>基金组合行业配置线上限25%；ETF组合行业配置上限35%。ETF缺乏主动管理alpha，需适度行业超配以获取超额，同时控制偏离。</a:t>
            </a:r>
          </a:p>
        </p:txBody>
      </p:sp>
      <p:sp>
        <p:nvSpPr>
          <p:cNvPr id="14" name="文本框 13"/>
          <p:cNvSpPr txBox="1"/>
          <p:nvPr/>
        </p:nvSpPr>
        <p:spPr>
          <a:xfrm>
            <a:off x="1199059" y="3998951"/>
            <a:ext cx="8042911" cy="369332"/>
          </a:xfrm>
          <a:prstGeom prst="rect">
            <a:avLst/>
          </a:prstGeom>
          <a:noFill/>
        </p:spPr>
        <p:txBody>
          <a:bodyPr wrap="square" rtlCol="0">
            <a:spAutoFit/>
          </a:bodyPr>
          <a:lstStyle/>
          <a:p>
            <a:r>
              <a:t>2. 穿透测算组合行业权重，映射为ETF轮动配置</a:t>
            </a:r>
          </a:p>
        </p:txBody>
      </p:sp>
      <p:pic>
        <p:nvPicPr>
          <p:cNvPr id="46" name="Picture 45" descr="portfolio_structure.png"/>
          <p:cNvPicPr>
            <a:picLocks noChangeAspect="1"/>
          </p:cNvPicPr>
          <p:nvPr/>
        </p:nvPicPr>
        <p:blipFill>
          <a:blip r:embed="rId2"/>
          <a:stretch>
            <a:fillRect/>
          </a:stretch>
        </p:blipFill>
        <p:spPr>
          <a:xfrm>
            <a:off x="97970" y="1277976"/>
            <a:ext cx="10839168" cy="30048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4" y="287933"/>
            <a:ext cx="9908029" cy="430887"/>
          </a:xfrm>
          <a:prstGeom prst="rect">
            <a:avLst/>
          </a:prstGeom>
          <a:noFill/>
        </p:spPr>
        <p:txBody>
          <a:bodyPr wrap="square" rtlCol="0">
            <a:spAutoFit/>
          </a:bodyPr>
          <a:lstStyle/>
          <a:p>
            <a:r>
              <a:t>ETF轮动策略：实施流程</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10" name="图片 9" descr="框"/>
          <p:cNvPicPr>
            <a:picLocks noChangeAspect="1"/>
          </p:cNvPicPr>
          <p:nvPr/>
        </p:nvPicPr>
        <p:blipFill>
          <a:blip r:embed="rId4"/>
          <a:stretch>
            <a:fillRect/>
          </a:stretch>
        </p:blipFill>
        <p:spPr>
          <a:xfrm>
            <a:off x="161470" y="3580486"/>
            <a:ext cx="10775668" cy="3004820"/>
          </a:xfrm>
          <a:prstGeom prst="rect">
            <a:avLst/>
          </a:prstGeom>
        </p:spPr>
      </p:pic>
      <p:sp>
        <p:nvSpPr>
          <p:cNvPr id="11" name="文本框 10"/>
          <p:cNvSpPr txBox="1"/>
          <p:nvPr/>
        </p:nvSpPr>
        <p:spPr>
          <a:xfrm>
            <a:off x="1703884" y="1935836"/>
            <a:ext cx="8011615" cy="1061829"/>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使用机器学习选基模型，提取基金产品的特征，使用海量历史数据训练，筛选最优异的基金产品</a:t>
            </a:r>
            <a:endParaRPr lang="en-US" altLang="zh-CN"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endParaRPr>
          </a:p>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a:t>
            </a: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基金行业高频仓位测算模型进行风险控制，仓位测算模型覆盖基金的动态分类、基金组合构建与动态风险监控等环节</a:t>
            </a:r>
            <a:endParaRPr lang="en-US" altLang="zh-CN" sz="1400" dirty="0">
              <a:solidFill>
                <a:schemeClr val="dk1"/>
              </a:solidFill>
              <a:latin typeface="微软雅黑" panose="020B0503020204020204" pitchFamily="34" charset="-122"/>
              <a:ea typeface="微软雅黑" panose="020B0503020204020204" pitchFamily="34" charset="-122"/>
              <a:cs typeface="Inter" pitchFamily="34" charset="-120"/>
              <a:sym typeface="+mn-ea"/>
            </a:endParaRPr>
          </a:p>
        </p:txBody>
      </p:sp>
      <p:sp>
        <p:nvSpPr>
          <p:cNvPr id="12" name="文本框 11"/>
          <p:cNvSpPr txBox="1"/>
          <p:nvPr/>
        </p:nvSpPr>
        <p:spPr>
          <a:xfrm>
            <a:off x="1103174" y="1567536"/>
            <a:ext cx="6212025" cy="369332"/>
          </a:xfrm>
          <a:prstGeom prst="rect">
            <a:avLst/>
          </a:prstGeom>
          <a:noFill/>
        </p:spPr>
        <p:txBody>
          <a:bodyPr wrap="square" rtlCol="0">
            <a:spAutoFit/>
          </a:bodyPr>
          <a:lstStyle/>
          <a:p>
            <a:r>
              <a:t>1. 扩展窗口机器学习选基模型，每期筛选Top20基金</a:t>
            </a:r>
          </a:p>
        </p:txBody>
      </p:sp>
      <p:sp>
        <p:nvSpPr>
          <p:cNvPr id="13" name="文本框 12"/>
          <p:cNvSpPr txBox="1"/>
          <p:nvPr/>
        </p:nvSpPr>
        <p:spPr>
          <a:xfrm>
            <a:off x="1703885" y="4395826"/>
            <a:ext cx="7314142" cy="738664"/>
          </a:xfrm>
          <a:prstGeom prst="rect">
            <a:avLst/>
          </a:prstGeom>
          <a:noFill/>
        </p:spPr>
        <p:txBody>
          <a:bodyPr wrap="square" rtlCol="0">
            <a:spAutoFit/>
          </a:bodyPr>
          <a:lstStyle/>
          <a:p>
            <a:r>
              <a:t>基金组合行业配置线上限25%；ETF组合行业配置上限35%。ETF缺乏主动管理alpha，需适度行业超配以获取超额，同时控制偏离。</a:t>
            </a:r>
          </a:p>
        </p:txBody>
      </p:sp>
      <p:sp>
        <p:nvSpPr>
          <p:cNvPr id="14" name="文本框 13"/>
          <p:cNvSpPr txBox="1"/>
          <p:nvPr/>
        </p:nvSpPr>
        <p:spPr>
          <a:xfrm>
            <a:off x="1199059" y="3998951"/>
            <a:ext cx="8042911" cy="369332"/>
          </a:xfrm>
          <a:prstGeom prst="rect">
            <a:avLst/>
          </a:prstGeom>
          <a:noFill/>
        </p:spPr>
        <p:txBody>
          <a:bodyPr wrap="square" rtlCol="0">
            <a:spAutoFit/>
          </a:bodyPr>
          <a:lstStyle/>
          <a:p>
            <a:r>
              <a:t>2. 穿透测算组合行业权重，映射为ETF轮动配置</a:t>
            </a:r>
          </a:p>
        </p:txBody>
      </p:sp>
      <p:pic>
        <p:nvPicPr>
          <p:cNvPr id="46" name="Picture 45" descr="etf_strategy_flow.png"/>
          <p:cNvPicPr>
            <a:picLocks noChangeAspect="1"/>
          </p:cNvPicPr>
          <p:nvPr/>
        </p:nvPicPr>
        <p:blipFill>
          <a:blip r:embed="rId2"/>
          <a:stretch>
            <a:fillRect/>
          </a:stretch>
        </p:blipFill>
        <p:spPr>
          <a:xfrm>
            <a:off x="97970" y="1277976"/>
            <a:ext cx="10839168" cy="30048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ETF替代策略：回测核心指标</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7091" y="6240269"/>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36332" y="6585306"/>
            <a:ext cx="8841122" cy="252730"/>
          </a:xfrm>
          <a:prstGeom prst="rect">
            <a:avLst/>
          </a:prstGeom>
          <a:noFill/>
        </p:spPr>
        <p:txBody>
          <a:bodyPr wrap="square" rtlCol="0">
            <a:spAutoFit/>
          </a:bodyPr>
          <a:lstStyle/>
          <a:p>
            <a:r>
              <a:t>注：扩展窗口|上限35%|85/10/5|1B穿透；单只ETF≤20%。</a:t>
            </a:r>
          </a:p>
        </p:txBody>
      </p:sp>
      <p:sp>
        <p:nvSpPr>
          <p:cNvPr id="3" name="文本框 2"/>
          <p:cNvSpPr txBox="1"/>
          <p:nvPr/>
        </p:nvSpPr>
        <p:spPr>
          <a:xfrm>
            <a:off x="7774489" y="65857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etf_kpi_table.png"/>
          <p:cNvPicPr>
            <a:picLocks noChangeAspect="1"/>
          </p:cNvPicPr>
          <p:nvPr/>
        </p:nvPicPr>
        <p:blipFill>
          <a:blip r:embed="rId2"/>
          <a:stretch>
            <a:fillRect/>
          </a:stretch>
        </p:blipFill>
        <p:spPr>
          <a:xfrm>
            <a:off x="614098" y="1415716"/>
            <a:ext cx="9663764" cy="402656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ETF替代策略：逐年超额收益（2021起）</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7091" y="6240269"/>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36332" y="6585306"/>
            <a:ext cx="8841122" cy="252730"/>
          </a:xfrm>
          <a:prstGeom prst="rect">
            <a:avLst/>
          </a:prstGeom>
          <a:noFill/>
        </p:spPr>
        <p:txBody>
          <a:bodyPr wrap="square" rtlCol="0">
            <a:spAutoFit/>
          </a:bodyPr>
          <a:lstStyle/>
          <a:p>
            <a:r>
              <a:t>注：固定窗口与扩展窗口均对930950具备正超额。</a:t>
            </a:r>
          </a:p>
        </p:txBody>
      </p:sp>
      <p:sp>
        <p:nvSpPr>
          <p:cNvPr id="3" name="文本框 2"/>
          <p:cNvSpPr txBox="1"/>
          <p:nvPr/>
        </p:nvSpPr>
        <p:spPr>
          <a:xfrm>
            <a:off x="7774489" y="65857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etf_annual_excess_compare.png"/>
          <p:cNvPicPr>
            <a:picLocks noChangeAspect="1"/>
          </p:cNvPicPr>
          <p:nvPr/>
        </p:nvPicPr>
        <p:blipFill>
          <a:blip r:embed="rId2"/>
          <a:stretch>
            <a:fillRect/>
          </a:stretch>
        </p:blipFill>
        <p:spPr>
          <a:xfrm>
            <a:off x="614098" y="1415716"/>
            <a:ext cx="9663764" cy="402656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ETF替代策略：操作要点</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p:cNvGrpSpPr/>
          <p:nvPr/>
        </p:nvGrpSpPr>
        <p:grpSpPr>
          <a:xfrm>
            <a:off x="1873176" y="1326395"/>
            <a:ext cx="8368111" cy="4747945"/>
            <a:chOff x="639763" y="1772816"/>
            <a:chExt cx="7864475" cy="4462189"/>
          </a:xfrm>
        </p:grpSpPr>
        <p:sp>
          <p:nvSpPr>
            <p:cNvPr id="15" name="矩形 9"/>
            <p:cNvSpPr>
              <a:spLocks noChangeArrowheads="1"/>
            </p:cNvSpPr>
            <p:nvPr/>
          </p:nvSpPr>
          <p:spPr bwMode="gray">
            <a:xfrm>
              <a:off x="639763" y="3500920"/>
              <a:ext cx="7864475" cy="953465"/>
            </a:xfrm>
            <a:prstGeom prst="rect">
              <a:avLst/>
            </a:prstGeom>
            <a:gradFill rotWithShape="1">
              <a:gsLst>
                <a:gs pos="0">
                  <a:srgbClr val="DDDDDD"/>
                </a:gs>
                <a:gs pos="50000">
                  <a:srgbClr val="F4F4F4"/>
                </a:gs>
                <a:gs pos="100000">
                  <a:srgbClr val="DDDDDD"/>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1915"/>
            </a:p>
          </p:txBody>
        </p:sp>
        <p:sp>
          <p:nvSpPr>
            <p:cNvPr id="16" name="Rectangle 9"/>
            <p:cNvSpPr>
              <a:spLocks noChangeArrowheads="1"/>
            </p:cNvSpPr>
            <p:nvPr/>
          </p:nvSpPr>
          <p:spPr bwMode="auto">
            <a:xfrm>
              <a:off x="2361325"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基本面因素</a:t>
              </a:r>
            </a:p>
          </p:txBody>
        </p:sp>
        <p:cxnSp>
          <p:nvCxnSpPr>
            <p:cNvPr id="17" name="AutoShape 14"/>
            <p:cNvCxnSpPr>
              <a:cxnSpLocks noChangeShapeType="1"/>
              <a:stCxn id="16" idx="0"/>
              <a:endCxn id="18" idx="2"/>
            </p:cNvCxnSpPr>
            <p:nvPr/>
          </p:nvCxnSpPr>
          <p:spPr bwMode="auto">
            <a:xfrm rot="5400000" flipH="1" flipV="1">
              <a:off x="3686392" y="1455749"/>
              <a:ext cx="272888" cy="1627022"/>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sp>
          <p:nvSpPr>
            <p:cNvPr id="18" name="Rectangle 8"/>
            <p:cNvSpPr>
              <a:spLocks noChangeArrowheads="1"/>
            </p:cNvSpPr>
            <p:nvPr/>
          </p:nvSpPr>
          <p:spPr bwMode="auto">
            <a:xfrm>
              <a:off x="3376347" y="1772816"/>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实体与虚拟基本面的相互印证</a:t>
              </a:r>
            </a:p>
          </p:txBody>
        </p:sp>
        <p:sp>
          <p:nvSpPr>
            <p:cNvPr id="19" name="Rectangle 15"/>
            <p:cNvSpPr>
              <a:spLocks noChangeArrowheads="1"/>
            </p:cNvSpPr>
            <p:nvPr/>
          </p:nvSpPr>
          <p:spPr bwMode="auto">
            <a:xfrm>
              <a:off x="1276737"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宏观周期</a:t>
              </a:r>
            </a:p>
          </p:txBody>
        </p:sp>
        <p:sp>
          <p:nvSpPr>
            <p:cNvPr id="20" name="Rectangle 15"/>
            <p:cNvSpPr>
              <a:spLocks noChangeArrowheads="1"/>
            </p:cNvSpPr>
            <p:nvPr/>
          </p:nvSpPr>
          <p:spPr bwMode="auto">
            <a:xfrm>
              <a:off x="2521282" y="3079566"/>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政策周期</a:t>
              </a:r>
            </a:p>
          </p:txBody>
        </p:sp>
        <p:sp>
          <p:nvSpPr>
            <p:cNvPr id="21" name="Rectangle 15"/>
            <p:cNvSpPr>
              <a:spLocks noChangeArrowheads="1"/>
            </p:cNvSpPr>
            <p:nvPr/>
          </p:nvSpPr>
          <p:spPr bwMode="auto">
            <a:xfrm>
              <a:off x="3736492"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产业周期</a:t>
              </a:r>
            </a:p>
          </p:txBody>
        </p:sp>
        <p:sp>
          <p:nvSpPr>
            <p:cNvPr id="22" name="Rectangle 15"/>
            <p:cNvSpPr>
              <a:spLocks noChangeArrowheads="1"/>
            </p:cNvSpPr>
            <p:nvPr/>
          </p:nvSpPr>
          <p:spPr bwMode="auto">
            <a:xfrm>
              <a:off x="492136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货币供应</a:t>
              </a:r>
            </a:p>
          </p:txBody>
        </p:sp>
        <p:sp>
          <p:nvSpPr>
            <p:cNvPr id="23" name="Rectangle 15"/>
            <p:cNvSpPr>
              <a:spLocks noChangeArrowheads="1"/>
            </p:cNvSpPr>
            <p:nvPr/>
          </p:nvSpPr>
          <p:spPr bwMode="auto">
            <a:xfrm>
              <a:off x="659609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资金分配</a:t>
              </a:r>
            </a:p>
          </p:txBody>
        </p:sp>
        <p:sp>
          <p:nvSpPr>
            <p:cNvPr id="24" name="Rectangle 8"/>
            <p:cNvSpPr>
              <a:spLocks noChangeArrowheads="1"/>
            </p:cNvSpPr>
            <p:nvPr/>
          </p:nvSpPr>
          <p:spPr bwMode="auto">
            <a:xfrm>
              <a:off x="3378004" y="5875005"/>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风险与收益的平衡</a:t>
              </a:r>
            </a:p>
          </p:txBody>
        </p:sp>
        <p:sp>
          <p:nvSpPr>
            <p:cNvPr id="25" name="Rectangle 9"/>
            <p:cNvSpPr>
              <a:spLocks noChangeArrowheads="1"/>
            </p:cNvSpPr>
            <p:nvPr/>
          </p:nvSpPr>
          <p:spPr bwMode="auto">
            <a:xfrm>
              <a:off x="2152075" y="5082917"/>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估值因素</a:t>
              </a:r>
            </a:p>
          </p:txBody>
        </p:sp>
        <p:sp>
          <p:nvSpPr>
            <p:cNvPr id="26" name="Rectangle 11"/>
            <p:cNvSpPr>
              <a:spLocks noChangeArrowheads="1"/>
            </p:cNvSpPr>
            <p:nvPr/>
          </p:nvSpPr>
          <p:spPr bwMode="auto">
            <a:xfrm>
              <a:off x="5680323" y="5082917"/>
              <a:ext cx="1296000" cy="504000"/>
            </a:xfrm>
            <a:prstGeom prst="rect">
              <a:avLst/>
            </a:prstGeom>
            <a:solidFill>
              <a:srgbClr val="C00000"/>
            </a:solidFill>
            <a:ln w="9525">
              <a:solidFill>
                <a:srgbClr val="C0C0C0"/>
              </a:solid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供求交易因素</a:t>
              </a:r>
            </a:p>
          </p:txBody>
        </p:sp>
        <p:sp>
          <p:nvSpPr>
            <p:cNvPr id="27" name="Rectangle 11"/>
            <p:cNvSpPr>
              <a:spLocks noChangeArrowheads="1"/>
            </p:cNvSpPr>
            <p:nvPr/>
          </p:nvSpPr>
          <p:spPr bwMode="auto">
            <a:xfrm>
              <a:off x="5650950"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流动性因素</a:t>
              </a:r>
            </a:p>
          </p:txBody>
        </p:sp>
        <p:sp>
          <p:nvSpPr>
            <p:cNvPr id="28" name="Rectangle 7"/>
            <p:cNvSpPr>
              <a:spLocks noChangeArrowheads="1"/>
            </p:cNvSpPr>
            <p:nvPr/>
          </p:nvSpPr>
          <p:spPr bwMode="auto">
            <a:xfrm>
              <a:off x="3990713" y="3895035"/>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股票、新三板</a:t>
              </a:r>
            </a:p>
          </p:txBody>
        </p:sp>
        <p:sp>
          <p:nvSpPr>
            <p:cNvPr id="29" name="Rectangle 8"/>
            <p:cNvSpPr>
              <a:spLocks noChangeArrowheads="1"/>
            </p:cNvSpPr>
            <p:nvPr/>
          </p:nvSpPr>
          <p:spPr bwMode="auto">
            <a:xfrm>
              <a:off x="3990713" y="3645487"/>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权益类资产</a:t>
              </a:r>
            </a:p>
          </p:txBody>
        </p:sp>
        <p:sp>
          <p:nvSpPr>
            <p:cNvPr id="30" name="Rectangle 7"/>
            <p:cNvSpPr>
              <a:spLocks noChangeArrowheads="1"/>
            </p:cNvSpPr>
            <p:nvPr/>
          </p:nvSpPr>
          <p:spPr bwMode="auto">
            <a:xfrm>
              <a:off x="2460932" y="3887519"/>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债券、非标</a:t>
              </a:r>
            </a:p>
          </p:txBody>
        </p:sp>
        <p:sp>
          <p:nvSpPr>
            <p:cNvPr id="31" name="Rectangle 8"/>
            <p:cNvSpPr>
              <a:spLocks noChangeArrowheads="1"/>
            </p:cNvSpPr>
            <p:nvPr/>
          </p:nvSpPr>
          <p:spPr bwMode="auto">
            <a:xfrm>
              <a:off x="2460932" y="363797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固收类资产</a:t>
              </a:r>
            </a:p>
          </p:txBody>
        </p:sp>
        <p:sp>
          <p:nvSpPr>
            <p:cNvPr id="32" name="Rectangle 7"/>
            <p:cNvSpPr>
              <a:spLocks noChangeArrowheads="1"/>
            </p:cNvSpPr>
            <p:nvPr/>
          </p:nvSpPr>
          <p:spPr bwMode="auto">
            <a:xfrm>
              <a:off x="5562122" y="3908565"/>
              <a:ext cx="1143247"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房地产、大宗</a:t>
              </a:r>
            </a:p>
          </p:txBody>
        </p:sp>
        <p:sp>
          <p:nvSpPr>
            <p:cNvPr id="33" name="Rectangle 8"/>
            <p:cNvSpPr>
              <a:spLocks noChangeArrowheads="1"/>
            </p:cNvSpPr>
            <p:nvPr/>
          </p:nvSpPr>
          <p:spPr bwMode="auto">
            <a:xfrm>
              <a:off x="5565095" y="3651500"/>
              <a:ext cx="1143247"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商品类资产</a:t>
              </a:r>
            </a:p>
          </p:txBody>
        </p:sp>
        <p:sp>
          <p:nvSpPr>
            <p:cNvPr id="34" name="Rectangle 7"/>
            <p:cNvSpPr>
              <a:spLocks noChangeArrowheads="1"/>
            </p:cNvSpPr>
            <p:nvPr/>
          </p:nvSpPr>
          <p:spPr bwMode="auto">
            <a:xfrm>
              <a:off x="931150" y="3883008"/>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回购、票据</a:t>
              </a:r>
            </a:p>
          </p:txBody>
        </p:sp>
        <p:sp>
          <p:nvSpPr>
            <p:cNvPr id="35" name="Rectangle 8"/>
            <p:cNvSpPr>
              <a:spLocks noChangeArrowheads="1"/>
            </p:cNvSpPr>
            <p:nvPr/>
          </p:nvSpPr>
          <p:spPr bwMode="auto">
            <a:xfrm>
              <a:off x="931150" y="363346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货币类资产</a:t>
              </a:r>
            </a:p>
          </p:txBody>
        </p:sp>
        <p:sp>
          <p:nvSpPr>
            <p:cNvPr id="36" name="Rectangle 7"/>
            <p:cNvSpPr>
              <a:spLocks noChangeArrowheads="1"/>
            </p:cNvSpPr>
            <p:nvPr/>
          </p:nvSpPr>
          <p:spPr bwMode="auto">
            <a:xfrm>
              <a:off x="7094876" y="3884512"/>
              <a:ext cx="1143248"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美股、美债</a:t>
              </a:r>
            </a:p>
          </p:txBody>
        </p:sp>
        <p:sp>
          <p:nvSpPr>
            <p:cNvPr id="37" name="Rectangle 8"/>
            <p:cNvSpPr>
              <a:spLocks noChangeArrowheads="1"/>
            </p:cNvSpPr>
            <p:nvPr/>
          </p:nvSpPr>
          <p:spPr bwMode="auto">
            <a:xfrm>
              <a:off x="7094876" y="3634964"/>
              <a:ext cx="1143248"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en-US" altLang="zh-CN" sz="1490" b="1" kern="0" dirty="0">
                  <a:solidFill>
                    <a:srgbClr val="FFFFFF"/>
                  </a:solidFill>
                  <a:latin typeface="微软雅黑" panose="020B0503020204020204" pitchFamily="34" charset="-122"/>
                  <a:ea typeface="微软雅黑" panose="020B0503020204020204" pitchFamily="34" charset="-122"/>
                </a:rPr>
                <a:t>QDII</a:t>
              </a:r>
              <a:endParaRPr lang="zh-CN" altLang="en-US" sz="1490" b="1" kern="0" dirty="0">
                <a:solidFill>
                  <a:srgbClr val="FFFFFF"/>
                </a:solidFill>
                <a:latin typeface="微软雅黑" panose="020B0503020204020204" pitchFamily="34" charset="-122"/>
                <a:ea typeface="微软雅黑" panose="020B0503020204020204" pitchFamily="34" charset="-122"/>
              </a:endParaRPr>
            </a:p>
          </p:txBody>
        </p:sp>
        <p:cxnSp>
          <p:nvCxnSpPr>
            <p:cNvPr id="38" name="连接符: 肘形 42"/>
            <p:cNvCxnSpPr>
              <a:stCxn id="16" idx="3"/>
              <a:endCxn id="21" idx="0"/>
            </p:cNvCxnSpPr>
            <p:nvPr/>
          </p:nvCxnSpPr>
          <p:spPr>
            <a:xfrm>
              <a:off x="3657325" y="2657704"/>
              <a:ext cx="565167"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9" name="AutoShape 14"/>
            <p:cNvCxnSpPr>
              <a:cxnSpLocks noChangeShapeType="1"/>
              <a:stCxn id="27" idx="0"/>
              <a:endCxn id="18" idx="2"/>
            </p:cNvCxnSpPr>
            <p:nvPr/>
          </p:nvCxnSpPr>
          <p:spPr bwMode="auto">
            <a:xfrm rot="16200000" flipV="1">
              <a:off x="5331205" y="1437958"/>
              <a:ext cx="272888" cy="1662603"/>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40" name="连接符: 肘形 44"/>
            <p:cNvCxnSpPr>
              <a:stCxn id="16" idx="1"/>
              <a:endCxn id="19" idx="0"/>
            </p:cNvCxnSpPr>
            <p:nvPr/>
          </p:nvCxnSpPr>
          <p:spPr>
            <a:xfrm rot="10800000" flipV="1">
              <a:off x="1762737" y="2657703"/>
              <a:ext cx="598588"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7" name="连接符: 肘形 45"/>
            <p:cNvCxnSpPr>
              <a:stCxn id="27" idx="1"/>
              <a:endCxn id="22" idx="0"/>
            </p:cNvCxnSpPr>
            <p:nvPr/>
          </p:nvCxnSpPr>
          <p:spPr>
            <a:xfrm rot="10800000" flipV="1">
              <a:off x="5407368" y="2657704"/>
              <a:ext cx="243582"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9" name="连接符: 肘形 46"/>
            <p:cNvCxnSpPr>
              <a:stCxn id="27" idx="3"/>
              <a:endCxn id="23" idx="0"/>
            </p:cNvCxnSpPr>
            <p:nvPr/>
          </p:nvCxnSpPr>
          <p:spPr>
            <a:xfrm>
              <a:off x="6946950" y="2657704"/>
              <a:ext cx="135148"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sp>
          <p:nvSpPr>
            <p:cNvPr id="50" name="Rectangle 15"/>
            <p:cNvSpPr>
              <a:spLocks noChangeArrowheads="1"/>
            </p:cNvSpPr>
            <p:nvPr/>
          </p:nvSpPr>
          <p:spPr bwMode="auto">
            <a:xfrm>
              <a:off x="1185901"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绝对估值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5" name="Rectangle 15"/>
            <p:cNvSpPr>
              <a:spLocks noChangeArrowheads="1"/>
            </p:cNvSpPr>
            <p:nvPr/>
          </p:nvSpPr>
          <p:spPr bwMode="auto">
            <a:xfrm>
              <a:off x="2257635"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相对估值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7" name="Rectangle 15"/>
            <p:cNvSpPr>
              <a:spLocks noChangeArrowheads="1"/>
            </p:cNvSpPr>
            <p:nvPr/>
          </p:nvSpPr>
          <p:spPr bwMode="auto">
            <a:xfrm>
              <a:off x="3329369" y="4581129"/>
              <a:ext cx="1296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风险估值调整</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8" name="Rectangle 15"/>
            <p:cNvSpPr>
              <a:spLocks noChangeArrowheads="1"/>
            </p:cNvSpPr>
            <p:nvPr/>
          </p:nvSpPr>
          <p:spPr bwMode="auto">
            <a:xfrm>
              <a:off x="4797103"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资产结构</a:t>
              </a:r>
            </a:p>
          </p:txBody>
        </p:sp>
        <p:sp>
          <p:nvSpPr>
            <p:cNvPr id="59" name="Rectangle 15"/>
            <p:cNvSpPr>
              <a:spLocks noChangeArrowheads="1"/>
            </p:cNvSpPr>
            <p:nvPr/>
          </p:nvSpPr>
          <p:spPr bwMode="auto">
            <a:xfrm>
              <a:off x="5868837" y="4581129"/>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投资者结构</a:t>
              </a:r>
            </a:p>
          </p:txBody>
        </p:sp>
        <p:sp>
          <p:nvSpPr>
            <p:cNvPr id="60" name="Rectangle 15"/>
            <p:cNvSpPr>
              <a:spLocks noChangeArrowheads="1"/>
            </p:cNvSpPr>
            <p:nvPr/>
          </p:nvSpPr>
          <p:spPr bwMode="auto">
            <a:xfrm>
              <a:off x="7012571" y="4581129"/>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市场情绪</a:t>
              </a:r>
            </a:p>
          </p:txBody>
        </p:sp>
        <p:cxnSp>
          <p:nvCxnSpPr>
            <p:cNvPr id="61" name="AutoShape 14"/>
            <p:cNvCxnSpPr>
              <a:cxnSpLocks noChangeShapeType="1"/>
              <a:stCxn id="26" idx="2"/>
              <a:endCxn id="24" idx="0"/>
            </p:cNvCxnSpPr>
            <p:nvPr/>
          </p:nvCxnSpPr>
          <p:spPr bwMode="auto">
            <a:xfrm rot="5400000">
              <a:off x="5339120" y="4885802"/>
              <a:ext cx="288088" cy="169031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2" name="AutoShape 14"/>
            <p:cNvCxnSpPr>
              <a:cxnSpLocks noChangeShapeType="1"/>
              <a:stCxn id="25" idx="2"/>
              <a:endCxn id="24" idx="0"/>
            </p:cNvCxnSpPr>
            <p:nvPr/>
          </p:nvCxnSpPr>
          <p:spPr bwMode="auto">
            <a:xfrm rot="16200000" flipH="1">
              <a:off x="3574995" y="4811996"/>
              <a:ext cx="288088" cy="183792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3" name="AutoShape 14"/>
            <p:cNvCxnSpPr>
              <a:cxnSpLocks noChangeShapeType="1"/>
              <a:stCxn id="50" idx="2"/>
              <a:endCxn id="25" idx="1"/>
            </p:cNvCxnSpPr>
            <p:nvPr/>
          </p:nvCxnSpPr>
          <p:spPr bwMode="auto">
            <a:xfrm rot="16200000" flipH="1">
              <a:off x="1661094" y="4843935"/>
              <a:ext cx="465789" cy="51617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4" name="AutoShape 14"/>
            <p:cNvCxnSpPr>
              <a:cxnSpLocks noChangeShapeType="1"/>
              <a:stCxn id="57" idx="2"/>
              <a:endCxn id="25" idx="3"/>
            </p:cNvCxnSpPr>
            <p:nvPr/>
          </p:nvCxnSpPr>
          <p:spPr bwMode="auto">
            <a:xfrm rot="5400000">
              <a:off x="3479828" y="4837376"/>
              <a:ext cx="465788" cy="52929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5" name="AutoShape 14"/>
            <p:cNvCxnSpPr>
              <a:cxnSpLocks noChangeShapeType="1"/>
              <a:stCxn id="58" idx="2"/>
              <a:endCxn id="26" idx="1"/>
            </p:cNvCxnSpPr>
            <p:nvPr/>
          </p:nvCxnSpPr>
          <p:spPr bwMode="auto">
            <a:xfrm rot="16200000" flipH="1">
              <a:off x="5230819" y="4885412"/>
              <a:ext cx="465789" cy="433220"/>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6" name="AutoShape 14"/>
            <p:cNvCxnSpPr>
              <a:cxnSpLocks noChangeShapeType="1"/>
              <a:stCxn id="60" idx="2"/>
              <a:endCxn id="26" idx="3"/>
            </p:cNvCxnSpPr>
            <p:nvPr/>
          </p:nvCxnSpPr>
          <p:spPr bwMode="auto">
            <a:xfrm rot="5400000">
              <a:off x="6986553" y="4858899"/>
              <a:ext cx="465788" cy="486248"/>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gr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67" name="TextBox 66"/>
          <p:cNvSpPr txBox="1"/>
          <p:nvPr/>
        </p:nvSpPr>
        <p:spPr>
          <a:xfrm>
            <a:off x="548640" y="1463040"/>
            <a:ext cx="10972800" cy="4846320"/>
          </a:xfrm>
          <a:prstGeom prst="rect">
            <a:avLst/>
          </a:prstGeom>
          <a:noFill/>
        </p:spPr>
        <p:txBody>
          <a:bodyPr wrap="square">
            <a:spAutoFit/>
          </a:bodyPr>
          <a:lstStyle/>
          <a:p>
            <a:pPr>
              <a:spcAft>
                <a:spcPts val="1200"/>
              </a:spcAft>
              <a:defRPr sz="1800">
                <a:solidFill>
                  <a:srgbClr val="1F4E79"/>
                </a:solidFill>
              </a:defRPr>
            </a:pPr>
            <a:r>
              <a:t>选基模型：扩展窗口-30天间隔，每期Top20基金，单行业≤35%优化。</a:t>
            </a:r>
          </a:p>
          <a:p>
            <a:pPr>
              <a:spcAft>
                <a:spcPts val="1200"/>
              </a:spcAft>
              <a:defRPr sz="1800">
                <a:solidFill>
                  <a:srgbClr val="1F4E79"/>
                </a:solidFill>
              </a:defRPr>
            </a:pPr>
            <a:r>
              <a:t>核心袖套（85%）：优化后行业权重 → 1B规则映射行业ETF（250日收益优选）。</a:t>
            </a:r>
          </a:p>
          <a:p>
            <a:pPr>
              <a:spcAft>
                <a:spcPts val="1200"/>
              </a:spcAft>
              <a:defRPr sz="1800">
                <a:solidFill>
                  <a:srgbClr val="1F4E79"/>
                </a:solidFill>
              </a:defRPr>
            </a:pPr>
            <a:r>
              <a:t>卫星袖套（10%）：TOP20穿透行业权重 → 同一套ETF映射规则。</a:t>
            </a:r>
          </a:p>
          <a:p>
            <a:pPr>
              <a:spcAft>
                <a:spcPts val="1200"/>
              </a:spcAft>
              <a:defRPr sz="1800">
                <a:solidFill>
                  <a:srgbClr val="1F4E79"/>
                </a:solidFill>
              </a:defRPr>
            </a:pPr>
            <a:r>
              <a:t>货币袖套（5%）：511990.SH，满足开放式基金现金约束。</a:t>
            </a:r>
          </a:p>
          <a:p>
            <a:pPr>
              <a:spcAft>
                <a:spcPts val="1200"/>
              </a:spcAft>
              <a:defRPr sz="1800">
                <a:solidFill>
                  <a:srgbClr val="1F4E79"/>
                </a:solidFill>
              </a:defRPr>
            </a:pPr>
            <a:r>
              <a:t>FOF合规：单只ETF持仓上限20%，超额权重溢向次优候选。</a:t>
            </a:r>
          </a:p>
          <a:p>
            <a:pPr>
              <a:spcAft>
                <a:spcPts val="1200"/>
              </a:spcAft>
              <a:defRPr sz="1800">
                <a:solidFill>
                  <a:srgbClr val="1F4E79"/>
                </a:solidFill>
              </a:defRPr>
            </a:pPr>
            <a:r>
              <a:t>调仓频率约30天；组合层仅行业ETF+货币ETF，不持有主动基金。</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策略产品化与实盘可行性</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p:cNvGrpSpPr/>
          <p:nvPr/>
        </p:nvGrpSpPr>
        <p:grpSpPr>
          <a:xfrm>
            <a:off x="1873176" y="1326395"/>
            <a:ext cx="8368111" cy="4747945"/>
            <a:chOff x="639763" y="1772816"/>
            <a:chExt cx="7864475" cy="4462189"/>
          </a:xfrm>
        </p:grpSpPr>
        <p:sp>
          <p:nvSpPr>
            <p:cNvPr id="15" name="矩形 9"/>
            <p:cNvSpPr>
              <a:spLocks noChangeArrowheads="1"/>
            </p:cNvSpPr>
            <p:nvPr/>
          </p:nvSpPr>
          <p:spPr bwMode="gray">
            <a:xfrm>
              <a:off x="639763" y="3500920"/>
              <a:ext cx="7864475" cy="953465"/>
            </a:xfrm>
            <a:prstGeom prst="rect">
              <a:avLst/>
            </a:prstGeom>
            <a:gradFill rotWithShape="1">
              <a:gsLst>
                <a:gs pos="0">
                  <a:srgbClr val="DDDDDD"/>
                </a:gs>
                <a:gs pos="50000">
                  <a:srgbClr val="F4F4F4"/>
                </a:gs>
                <a:gs pos="100000">
                  <a:srgbClr val="DDDDDD"/>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1915"/>
            </a:p>
          </p:txBody>
        </p:sp>
        <p:sp>
          <p:nvSpPr>
            <p:cNvPr id="16" name="Rectangle 9"/>
            <p:cNvSpPr>
              <a:spLocks noChangeArrowheads="1"/>
            </p:cNvSpPr>
            <p:nvPr/>
          </p:nvSpPr>
          <p:spPr bwMode="auto">
            <a:xfrm>
              <a:off x="2361325"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基本面因素</a:t>
              </a:r>
            </a:p>
          </p:txBody>
        </p:sp>
        <p:cxnSp>
          <p:nvCxnSpPr>
            <p:cNvPr id="17" name="AutoShape 14"/>
            <p:cNvCxnSpPr>
              <a:cxnSpLocks noChangeShapeType="1"/>
              <a:stCxn id="16" idx="0"/>
              <a:endCxn id="18" idx="2"/>
            </p:cNvCxnSpPr>
            <p:nvPr/>
          </p:nvCxnSpPr>
          <p:spPr bwMode="auto">
            <a:xfrm rot="5400000" flipH="1" flipV="1">
              <a:off x="3686392" y="1455749"/>
              <a:ext cx="272888" cy="1627022"/>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sp>
          <p:nvSpPr>
            <p:cNvPr id="18" name="Rectangle 8"/>
            <p:cNvSpPr>
              <a:spLocks noChangeArrowheads="1"/>
            </p:cNvSpPr>
            <p:nvPr/>
          </p:nvSpPr>
          <p:spPr bwMode="auto">
            <a:xfrm>
              <a:off x="3376347" y="1772816"/>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实体与虚拟基本面的相互印证</a:t>
              </a:r>
            </a:p>
          </p:txBody>
        </p:sp>
        <p:sp>
          <p:nvSpPr>
            <p:cNvPr id="19" name="Rectangle 15"/>
            <p:cNvSpPr>
              <a:spLocks noChangeArrowheads="1"/>
            </p:cNvSpPr>
            <p:nvPr/>
          </p:nvSpPr>
          <p:spPr bwMode="auto">
            <a:xfrm>
              <a:off x="1276737"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宏观周期</a:t>
              </a:r>
            </a:p>
          </p:txBody>
        </p:sp>
        <p:sp>
          <p:nvSpPr>
            <p:cNvPr id="20" name="Rectangle 15"/>
            <p:cNvSpPr>
              <a:spLocks noChangeArrowheads="1"/>
            </p:cNvSpPr>
            <p:nvPr/>
          </p:nvSpPr>
          <p:spPr bwMode="auto">
            <a:xfrm>
              <a:off x="2521282" y="3079566"/>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政策周期</a:t>
              </a:r>
            </a:p>
          </p:txBody>
        </p:sp>
        <p:sp>
          <p:nvSpPr>
            <p:cNvPr id="21" name="Rectangle 15"/>
            <p:cNvSpPr>
              <a:spLocks noChangeArrowheads="1"/>
            </p:cNvSpPr>
            <p:nvPr/>
          </p:nvSpPr>
          <p:spPr bwMode="auto">
            <a:xfrm>
              <a:off x="3736492"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产业周期</a:t>
              </a:r>
            </a:p>
          </p:txBody>
        </p:sp>
        <p:sp>
          <p:nvSpPr>
            <p:cNvPr id="22" name="Rectangle 15"/>
            <p:cNvSpPr>
              <a:spLocks noChangeArrowheads="1"/>
            </p:cNvSpPr>
            <p:nvPr/>
          </p:nvSpPr>
          <p:spPr bwMode="auto">
            <a:xfrm>
              <a:off x="492136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货币供应</a:t>
              </a:r>
            </a:p>
          </p:txBody>
        </p:sp>
        <p:sp>
          <p:nvSpPr>
            <p:cNvPr id="23" name="Rectangle 15"/>
            <p:cNvSpPr>
              <a:spLocks noChangeArrowheads="1"/>
            </p:cNvSpPr>
            <p:nvPr/>
          </p:nvSpPr>
          <p:spPr bwMode="auto">
            <a:xfrm>
              <a:off x="659609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资金分配</a:t>
              </a:r>
            </a:p>
          </p:txBody>
        </p:sp>
        <p:sp>
          <p:nvSpPr>
            <p:cNvPr id="24" name="Rectangle 8"/>
            <p:cNvSpPr>
              <a:spLocks noChangeArrowheads="1"/>
            </p:cNvSpPr>
            <p:nvPr/>
          </p:nvSpPr>
          <p:spPr bwMode="auto">
            <a:xfrm>
              <a:off x="3378004" y="5875005"/>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风险与收益的平衡</a:t>
              </a:r>
            </a:p>
          </p:txBody>
        </p:sp>
        <p:sp>
          <p:nvSpPr>
            <p:cNvPr id="25" name="Rectangle 9"/>
            <p:cNvSpPr>
              <a:spLocks noChangeArrowheads="1"/>
            </p:cNvSpPr>
            <p:nvPr/>
          </p:nvSpPr>
          <p:spPr bwMode="auto">
            <a:xfrm>
              <a:off x="2152075" y="5082917"/>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估值因素</a:t>
              </a:r>
            </a:p>
          </p:txBody>
        </p:sp>
        <p:sp>
          <p:nvSpPr>
            <p:cNvPr id="26" name="Rectangle 11"/>
            <p:cNvSpPr>
              <a:spLocks noChangeArrowheads="1"/>
            </p:cNvSpPr>
            <p:nvPr/>
          </p:nvSpPr>
          <p:spPr bwMode="auto">
            <a:xfrm>
              <a:off x="5680323" y="5082917"/>
              <a:ext cx="1296000" cy="504000"/>
            </a:xfrm>
            <a:prstGeom prst="rect">
              <a:avLst/>
            </a:prstGeom>
            <a:solidFill>
              <a:srgbClr val="C00000"/>
            </a:solidFill>
            <a:ln w="9525">
              <a:solidFill>
                <a:srgbClr val="C0C0C0"/>
              </a:solid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供求交易因素</a:t>
              </a:r>
            </a:p>
          </p:txBody>
        </p:sp>
        <p:sp>
          <p:nvSpPr>
            <p:cNvPr id="27" name="Rectangle 11"/>
            <p:cNvSpPr>
              <a:spLocks noChangeArrowheads="1"/>
            </p:cNvSpPr>
            <p:nvPr/>
          </p:nvSpPr>
          <p:spPr bwMode="auto">
            <a:xfrm>
              <a:off x="5650950"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流动性因素</a:t>
              </a:r>
            </a:p>
          </p:txBody>
        </p:sp>
        <p:sp>
          <p:nvSpPr>
            <p:cNvPr id="28" name="Rectangle 7"/>
            <p:cNvSpPr>
              <a:spLocks noChangeArrowheads="1"/>
            </p:cNvSpPr>
            <p:nvPr/>
          </p:nvSpPr>
          <p:spPr bwMode="auto">
            <a:xfrm>
              <a:off x="3990713" y="3895035"/>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股票、新三板</a:t>
              </a:r>
            </a:p>
          </p:txBody>
        </p:sp>
        <p:sp>
          <p:nvSpPr>
            <p:cNvPr id="29" name="Rectangle 8"/>
            <p:cNvSpPr>
              <a:spLocks noChangeArrowheads="1"/>
            </p:cNvSpPr>
            <p:nvPr/>
          </p:nvSpPr>
          <p:spPr bwMode="auto">
            <a:xfrm>
              <a:off x="3990713" y="3645487"/>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权益类资产</a:t>
              </a:r>
            </a:p>
          </p:txBody>
        </p:sp>
        <p:sp>
          <p:nvSpPr>
            <p:cNvPr id="30" name="Rectangle 7"/>
            <p:cNvSpPr>
              <a:spLocks noChangeArrowheads="1"/>
            </p:cNvSpPr>
            <p:nvPr/>
          </p:nvSpPr>
          <p:spPr bwMode="auto">
            <a:xfrm>
              <a:off x="2460932" y="3887519"/>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债券、非标</a:t>
              </a:r>
            </a:p>
          </p:txBody>
        </p:sp>
        <p:sp>
          <p:nvSpPr>
            <p:cNvPr id="31" name="Rectangle 8"/>
            <p:cNvSpPr>
              <a:spLocks noChangeArrowheads="1"/>
            </p:cNvSpPr>
            <p:nvPr/>
          </p:nvSpPr>
          <p:spPr bwMode="auto">
            <a:xfrm>
              <a:off x="2460932" y="363797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固收类资产</a:t>
              </a:r>
            </a:p>
          </p:txBody>
        </p:sp>
        <p:sp>
          <p:nvSpPr>
            <p:cNvPr id="32" name="Rectangle 7"/>
            <p:cNvSpPr>
              <a:spLocks noChangeArrowheads="1"/>
            </p:cNvSpPr>
            <p:nvPr/>
          </p:nvSpPr>
          <p:spPr bwMode="auto">
            <a:xfrm>
              <a:off x="5562122" y="3908565"/>
              <a:ext cx="1143247"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房地产、大宗</a:t>
              </a:r>
            </a:p>
          </p:txBody>
        </p:sp>
        <p:sp>
          <p:nvSpPr>
            <p:cNvPr id="33" name="Rectangle 8"/>
            <p:cNvSpPr>
              <a:spLocks noChangeArrowheads="1"/>
            </p:cNvSpPr>
            <p:nvPr/>
          </p:nvSpPr>
          <p:spPr bwMode="auto">
            <a:xfrm>
              <a:off x="5565095" y="3651500"/>
              <a:ext cx="1143247"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商品类资产</a:t>
              </a:r>
            </a:p>
          </p:txBody>
        </p:sp>
        <p:sp>
          <p:nvSpPr>
            <p:cNvPr id="34" name="Rectangle 7"/>
            <p:cNvSpPr>
              <a:spLocks noChangeArrowheads="1"/>
            </p:cNvSpPr>
            <p:nvPr/>
          </p:nvSpPr>
          <p:spPr bwMode="auto">
            <a:xfrm>
              <a:off x="931150" y="3883008"/>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回购、票据</a:t>
              </a:r>
            </a:p>
          </p:txBody>
        </p:sp>
        <p:sp>
          <p:nvSpPr>
            <p:cNvPr id="35" name="Rectangle 8"/>
            <p:cNvSpPr>
              <a:spLocks noChangeArrowheads="1"/>
            </p:cNvSpPr>
            <p:nvPr/>
          </p:nvSpPr>
          <p:spPr bwMode="auto">
            <a:xfrm>
              <a:off x="931150" y="363346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货币类资产</a:t>
              </a:r>
            </a:p>
          </p:txBody>
        </p:sp>
        <p:sp>
          <p:nvSpPr>
            <p:cNvPr id="36" name="Rectangle 7"/>
            <p:cNvSpPr>
              <a:spLocks noChangeArrowheads="1"/>
            </p:cNvSpPr>
            <p:nvPr/>
          </p:nvSpPr>
          <p:spPr bwMode="auto">
            <a:xfrm>
              <a:off x="7094876" y="3884512"/>
              <a:ext cx="1143248"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美股、美债</a:t>
              </a:r>
            </a:p>
          </p:txBody>
        </p:sp>
        <p:sp>
          <p:nvSpPr>
            <p:cNvPr id="37" name="Rectangle 8"/>
            <p:cNvSpPr>
              <a:spLocks noChangeArrowheads="1"/>
            </p:cNvSpPr>
            <p:nvPr/>
          </p:nvSpPr>
          <p:spPr bwMode="auto">
            <a:xfrm>
              <a:off x="7094876" y="3634964"/>
              <a:ext cx="1143248"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en-US" altLang="zh-CN" sz="1490" b="1" kern="0" dirty="0">
                  <a:solidFill>
                    <a:srgbClr val="FFFFFF"/>
                  </a:solidFill>
                  <a:latin typeface="微软雅黑" panose="020B0503020204020204" pitchFamily="34" charset="-122"/>
                  <a:ea typeface="微软雅黑" panose="020B0503020204020204" pitchFamily="34" charset="-122"/>
                </a:rPr>
                <a:t>QDII</a:t>
              </a:r>
              <a:endParaRPr lang="zh-CN" altLang="en-US" sz="1490" b="1" kern="0" dirty="0">
                <a:solidFill>
                  <a:srgbClr val="FFFFFF"/>
                </a:solidFill>
                <a:latin typeface="微软雅黑" panose="020B0503020204020204" pitchFamily="34" charset="-122"/>
                <a:ea typeface="微软雅黑" panose="020B0503020204020204" pitchFamily="34" charset="-122"/>
              </a:endParaRPr>
            </a:p>
          </p:txBody>
        </p:sp>
        <p:cxnSp>
          <p:nvCxnSpPr>
            <p:cNvPr id="38" name="连接符: 肘形 42"/>
            <p:cNvCxnSpPr>
              <a:stCxn id="16" idx="3"/>
              <a:endCxn id="21" idx="0"/>
            </p:cNvCxnSpPr>
            <p:nvPr/>
          </p:nvCxnSpPr>
          <p:spPr>
            <a:xfrm>
              <a:off x="3657325" y="2657704"/>
              <a:ext cx="565167"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9" name="AutoShape 14"/>
            <p:cNvCxnSpPr>
              <a:cxnSpLocks noChangeShapeType="1"/>
              <a:stCxn id="27" idx="0"/>
              <a:endCxn id="18" idx="2"/>
            </p:cNvCxnSpPr>
            <p:nvPr/>
          </p:nvCxnSpPr>
          <p:spPr bwMode="auto">
            <a:xfrm rot="16200000" flipV="1">
              <a:off x="5331205" y="1437958"/>
              <a:ext cx="272888" cy="1662603"/>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40" name="连接符: 肘形 44"/>
            <p:cNvCxnSpPr>
              <a:stCxn id="16" idx="1"/>
              <a:endCxn id="19" idx="0"/>
            </p:cNvCxnSpPr>
            <p:nvPr/>
          </p:nvCxnSpPr>
          <p:spPr>
            <a:xfrm rot="10800000" flipV="1">
              <a:off x="1762737" y="2657703"/>
              <a:ext cx="598588"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7" name="连接符: 肘形 45"/>
            <p:cNvCxnSpPr>
              <a:stCxn id="27" idx="1"/>
              <a:endCxn id="22" idx="0"/>
            </p:cNvCxnSpPr>
            <p:nvPr/>
          </p:nvCxnSpPr>
          <p:spPr>
            <a:xfrm rot="10800000" flipV="1">
              <a:off x="5407368" y="2657704"/>
              <a:ext cx="243582"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9" name="连接符: 肘形 46"/>
            <p:cNvCxnSpPr>
              <a:stCxn id="27" idx="3"/>
              <a:endCxn id="23" idx="0"/>
            </p:cNvCxnSpPr>
            <p:nvPr/>
          </p:nvCxnSpPr>
          <p:spPr>
            <a:xfrm>
              <a:off x="6946950" y="2657704"/>
              <a:ext cx="135148"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sp>
          <p:nvSpPr>
            <p:cNvPr id="50" name="Rectangle 15"/>
            <p:cNvSpPr>
              <a:spLocks noChangeArrowheads="1"/>
            </p:cNvSpPr>
            <p:nvPr/>
          </p:nvSpPr>
          <p:spPr bwMode="auto">
            <a:xfrm>
              <a:off x="1185901"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绝对估值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5" name="Rectangle 15"/>
            <p:cNvSpPr>
              <a:spLocks noChangeArrowheads="1"/>
            </p:cNvSpPr>
            <p:nvPr/>
          </p:nvSpPr>
          <p:spPr bwMode="auto">
            <a:xfrm>
              <a:off x="2257635"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相对估值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7" name="Rectangle 15"/>
            <p:cNvSpPr>
              <a:spLocks noChangeArrowheads="1"/>
            </p:cNvSpPr>
            <p:nvPr/>
          </p:nvSpPr>
          <p:spPr bwMode="auto">
            <a:xfrm>
              <a:off x="3329369" y="4581129"/>
              <a:ext cx="1296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风险估值调整</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8" name="Rectangle 15"/>
            <p:cNvSpPr>
              <a:spLocks noChangeArrowheads="1"/>
            </p:cNvSpPr>
            <p:nvPr/>
          </p:nvSpPr>
          <p:spPr bwMode="auto">
            <a:xfrm>
              <a:off x="4797103"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资产结构</a:t>
              </a:r>
            </a:p>
          </p:txBody>
        </p:sp>
        <p:sp>
          <p:nvSpPr>
            <p:cNvPr id="59" name="Rectangle 15"/>
            <p:cNvSpPr>
              <a:spLocks noChangeArrowheads="1"/>
            </p:cNvSpPr>
            <p:nvPr/>
          </p:nvSpPr>
          <p:spPr bwMode="auto">
            <a:xfrm>
              <a:off x="5868837" y="4581129"/>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投资者结构</a:t>
              </a:r>
            </a:p>
          </p:txBody>
        </p:sp>
        <p:sp>
          <p:nvSpPr>
            <p:cNvPr id="60" name="Rectangle 15"/>
            <p:cNvSpPr>
              <a:spLocks noChangeArrowheads="1"/>
            </p:cNvSpPr>
            <p:nvPr/>
          </p:nvSpPr>
          <p:spPr bwMode="auto">
            <a:xfrm>
              <a:off x="7012571" y="4581129"/>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市场情绪</a:t>
              </a:r>
            </a:p>
          </p:txBody>
        </p:sp>
        <p:cxnSp>
          <p:nvCxnSpPr>
            <p:cNvPr id="61" name="AutoShape 14"/>
            <p:cNvCxnSpPr>
              <a:cxnSpLocks noChangeShapeType="1"/>
              <a:stCxn id="26" idx="2"/>
              <a:endCxn id="24" idx="0"/>
            </p:cNvCxnSpPr>
            <p:nvPr/>
          </p:nvCxnSpPr>
          <p:spPr bwMode="auto">
            <a:xfrm rot="5400000">
              <a:off x="5339120" y="4885802"/>
              <a:ext cx="288088" cy="169031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2" name="AutoShape 14"/>
            <p:cNvCxnSpPr>
              <a:cxnSpLocks noChangeShapeType="1"/>
              <a:stCxn id="25" idx="2"/>
              <a:endCxn id="24" idx="0"/>
            </p:cNvCxnSpPr>
            <p:nvPr/>
          </p:nvCxnSpPr>
          <p:spPr bwMode="auto">
            <a:xfrm rot="16200000" flipH="1">
              <a:off x="3574995" y="4811996"/>
              <a:ext cx="288088" cy="183792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3" name="AutoShape 14"/>
            <p:cNvCxnSpPr>
              <a:cxnSpLocks noChangeShapeType="1"/>
              <a:stCxn id="50" idx="2"/>
              <a:endCxn id="25" idx="1"/>
            </p:cNvCxnSpPr>
            <p:nvPr/>
          </p:nvCxnSpPr>
          <p:spPr bwMode="auto">
            <a:xfrm rot="16200000" flipH="1">
              <a:off x="1661094" y="4843935"/>
              <a:ext cx="465789" cy="51617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4" name="AutoShape 14"/>
            <p:cNvCxnSpPr>
              <a:cxnSpLocks noChangeShapeType="1"/>
              <a:stCxn id="57" idx="2"/>
              <a:endCxn id="25" idx="3"/>
            </p:cNvCxnSpPr>
            <p:nvPr/>
          </p:nvCxnSpPr>
          <p:spPr bwMode="auto">
            <a:xfrm rot="5400000">
              <a:off x="3479828" y="4837376"/>
              <a:ext cx="465788" cy="52929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5" name="AutoShape 14"/>
            <p:cNvCxnSpPr>
              <a:cxnSpLocks noChangeShapeType="1"/>
              <a:stCxn id="58" idx="2"/>
              <a:endCxn id="26" idx="1"/>
            </p:cNvCxnSpPr>
            <p:nvPr/>
          </p:nvCxnSpPr>
          <p:spPr bwMode="auto">
            <a:xfrm rot="16200000" flipH="1">
              <a:off x="5230819" y="4885412"/>
              <a:ext cx="465789" cy="433220"/>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6" name="AutoShape 14"/>
            <p:cNvCxnSpPr>
              <a:cxnSpLocks noChangeShapeType="1"/>
              <a:stCxn id="60" idx="2"/>
              <a:endCxn id="26" idx="3"/>
            </p:cNvCxnSpPr>
            <p:nvPr/>
          </p:nvCxnSpPr>
          <p:spPr bwMode="auto">
            <a:xfrm rot="5400000">
              <a:off x="6986553" y="4858899"/>
              <a:ext cx="465788" cy="486248"/>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gr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67" name="TextBox 66"/>
          <p:cNvSpPr txBox="1"/>
          <p:nvPr/>
        </p:nvSpPr>
        <p:spPr>
          <a:xfrm>
            <a:off x="548640" y="1463040"/>
            <a:ext cx="10972800" cy="4846320"/>
          </a:xfrm>
          <a:prstGeom prst="rect">
            <a:avLst/>
          </a:prstGeom>
          <a:noFill/>
        </p:spPr>
        <p:txBody>
          <a:bodyPr wrap="square">
            <a:spAutoFit/>
          </a:bodyPr>
          <a:lstStyle/>
          <a:p>
            <a:pPr>
              <a:spcAft>
                <a:spcPts val="1200"/>
              </a:spcAft>
              <a:defRPr sz="1800">
                <a:solidFill>
                  <a:srgbClr val="1F4E79"/>
                </a:solidFill>
              </a:defRPr>
            </a:pPr>
            <a:r>
              <a:t>选基模型：已实盘检验，相对930950年化超额约10%，超额回撤修复能力强。</a:t>
            </a:r>
          </a:p>
          <a:p>
            <a:pPr>
              <a:spcAft>
                <a:spcPts val="1200"/>
              </a:spcAft>
              <a:defRPr sz="1800">
                <a:solidFill>
                  <a:srgbClr val="1F4E79"/>
                </a:solidFill>
              </a:defRPr>
            </a:pPr>
            <a:r>
              <a:t>ETF替代组合：回测CAGR超额+2.07%（全样本），2021起超额+4.92%。</a:t>
            </a:r>
          </a:p>
          <a:p>
            <a:pPr>
              <a:spcAft>
                <a:spcPts val="1200"/>
              </a:spcAft>
              <a:defRPr sz="1800">
                <a:solidFill>
                  <a:srgbClr val="1F4E79"/>
                </a:solidFill>
              </a:defRPr>
            </a:pPr>
            <a:r>
              <a:t>持仓透明：全部为ETF，便于券商FOF产品发行与日常运作。</a:t>
            </a:r>
          </a:p>
          <a:p>
            <a:pPr>
              <a:spcAft>
                <a:spcPts val="1200"/>
              </a:spcAft>
              <a:defRPr sz="1800">
                <a:solidFill>
                  <a:srgbClr val="1F4E79"/>
                </a:solidFill>
              </a:defRPr>
            </a:pPr>
            <a:r>
              <a:t>规则清晰：调仓日、行业权重、ETF映射均有完整数据链路，可系统化执行。</a:t>
            </a:r>
          </a:p>
          <a:p>
            <a:pPr>
              <a:spcAft>
                <a:spcPts val="1200"/>
              </a:spcAft>
              <a:defRPr sz="1800">
                <a:solidFill>
                  <a:srgbClr val="1F4E79"/>
                </a:solidFill>
              </a:defRPr>
            </a:pPr>
            <a:r>
              <a:t>风控完备：行业上限35%、单券上限20%、现金比例5%，符合FOF合规要求。</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r>
              <a:t>ETF收益增强</a:t>
            </a:r>
          </a:p>
        </p:txBody>
      </p:sp>
      <p:sp>
        <p:nvSpPr>
          <p:cNvPr id="8" name="文本框 7"/>
          <p:cNvSpPr txBox="1"/>
          <p:nvPr/>
        </p:nvSpPr>
        <p:spPr>
          <a:xfrm>
            <a:off x="231775" y="2459990"/>
            <a:ext cx="2075180" cy="1938020"/>
          </a:xfrm>
          <a:prstGeom prst="rect">
            <a:avLst/>
          </a:prstGeom>
          <a:noFill/>
        </p:spPr>
        <p:txBody>
          <a:bodyPr wrap="square" rtlCol="0">
            <a:spAutoFit/>
          </a:bodyPr>
          <a:lstStyle/>
          <a:p>
            <a:r>
              <a:t>04</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7762</Words>
  <Application>Microsoft Office PowerPoint</Application>
  <PresentationFormat>宽屏</PresentationFormat>
  <Paragraphs>441</Paragraphs>
  <Slides>22</Slides>
  <Notes>16</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22</vt:i4>
      </vt:variant>
    </vt:vector>
  </HeadingPairs>
  <TitlesOfParts>
    <vt:vector size="40" baseType="lpstr">
      <vt:lpstr>Arial Unicode MS</vt:lpstr>
      <vt:lpstr>Inter</vt:lpstr>
      <vt:lpstr>Microsoft JhengHei</vt:lpstr>
      <vt:lpstr>OPPOSans R</vt:lpstr>
      <vt:lpstr>等线</vt:lpstr>
      <vt:lpstr>等线 Light</vt:lpstr>
      <vt:lpstr>方正清刻本悦宋简体</vt:lpstr>
      <vt:lpstr>黑体</vt:lpstr>
      <vt:lpstr>宋体</vt:lpstr>
      <vt:lpstr>微软雅黑</vt:lpstr>
      <vt:lpstr>新宋体</vt:lpstr>
      <vt:lpstr>Arial</vt:lpstr>
      <vt:lpstr>Arial Black</vt:lpstr>
      <vt:lpstr>Century Gothic</vt:lpstr>
      <vt:lpstr>Times New Roman</vt:lpstr>
      <vt:lpstr>Wingdings</vt:lpstr>
      <vt:lpstr>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声明页</vt:lpstr>
      <vt:lpstr>风险提示</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cp:lastModifiedBy>
  <cp:revision>382</cp:revision>
  <cp:lastPrinted>2018-05-30T02:01:00Z</cp:lastPrinted>
  <dcterms:created xsi:type="dcterms:W3CDTF">2018-01-28T11:43:00Z</dcterms:created>
  <dcterms:modified xsi:type="dcterms:W3CDTF">2026-08-28T05:54:17Z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178F23C9F60749DABAF49D7F5025EF9D_12</vt:lpwstr>
  </property>
</Properties>
</file>