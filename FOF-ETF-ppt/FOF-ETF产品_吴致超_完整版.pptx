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drawings/drawing1.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5"/>
  </p:notesMasterIdLst>
  <p:sldIdLst>
    <p:sldId id="515" r:id="rId3"/>
    <p:sldId id="516" r:id="rId4"/>
    <p:sldId id="517" r:id="rId5"/>
    <p:sldId id="557" r:id="rId6"/>
    <p:sldId id="549" r:id="rId7"/>
    <p:sldId id="552" r:id="rId8"/>
    <p:sldId id="548" r:id="rId9"/>
    <p:sldId id="538" r:id="rId10"/>
    <p:sldId id="573" r:id="rId31"/>
    <p:sldId id="553" r:id="rId11"/>
    <p:sldId id="568" r:id="rId12"/>
    <p:sldId id="567" r:id="rId13"/>
    <p:sldId id="574" r:id="rId32"/>
    <p:sldId id="575" r:id="rId33"/>
    <p:sldId id="558" r:id="rId14"/>
    <p:sldId id="559" r:id="rId17"/>
    <p:sldId id="576" r:id="rId34"/>
    <p:sldId id="577" r:id="rId35"/>
    <p:sldId id="560" r:id="rId18"/>
    <p:sldId id="572" r:id="rId16"/>
    <p:sldId id="571" r:id="rId15"/>
    <p:sldId id="578" r:id="rId36"/>
    <p:sldId id="579" r:id="rId37"/>
    <p:sldId id="580" r:id="rId38"/>
    <p:sldId id="581" r:id="rId39"/>
    <p:sldId id="582" r:id="rId40"/>
    <p:sldId id="583" r:id="rId41"/>
    <p:sldId id="566" r:id="rId19"/>
    <p:sldId id="584" r:id="rId42"/>
    <p:sldId id="556" r:id="rId20"/>
    <p:sldId id="561" r:id="rId21"/>
    <p:sldId id="569" r:id="rId22"/>
    <p:sldId id="570" r:id="rId23"/>
    <p:sldId id="530" r:id="rId2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3841602-D983-41EB-B9B4-BC5F99B58A65}">
          <p14:sldIdLst>
            <p14:sldId id="515"/>
            <p14:sldId id="516"/>
            <p14:sldId id="517"/>
            <p14:sldId id="557"/>
            <p14:sldId id="549"/>
            <p14:sldId id="552"/>
            <p14:sldId id="548"/>
            <p14:sldId id="538"/>
            <p14:sldId id="553"/>
            <p14:sldId id="568"/>
            <p14:sldId id="567"/>
            <p14:sldId id="558"/>
            <p14:sldId id="571"/>
            <p14:sldId id="572"/>
            <p14:sldId id="559"/>
            <p14:sldId id="560"/>
            <p14:sldId id="566"/>
            <p14:sldId id="556"/>
            <p14:sldId id="561"/>
            <p14:sldId id="569"/>
            <p14:sldId id="570"/>
          </p14:sldIdLst>
        </p14:section>
        <p14:section name="无标题节" id="{F5CCCAB9-007F-40C4-B68E-39603950C953}">
          <p14:sldIdLst>
            <p14:sldId id="53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0" clrIdx="0"/>
  <p:cmAuthor id="2" name="刘思蜀" initials="刘思蜀" lastIdx="0" clrIdx="1"/>
  <p:cmAuthor id="3" name="作者" initials="A" lastIdx="0" clrIdx="2"/>
  <p:cmAuthor id="4" name="reny" initials="r" lastIdx="0" clrIdx="3"/>
  <p:cmAuthor id="5" name="Evelyn Sun" initials="ES" lastIdx="0" clrIdx="4"/>
  <p:cmAuthor id="6" name="王 超特" initials="王" lastIdx="0" clrIdx="5"/>
  <p:cmAuthor id="7" name="DELL" initials="D" lastIdx="0" clrIdx="6"/>
  <p:cmAuthor id="8" name="未知" initials="未" lastIdx="0" clrIdx="7"/>
  <p:cmAuthor id="9" name="Sysceo.com" initials="S" lastIdx="0" clrIdx="8"/>
  <p:cmAuthor id="10" name="何文" initials="何文" lastIdx="0" clrIdx="9"/>
  <p:cmAuthor id="11" name="peng Jingtao" initials="pJ" lastIdx="0" clrIdx="10"/>
  <p:cmAuthor id="12" name="123" initials="p" lastIdx="0" clrIdx="11"/>
  <p:cmAuthor id="13" name="程 诗寒" initials="诗程" lastIdx="0" clrIdx="12"/>
  <p:cmAuthor id="14" name="Houru LI" initials="H" lastIdx="0" clrIdx="13"/>
  <p:cmAuthor id="15" name="gaoyu" initials="g" lastIdx="0" clrIdx="1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3835"/>
    <a:srgbClr val="F0F0F0"/>
    <a:srgbClr val="6E6E6E"/>
    <a:srgbClr val="F2F2F2"/>
    <a:srgbClr val="D8D5DA"/>
    <a:srgbClr val="F4F4F4"/>
    <a:srgbClr val="C337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96" autoAdjust="0"/>
    <p:restoredTop sz="68102" autoAdjust="0"/>
  </p:normalViewPr>
  <p:slideViewPr>
    <p:cSldViewPr snapToGrid="0" showGuides="1">
      <p:cViewPr varScale="1">
        <p:scale>
          <a:sx n="57" d="100"/>
          <a:sy n="57" d="100"/>
        </p:scale>
        <p:origin x="1230" y="4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3984" y="11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notesMaster" Target="notesMasters/notesMaster1.xml"/><Relationship Id="rId26" Type="http://schemas.openxmlformats.org/officeDocument/2006/relationships/commentAuthors" Target="commentAuthor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1.xlsx"/><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rgbClr val="C00000"/>
                </a:solidFill>
                <a:latin typeface="+mn-lt"/>
                <a:ea typeface="+mn-ea"/>
                <a:cs typeface="+mn-cs"/>
              </a:defRPr>
            </a:pPr>
            <a:r>
              <a:rPr lang="zh-CN" altLang="en-US" dirty="0">
                <a:solidFill>
                  <a:srgbClr val="C00000"/>
                </a:solidFill>
              </a:rPr>
              <a:t>多维度基金评价</a:t>
            </a:r>
          </a:p>
        </c:rich>
      </c:tx>
      <c:layout/>
      <c:overlay val="0"/>
      <c:spPr>
        <a:noFill/>
        <a:ln>
          <a:noFill/>
        </a:ln>
        <a:effectLst/>
      </c:spPr>
      <c:txPr>
        <a:bodyPr rot="0" spcFirstLastPara="1" vertOverflow="ellipsis" vert="horz" wrap="square" anchor="ctr" anchorCtr="1"/>
        <a:lstStyle/>
        <a:p>
          <a:pPr>
            <a:defRPr lang="zh-CN" sz="1860" b="0" i="0" u="none" strike="noStrike" kern="1200" spc="0" baseline="0">
              <a:solidFill>
                <a:srgbClr val="C00000"/>
              </a:solidFill>
              <a:latin typeface="+mn-lt"/>
              <a:ea typeface="+mn-ea"/>
              <a:cs typeface="+mn-cs"/>
            </a:defRPr>
          </a:pPr>
          <a:endParaRPr lang="zh-CN"/>
        </a:p>
      </c:txPr>
    </c:title>
    <c:autoTitleDeleted val="0"/>
    <c:plotArea>
      <c:layout/>
      <c:doughnutChart>
        <c:varyColors val="1"/>
        <c:ser>
          <c:idx val="0"/>
          <c:order val="0"/>
          <c:tx>
            <c:strRef>
              <c:f>Sheet1!$B$1</c:f>
              <c:strCache>
                <c:ptCount val="1"/>
                <c:pt idx="0">
                  <c:v>多维度评价</c:v>
                </c:pt>
              </c:strCache>
            </c:strRef>
          </c:tx>
          <c:dPt>
            <c:idx val="0"/>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1-929C-4B25-9313-A006AC553E64}"/>
              </c:ext>
            </c:extLst>
          </c:dPt>
          <c:dPt>
            <c:idx val="1"/>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3-929C-4B25-9313-A006AC553E64}"/>
              </c:ext>
            </c:extLst>
          </c:dPt>
          <c:dPt>
            <c:idx val="2"/>
            <c:bubble3D val="0"/>
            <c:spPr>
              <a:solidFill>
                <a:schemeClr val="accent6"/>
              </a:solidFill>
              <a:ln w="19050">
                <a:solidFill>
                  <a:schemeClr val="lt1"/>
                </a:solidFill>
              </a:ln>
              <a:effectLst/>
            </c:spPr>
            <c:extLst xmlns:c16r2="http://schemas.microsoft.com/office/drawing/2015/06/chart">
              <c:ext xmlns:c16="http://schemas.microsoft.com/office/drawing/2014/chart" uri="{C3380CC4-5D6E-409C-BE32-E72D297353CC}">
                <c16:uniqueId val="{00000005-929C-4B25-9313-A006AC553E64}"/>
              </c:ext>
            </c:extLst>
          </c:dPt>
          <c:dPt>
            <c:idx val="3"/>
            <c:bubble3D val="0"/>
            <c:spPr>
              <a:solidFill>
                <a:schemeClr val="accent2">
                  <a:lumMod val="6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7-929C-4B25-9313-A006AC553E64}"/>
              </c:ext>
            </c:extLst>
          </c:dPt>
          <c:dPt>
            <c:idx val="4"/>
            <c:bubble3D val="0"/>
            <c:spPr>
              <a:solidFill>
                <a:schemeClr val="accent4">
                  <a:lumMod val="6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9-929C-4B25-9313-A006AC553E64}"/>
              </c:ext>
            </c:extLst>
          </c:dPt>
          <c:dPt>
            <c:idx val="5"/>
            <c:bubble3D val="0"/>
            <c:spPr>
              <a:solidFill>
                <a:schemeClr val="accent6">
                  <a:lumMod val="6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B-929C-4B25-9313-A006AC553E64}"/>
              </c:ext>
            </c:extLst>
          </c:dPt>
          <c:cat>
            <c:numRef>
              <c:f>Sheet1!$A$2:$A$7</c:f>
              <c:numCache>
                <c:formatCode>General</c:formatCode>
                <c:ptCount val="6"/>
              </c:numCache>
            </c:numRef>
          </c:cat>
          <c:val>
            <c:numRef>
              <c:f>Sheet1!$B$2:$B$7</c:f>
              <c:numCache>
                <c:formatCode>General</c:formatCode>
                <c:ptCount val="6"/>
                <c:pt idx="0">
                  <c:v>1</c:v>
                </c:pt>
                <c:pt idx="1">
                  <c:v>1</c:v>
                </c:pt>
                <c:pt idx="2">
                  <c:v>1</c:v>
                </c:pt>
                <c:pt idx="3">
                  <c:v>1</c:v>
                </c:pt>
                <c:pt idx="4">
                  <c:v>1</c:v>
                </c:pt>
                <c:pt idx="5">
                  <c:v>1</c:v>
                </c:pt>
              </c:numCache>
            </c:numRef>
          </c:val>
          <c:extLst xmlns:c16r2="http://schemas.microsoft.com/office/drawing/2015/06/chart">
            <c:ext xmlns:c16="http://schemas.microsoft.com/office/drawing/2014/chart" uri="{C3380CC4-5D6E-409C-BE32-E72D297353CC}">
              <c16:uniqueId val="{0000000C-929C-4B25-9313-A006AC553E64}"/>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uri="{0b15fc19-7d7d-44ad-8c2d-2c3a37ce22c3}">
        <chartProps xmlns="https://web.wps.cn/et/2018/main" chartId="{67853014-01b7-475b-b777-42240debb762}"/>
      </c:ext>
    </c:extLst>
  </c:chart>
  <c:spPr>
    <a:noFill/>
    <a:ln>
      <a:noFill/>
    </a:ln>
    <a:effectLst/>
  </c:spPr>
  <c:txPr>
    <a:bodyPr/>
    <a:lstStyle/>
    <a:p>
      <a:pPr>
        <a:defRPr lang="zh-CN"/>
      </a:pPr>
      <a:endParaRPr lang="zh-CN"/>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0.09802</cdr:x>
      <cdr:y>0.13933</cdr:y>
    </cdr:from>
    <cdr:to>
      <cdr:x>0.22941</cdr:x>
      <cdr:y>0.21476</cdr:y>
    </cdr:to>
    <cdr:sp macro="" textlink="">
      <cdr:nvSpPr>
        <cdr:cNvPr id="2" name="矩形 1"/>
        <cdr:cNvSpPr/>
      </cdr:nvSpPr>
      <cdr:spPr>
        <a:xfrm xmlns:a="http://schemas.openxmlformats.org/drawingml/2006/main">
          <a:off x="707491" y="695777"/>
          <a:ext cx="948266" cy="37666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933D2C8-0E77-49EC-A2A5-C19CFBCCE493}" type="datetimeFigureOut">
              <a:rPr lang="zh-CN" altLang="en-US" smtClean="0"/>
              <a:t>2026/8/28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50D21365-F1D8-47CC-8906-823C7233621A}" type="slidenum">
              <a:rPr lang="zh-CN" altLang="en-US" smtClean="0"/>
              <a:t>‹#›</a:t>
            </a:fld>
            <a:endParaRPr lang="zh-CN" altLang="en-US"/>
          </a:p>
        </p:txBody>
      </p:sp>
    </p:spTree>
    <p:extLst>
      <p:ext uri="{BB962C8B-B14F-4D97-AF65-F5344CB8AC3E}">
        <p14:creationId xmlns:p14="http://schemas.microsoft.com/office/powerpoint/2010/main" val="558303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再上升到公司层面简单介绍一下银华基金，今年刚好是银华基金成立</a:t>
            </a:r>
            <a:r>
              <a:rPr lang="en-US" altLang="zh-CN" dirty="0" smtClean="0"/>
              <a:t>25</a:t>
            </a:r>
            <a:r>
              <a:rPr lang="zh-CN" altLang="en-US" dirty="0" smtClean="0"/>
              <a:t>周年。</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作为同时具备全国社保基金、基本养老基金、企业年金和职业年金基金管理资格的老牌基金公司，</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sym typeface="+mn-ea"/>
              </a:rPr>
              <a:t>银华基金在业内树立了良好的品牌形象，为持有人提供了持续稳健的投资回报，赢得了投资者和业界的广泛认可，十次获得“金牛基金管理公司”奖。</a:t>
            </a:r>
            <a:endParaRPr lang="zh-CN" alt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j-ea"/>
                <a:ea typeface="+mn-ea"/>
                <a:cs typeface="+mn-cs"/>
              </a:rPr>
              <a:t>银华基金（含子公司）资产管理总规模超过</a:t>
            </a:r>
            <a:r>
              <a:rPr lang="en-US" altLang="zh-CN" sz="1200" kern="1200" dirty="0" smtClean="0">
                <a:solidFill>
                  <a:schemeClr val="tx1"/>
                </a:solidFill>
                <a:latin typeface="+mj-ea"/>
                <a:ea typeface="+mn-ea"/>
                <a:cs typeface="+mn-cs"/>
              </a:rPr>
              <a:t>1.1</a:t>
            </a:r>
            <a:r>
              <a:rPr lang="zh-CN" altLang="en-US" sz="1200" kern="1200" dirty="0" smtClean="0">
                <a:solidFill>
                  <a:schemeClr val="tx1"/>
                </a:solidFill>
                <a:latin typeface="+mj-ea"/>
                <a:ea typeface="+mn-ea"/>
                <a:cs typeface="+mn-cs"/>
              </a:rPr>
              <a:t>万亿元。</a:t>
            </a:r>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4</a:t>
            </a:fld>
            <a:endParaRPr lang="zh-CN" altLang="en-US"/>
          </a:p>
        </p:txBody>
      </p:sp>
    </p:spTree>
    <p:extLst>
      <p:ext uri="{BB962C8B-B14F-4D97-AF65-F5344CB8AC3E}">
        <p14:creationId xmlns:p14="http://schemas.microsoft.com/office/powerpoint/2010/main" val="3719373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sym typeface="+mn-ea"/>
              </a:rPr>
              <a:t>我本科是毕业于武汉大学软件工程专业，有计算机和金融两个硕士学位，</a:t>
            </a:r>
            <a:r>
              <a:rPr lang="en-US" altLang="zh-CN" dirty="0" smtClean="0">
                <a:latin typeface="微软雅黑" panose="020B0503020204020204" pitchFamily="34" charset="-122"/>
                <a:ea typeface="微软雅黑" panose="020B0503020204020204" pitchFamily="34" charset="-122"/>
                <a:sym typeface="+mn-ea"/>
              </a:rPr>
              <a:t>CFA</a:t>
            </a:r>
            <a:r>
              <a:rPr lang="zh-CN" altLang="en-US" dirty="0" smtClean="0">
                <a:latin typeface="微软雅黑" panose="020B0503020204020204" pitchFamily="34" charset="-122"/>
                <a:ea typeface="微软雅黑" panose="020B0503020204020204" pitchFamily="34" charset="-122"/>
                <a:sym typeface="+mn-ea"/>
              </a:rPr>
              <a:t>，目前是有</a:t>
            </a:r>
            <a:r>
              <a:rPr lang="en-US" altLang="zh-CN" dirty="0" smtClean="0">
                <a:latin typeface="微软雅黑" panose="020B0503020204020204" pitchFamily="34" charset="-122"/>
                <a:ea typeface="微软雅黑" panose="020B0503020204020204" pitchFamily="34" charset="-122"/>
                <a:sym typeface="+mn-ea"/>
              </a:rPr>
              <a:t>7</a:t>
            </a:r>
            <a:r>
              <a:rPr lang="zh-CN" altLang="en-US" dirty="0" smtClean="0">
                <a:latin typeface="微软雅黑" panose="020B0503020204020204" pitchFamily="34" charset="-122"/>
                <a:ea typeface="微软雅黑" panose="020B0503020204020204" pitchFamily="34" charset="-122"/>
                <a:sym typeface="+mn-ea"/>
              </a:rPr>
              <a:t>年的证券从业经验。</a:t>
            </a:r>
            <a:endParaRPr lang="en-US" altLang="zh-CN" dirty="0" smtClean="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sym typeface="+mn-ea"/>
              </a:rPr>
              <a:t>曾经在伦敦花旗银行、瑞士银行、法国农业信贷银行就职、有丰富的海外工作经验</a:t>
            </a:r>
            <a:endParaRPr lang="en-US" altLang="zh-CN" dirty="0" smtClean="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sym typeface="+mn-ea"/>
              </a:rPr>
              <a:t>我是</a:t>
            </a:r>
            <a:r>
              <a:rPr lang="en-US" altLang="zh-CN" dirty="0" smtClean="0">
                <a:latin typeface="微软雅黑" panose="020B0503020204020204" pitchFamily="34" charset="-122"/>
                <a:ea typeface="微软雅黑" panose="020B0503020204020204" pitchFamily="34" charset="-122"/>
                <a:sym typeface="+mn-ea"/>
              </a:rPr>
              <a:t>2019</a:t>
            </a:r>
            <a:r>
              <a:rPr lang="zh-CN" altLang="en-US" dirty="0" smtClean="0">
                <a:latin typeface="微软雅黑" panose="020B0503020204020204" pitchFamily="34" charset="-122"/>
                <a:ea typeface="微软雅黑" panose="020B0503020204020204" pitchFamily="34" charset="-122"/>
                <a:sym typeface="+mn-ea"/>
              </a:rPr>
              <a:t>年</a:t>
            </a:r>
            <a:r>
              <a:rPr lang="en-US" altLang="zh-CN" dirty="0" smtClean="0">
                <a:latin typeface="微软雅黑" panose="020B0503020204020204" pitchFamily="34" charset="-122"/>
                <a:ea typeface="微软雅黑" panose="020B0503020204020204" pitchFamily="34" charset="-122"/>
                <a:sym typeface="+mn-ea"/>
              </a:rPr>
              <a:t>5</a:t>
            </a:r>
            <a:r>
              <a:rPr lang="zh-CN" altLang="en-US" dirty="0" smtClean="0">
                <a:latin typeface="微软雅黑" panose="020B0503020204020204" pitchFamily="34" charset="-122"/>
                <a:ea typeface="微软雅黑" panose="020B0503020204020204" pitchFamily="34" charset="-122"/>
                <a:sym typeface="+mn-ea"/>
              </a:rPr>
              <a:t>月加入银华基金的，历任策略分析师、</a:t>
            </a:r>
            <a:r>
              <a:rPr lang="en-US" altLang="zh-CN" dirty="0" smtClean="0">
                <a:latin typeface="微软雅黑" panose="020B0503020204020204" pitchFamily="34" charset="-122"/>
                <a:ea typeface="微软雅黑" panose="020B0503020204020204" pitchFamily="34" charset="-122"/>
                <a:sym typeface="+mn-ea"/>
              </a:rPr>
              <a:t>FOF</a:t>
            </a:r>
            <a:r>
              <a:rPr lang="zh-CN" altLang="en-US" dirty="0" smtClean="0">
                <a:latin typeface="微软雅黑" panose="020B0503020204020204" pitchFamily="34" charset="-122"/>
                <a:ea typeface="微软雅黑" panose="020B0503020204020204" pitchFamily="34" charset="-122"/>
                <a:sym typeface="+mn-ea"/>
              </a:rPr>
              <a:t>研究员、</a:t>
            </a:r>
            <a:r>
              <a:rPr lang="en-US" altLang="zh-CN" dirty="0" smtClean="0">
                <a:latin typeface="微软雅黑" panose="020B0503020204020204" pitchFamily="34" charset="-122"/>
                <a:ea typeface="微软雅黑" panose="020B0503020204020204" pitchFamily="34" charset="-122"/>
                <a:sym typeface="+mn-ea"/>
              </a:rPr>
              <a:t>FOF</a:t>
            </a:r>
            <a:r>
              <a:rPr lang="zh-CN" altLang="en-US" dirty="0" smtClean="0">
                <a:latin typeface="微软雅黑" panose="020B0503020204020204" pitchFamily="34" charset="-122"/>
                <a:ea typeface="微软雅黑" panose="020B0503020204020204" pitchFamily="34" charset="-122"/>
                <a:sym typeface="+mn-ea"/>
              </a:rPr>
              <a:t>基金经历助理，目前是担任投资经理，负责专户的投资业务，工作的内容主要是基金产品研究、大类资产配置和组合投资工作。</a:t>
            </a:r>
            <a:endParaRPr lang="en-US" altLang="zh-CN" dirty="0" smtClean="0">
              <a:latin typeface="微软雅黑" panose="020B0503020204020204" pitchFamily="34" charset="-122"/>
              <a:ea typeface="微软雅黑" panose="020B0503020204020204" pitchFamily="34" charset="-122"/>
              <a:sym typeface="+mn-ea"/>
            </a:endParaRPr>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5</a:t>
            </a:fld>
            <a:endParaRPr lang="zh-CN" altLang="en-US"/>
          </a:p>
        </p:txBody>
      </p:sp>
    </p:spTree>
    <p:extLst>
      <p:ext uri="{BB962C8B-B14F-4D97-AF65-F5344CB8AC3E}">
        <p14:creationId xmlns:p14="http://schemas.microsoft.com/office/powerpoint/2010/main" val="1238893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介绍一下</a:t>
            </a:r>
            <a:r>
              <a:rPr lang="en-US" altLang="zh-CN" dirty="0" smtClean="0"/>
              <a:t>FOF</a:t>
            </a:r>
            <a:r>
              <a:rPr lang="zh-CN" altLang="en-US" dirty="0" smtClean="0"/>
              <a:t>投资管理部团队，目前我们有投研人员</a:t>
            </a:r>
            <a:r>
              <a:rPr lang="en-US" altLang="zh-CN" dirty="0" smtClean="0"/>
              <a:t>10</a:t>
            </a:r>
            <a:r>
              <a:rPr lang="zh-CN" altLang="en-US" dirty="0" smtClean="0"/>
              <a:t>人，</a:t>
            </a:r>
            <a:r>
              <a:rPr lang="en-US" altLang="zh-CN" dirty="0" smtClean="0"/>
              <a:t>6</a:t>
            </a:r>
            <a:r>
              <a:rPr lang="zh-CN" altLang="en-US" dirty="0" smtClean="0"/>
              <a:t>位基金经理，两位投资经理，一位基金经理助理，一位研究员。</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支持人员有银华的研究部门，其他专职的风控、交易、以及对口销售人员。</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我们的业务总监于蕾总是公司业务部副总经理，分管养老金投资部和我们</a:t>
            </a:r>
            <a:r>
              <a:rPr lang="en-US" altLang="zh-CN" dirty="0" smtClean="0"/>
              <a:t>FOF</a:t>
            </a:r>
            <a:r>
              <a:rPr lang="zh-CN" altLang="en-US" dirty="0" smtClean="0"/>
              <a:t>投资管理部</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于蕾总有</a:t>
            </a:r>
            <a:r>
              <a:rPr lang="zh-CN" altLang="en-US" sz="1200" dirty="0" smtClean="0">
                <a:solidFill>
                  <a:prstClr val="black"/>
                </a:solidFill>
                <a:latin typeface="微软雅黑" panose="020B0503020204020204" charset="-122"/>
                <a:ea typeface="微软雅黑" panose="020B0503020204020204" charset="-122"/>
                <a:cs typeface="+mn-ea"/>
                <a:sym typeface="+mn-lt"/>
              </a:rPr>
              <a:t>超过</a:t>
            </a:r>
            <a:r>
              <a:rPr lang="zh-CN" altLang="en-US" sz="1200" dirty="0" smtClean="0">
                <a:solidFill>
                  <a:prstClr val="black"/>
                </a:solidFill>
                <a:latin typeface="微软雅黑" panose="020B0503020204020204" charset="-122"/>
                <a:ea typeface="微软雅黑" panose="020B0503020204020204" charset="-122"/>
                <a:sym typeface="+mn-lt"/>
              </a:rPr>
              <a:t>二十年养老金投资管理经验，</a:t>
            </a:r>
            <a:r>
              <a:rPr lang="zh-CN" altLang="en-US" sz="1200" dirty="0" smtClean="0">
                <a:solidFill>
                  <a:prstClr val="black"/>
                </a:solidFill>
                <a:latin typeface="微软雅黑" panose="020B0503020204020204" charset="-122"/>
                <a:ea typeface="微软雅黑" panose="020B0503020204020204" charset="-122"/>
                <a:sym typeface="+mn-ea"/>
              </a:rPr>
              <a:t>历经牛熊市场周期磨练，投资经验丰富，</a:t>
            </a:r>
            <a:r>
              <a:rPr lang="zh-CN" altLang="zh-CN" sz="1200" b="1" dirty="0" smtClean="0">
                <a:solidFill>
                  <a:prstClr val="black"/>
                </a:solidFill>
                <a:latin typeface="微软雅黑" panose="020B0503020204020204" charset="-122"/>
                <a:ea typeface="微软雅黑" panose="020B0503020204020204" charset="-122"/>
                <a:sym typeface="+mn-ea"/>
              </a:rPr>
              <a:t>对</a:t>
            </a:r>
            <a:r>
              <a:rPr lang="zh-CN" altLang="en-US" sz="1200" b="1" dirty="0" smtClean="0">
                <a:solidFill>
                  <a:prstClr val="black"/>
                </a:solidFill>
                <a:latin typeface="微软雅黑" panose="020B0503020204020204" charset="-122"/>
                <a:ea typeface="微软雅黑" panose="020B0503020204020204" charset="-122"/>
                <a:sym typeface="+mn-ea"/>
              </a:rPr>
              <a:t>养老金</a:t>
            </a:r>
            <a:r>
              <a:rPr lang="zh-CN" altLang="zh-CN" sz="1200" b="1" dirty="0" smtClean="0">
                <a:solidFill>
                  <a:prstClr val="black"/>
                </a:solidFill>
                <a:latin typeface="微软雅黑" panose="020B0503020204020204" charset="-122"/>
                <a:ea typeface="微软雅黑" panose="020B0503020204020204" charset="-122"/>
                <a:sym typeface="+mn-ea"/>
              </a:rPr>
              <a:t>资金特性有深刻理解，</a:t>
            </a:r>
            <a:r>
              <a:rPr lang="zh-CN" altLang="en-US" sz="1200" b="1" dirty="0" smtClean="0">
                <a:solidFill>
                  <a:prstClr val="black"/>
                </a:solidFill>
                <a:latin typeface="微软雅黑" panose="020B0503020204020204" charset="-122"/>
                <a:ea typeface="微软雅黑" panose="020B0503020204020204" charset="-122"/>
                <a:sym typeface="+mn-ea"/>
              </a:rPr>
              <a:t>她也把她的这种</a:t>
            </a:r>
            <a:r>
              <a:rPr lang="zh-CN" altLang="zh-CN" sz="1200" b="1" dirty="0" smtClean="0">
                <a:solidFill>
                  <a:prstClr val="black"/>
                </a:solidFill>
                <a:latin typeface="微软雅黑" panose="020B0503020204020204" charset="-122"/>
                <a:ea typeface="微软雅黑" panose="020B0503020204020204" charset="-122"/>
                <a:sym typeface="+mn-ea"/>
              </a:rPr>
              <a:t>以长期收益最大化、控制业绩回撤为目标的投资理念、框架和方法</a:t>
            </a:r>
            <a:r>
              <a:rPr lang="zh-CN" altLang="en-US" sz="1200" b="1" dirty="0" smtClean="0">
                <a:solidFill>
                  <a:prstClr val="black"/>
                </a:solidFill>
                <a:latin typeface="微软雅黑" panose="020B0503020204020204" charset="-122"/>
                <a:ea typeface="微软雅黑" panose="020B0503020204020204" charset="-122"/>
                <a:sym typeface="+mn-ea"/>
              </a:rPr>
              <a:t>，应用到我们的资产配置里来。</a:t>
            </a:r>
            <a:endParaRPr lang="en-US" altLang="zh-CN" sz="1200" b="1" dirty="0" smtClean="0">
              <a:solidFill>
                <a:prstClr val="black"/>
              </a:solidFill>
              <a:latin typeface="微软雅黑" panose="020B0503020204020204" charset="-122"/>
              <a:ea typeface="微软雅黑" panose="020B0503020204020204" charset="-122"/>
              <a:sym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prstClr val="black"/>
                </a:solidFill>
                <a:latin typeface="微软雅黑" panose="020B0503020204020204" charset="-122"/>
                <a:ea typeface="微软雅黑" panose="020B0503020204020204" charset="-122"/>
                <a:sym typeface="+mn-ea"/>
              </a:rPr>
              <a:t>于总这两年多可以说给我们</a:t>
            </a:r>
            <a:r>
              <a:rPr lang="en-US" altLang="zh-CN" sz="1200" b="1" dirty="0" smtClean="0">
                <a:solidFill>
                  <a:prstClr val="black"/>
                </a:solidFill>
                <a:latin typeface="微软雅黑" panose="020B0503020204020204" charset="-122"/>
                <a:ea typeface="微软雅黑" panose="020B0503020204020204" charset="-122"/>
                <a:sym typeface="+mn-ea"/>
              </a:rPr>
              <a:t>FOF</a:t>
            </a:r>
            <a:r>
              <a:rPr lang="zh-CN" altLang="en-US" sz="1200" b="1" dirty="0" smtClean="0">
                <a:solidFill>
                  <a:prstClr val="black"/>
                </a:solidFill>
                <a:latin typeface="微软雅黑" panose="020B0503020204020204" charset="-122"/>
                <a:ea typeface="微软雅黑" panose="020B0503020204020204" charset="-122"/>
                <a:sym typeface="+mn-ea"/>
              </a:rPr>
              <a:t>投资管理部的投资能力带来的非常多的赋能。</a:t>
            </a:r>
            <a:endParaRPr lang="en-US" altLang="zh-CN" sz="1200" b="1" dirty="0" smtClean="0">
              <a:solidFill>
                <a:prstClr val="black"/>
              </a:solidFill>
              <a:latin typeface="微软雅黑" panose="020B0503020204020204" charset="-122"/>
              <a:ea typeface="微软雅黑" panose="020B0503020204020204" charset="-122"/>
              <a:sym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prstClr val="black"/>
                </a:solidFill>
                <a:latin typeface="微软雅黑" panose="020B0503020204020204" charset="-122"/>
                <a:ea typeface="微软雅黑" panose="020B0503020204020204" charset="-122"/>
                <a:cs typeface="+mn-ea"/>
                <a:sym typeface="+mn-ea"/>
              </a:rPr>
              <a:t>第一是给我们</a:t>
            </a:r>
            <a:r>
              <a:rPr lang="en-US" altLang="zh-CN" sz="1200" b="1" dirty="0" smtClean="0">
                <a:solidFill>
                  <a:prstClr val="black"/>
                </a:solidFill>
                <a:latin typeface="微软雅黑" panose="020B0503020204020204" charset="-122"/>
                <a:ea typeface="微软雅黑" panose="020B0503020204020204" charset="-122"/>
                <a:cs typeface="+mn-ea"/>
                <a:sym typeface="+mn-ea"/>
              </a:rPr>
              <a:t>FOF</a:t>
            </a:r>
            <a:r>
              <a:rPr lang="zh-CN" altLang="en-US" sz="1200" b="1" dirty="0" smtClean="0">
                <a:solidFill>
                  <a:prstClr val="black"/>
                </a:solidFill>
                <a:latin typeface="微软雅黑" panose="020B0503020204020204" charset="-122"/>
                <a:ea typeface="微软雅黑" panose="020B0503020204020204" charset="-122"/>
                <a:cs typeface="+mn-ea"/>
                <a:sym typeface="+mn-ea"/>
              </a:rPr>
              <a:t>投资管理部统筹资源，帮我们纳入到整个养老金投资板块里面来，让我们可以充分借力公司的整体投研能力。</a:t>
            </a:r>
            <a:endParaRPr lang="en-US" altLang="zh-CN" sz="1200" b="1" dirty="0" smtClean="0">
              <a:solidFill>
                <a:prstClr val="black"/>
              </a:solidFill>
              <a:latin typeface="微软雅黑" panose="020B0503020204020204" charset="-122"/>
              <a:ea typeface="微软雅黑" panose="020B0503020204020204" charset="-122"/>
              <a:cs typeface="+mn-ea"/>
              <a:sym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prstClr val="black"/>
                </a:solidFill>
                <a:latin typeface="微软雅黑" panose="020B0503020204020204" charset="-122"/>
                <a:ea typeface="微软雅黑" panose="020B0503020204020204" charset="-122"/>
                <a:cs typeface="+mn-ea"/>
                <a:sym typeface="+mn-ea"/>
              </a:rPr>
              <a:t>第二个就是制定了资源共享的框架，让我们和其他部门共享研究成果，这样也大幅提升了</a:t>
            </a:r>
            <a:r>
              <a:rPr lang="en-US" altLang="zh-CN" sz="1200" b="1" dirty="0" smtClean="0">
                <a:solidFill>
                  <a:prstClr val="black"/>
                </a:solidFill>
                <a:latin typeface="微软雅黑" panose="020B0503020204020204" charset="-122"/>
                <a:ea typeface="微软雅黑" panose="020B0503020204020204" charset="-122"/>
                <a:cs typeface="+mn-ea"/>
                <a:sym typeface="+mn-ea"/>
              </a:rPr>
              <a:t>FOF</a:t>
            </a:r>
            <a:r>
              <a:rPr lang="zh-CN" altLang="en-US" sz="1200" b="1" dirty="0" smtClean="0">
                <a:solidFill>
                  <a:prstClr val="black"/>
                </a:solidFill>
                <a:latin typeface="微软雅黑" panose="020B0503020204020204" charset="-122"/>
                <a:ea typeface="微软雅黑" panose="020B0503020204020204" charset="-122"/>
                <a:cs typeface="+mn-ea"/>
                <a:sym typeface="+mn-ea"/>
              </a:rPr>
              <a:t>投资决策的胜率。</a:t>
            </a:r>
            <a:endParaRPr lang="en-US" altLang="zh-CN" sz="1200" b="1" dirty="0" smtClean="0">
              <a:solidFill>
                <a:prstClr val="black"/>
              </a:solidFill>
              <a:latin typeface="微软雅黑" panose="020B0503020204020204" charset="-122"/>
              <a:ea typeface="微软雅黑" panose="020B0503020204020204" charset="-122"/>
              <a:cs typeface="+mn-ea"/>
              <a:sym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prstClr val="black"/>
                </a:solidFill>
                <a:latin typeface="微软雅黑" panose="020B0503020204020204" charset="-122"/>
                <a:ea typeface="微软雅黑" panose="020B0503020204020204" charset="-122"/>
                <a:cs typeface="+mn-ea"/>
                <a:sym typeface="+mn-ea"/>
              </a:rPr>
              <a:t>第三个就是控制回撤的理念，将养老金投资管理方法，和</a:t>
            </a:r>
            <a:r>
              <a:rPr lang="en-US" altLang="zh-CN" sz="1200" b="1" dirty="0" smtClean="0">
                <a:solidFill>
                  <a:prstClr val="black"/>
                </a:solidFill>
                <a:latin typeface="微软雅黑" panose="020B0503020204020204" charset="-122"/>
                <a:ea typeface="微软雅黑" panose="020B0503020204020204" charset="-122"/>
                <a:cs typeface="+mn-ea"/>
                <a:sym typeface="+mn-ea"/>
              </a:rPr>
              <a:t>FOF</a:t>
            </a:r>
            <a:r>
              <a:rPr lang="zh-CN" altLang="en-US" sz="1200" b="1" dirty="0" smtClean="0">
                <a:solidFill>
                  <a:prstClr val="black"/>
                </a:solidFill>
                <a:latin typeface="微软雅黑" panose="020B0503020204020204" charset="-122"/>
                <a:ea typeface="微软雅黑" panose="020B0503020204020204" charset="-122"/>
                <a:cs typeface="+mn-ea"/>
                <a:sym typeface="+mn-ea"/>
              </a:rPr>
              <a:t>的多资产配置实践等等相结合，丰富了我们的管理方法和投资的纪律。</a:t>
            </a:r>
            <a:endParaRPr lang="zh-CN" altLang="zh-CN" sz="1200" b="1" dirty="0" smtClean="0">
              <a:solidFill>
                <a:prstClr val="black"/>
              </a:solidFill>
              <a:latin typeface="微软雅黑" panose="020B0503020204020204" charset="-122"/>
              <a:ea typeface="微软雅黑" panose="020B0503020204020204" charset="-122"/>
              <a:cs typeface="+mn-ea"/>
              <a:sym typeface="+mn-lt"/>
            </a:endParaRPr>
          </a:p>
          <a:p>
            <a:endParaRPr lang="en-US" altLang="zh-CN" dirty="0" smtClean="0"/>
          </a:p>
          <a:p>
            <a:pPr marL="0" indent="0" algn="just" defTabSz="914400">
              <a:lnSpc>
                <a:spcPct val="125000"/>
              </a:lnSpc>
              <a:spcAft>
                <a:spcPts val="600"/>
              </a:spcAft>
              <a:buClr>
                <a:srgbClr val="C00000"/>
              </a:buClr>
              <a:buFont typeface="Wingdings" panose="05000000000000000000" pitchFamily="2" charset="2"/>
              <a:buNone/>
              <a:tabLst>
                <a:tab pos="903605" algn="l"/>
              </a:tabLst>
            </a:pPr>
            <a:r>
              <a:rPr lang="zh-CN" altLang="en-US" dirty="0" smtClean="0"/>
              <a:t>现在我们的</a:t>
            </a:r>
            <a:r>
              <a:rPr lang="en-US" altLang="zh-CN" dirty="0" smtClean="0"/>
              <a:t>FOF</a:t>
            </a:r>
            <a:r>
              <a:rPr lang="zh-CN" altLang="en-US" dirty="0" smtClean="0"/>
              <a:t>团队每位成员具备不同领域的专长，在领导的管理框架之下，各司其职，既能让各个成员充分发挥所长，又可互相赋能，实现能力互补与协同决策。</a:t>
            </a:r>
          </a:p>
          <a:p>
            <a:pPr marL="285750" indent="-285750" algn="just" defTabSz="914400">
              <a:lnSpc>
                <a:spcPct val="125000"/>
              </a:lnSpc>
              <a:spcAft>
                <a:spcPts val="600"/>
              </a:spcAft>
              <a:buClr>
                <a:srgbClr val="C00000"/>
              </a:buClr>
              <a:buFont typeface="Wingdings" panose="05000000000000000000" pitchFamily="2" charset="2"/>
              <a:buChar char="p"/>
              <a:tabLst>
                <a:tab pos="903605" algn="l"/>
              </a:tabLst>
            </a:pPr>
            <a:r>
              <a:rPr lang="zh-CN" altLang="en-US" i="1" dirty="0" smtClean="0"/>
              <a:t>定性团队和定性团队密切协作。</a:t>
            </a:r>
          </a:p>
          <a:p>
            <a:pPr marL="742950" lvl="1" indent="-285750" algn="just" defTabSz="914400">
              <a:lnSpc>
                <a:spcPct val="125000"/>
              </a:lnSpc>
              <a:spcAft>
                <a:spcPts val="600"/>
              </a:spcAft>
              <a:buClr>
                <a:srgbClr val="C00000"/>
              </a:buClr>
              <a:buFont typeface="Arial" panose="020B0604020202020204" pitchFamily="34" charset="0"/>
              <a:buChar char="•"/>
              <a:tabLst>
                <a:tab pos="903605" algn="l"/>
              </a:tabLst>
            </a:pPr>
            <a:r>
              <a:rPr lang="zh-CN" altLang="en-US" i="1" dirty="0" smtClean="0"/>
              <a:t>定量团队将严谨的数学思维融入投资决策，建立起以数据驱动、以模型支撑的理性投资框架；</a:t>
            </a:r>
          </a:p>
          <a:p>
            <a:pPr marL="742950" lvl="1" indent="-285750" algn="just" defTabSz="914400">
              <a:lnSpc>
                <a:spcPct val="125000"/>
              </a:lnSpc>
              <a:spcAft>
                <a:spcPts val="600"/>
              </a:spcAft>
              <a:buClr>
                <a:srgbClr val="C00000"/>
              </a:buClr>
              <a:buFont typeface="Arial" panose="020B0604020202020204" pitchFamily="34" charset="0"/>
              <a:buChar char="•"/>
              <a:tabLst>
                <a:tab pos="903605" algn="l"/>
              </a:tabLst>
            </a:pPr>
            <a:r>
              <a:rPr lang="zh-CN" altLang="en-US" i="1" dirty="0" smtClean="0"/>
              <a:t>定性团队则补充定量研究盲区，以及规避量化分析无法覆盖的负面因素。</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6</a:t>
            </a:fld>
            <a:endParaRPr lang="zh-CN" altLang="en-US"/>
          </a:p>
        </p:txBody>
      </p:sp>
    </p:spTree>
    <p:extLst>
      <p:ext uri="{BB962C8B-B14F-4D97-AF65-F5344CB8AC3E}">
        <p14:creationId xmlns:p14="http://schemas.microsoft.com/office/powerpoint/2010/main" val="2105868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在介绍具体的投资框架之前，先说一下</a:t>
            </a:r>
            <a:r>
              <a:rPr lang="en-US" altLang="zh-CN" dirty="0" smtClean="0"/>
              <a:t>FOF</a:t>
            </a:r>
            <a:r>
              <a:rPr lang="zh-CN" altLang="en-US" dirty="0" smtClean="0"/>
              <a:t>投资管理部的投研文化。一颗茁壮成长的树苗脚下一定是一篇沃土。可以说是在</a:t>
            </a:r>
            <a:r>
              <a:rPr lang="en-US" altLang="zh-CN" dirty="0" smtClean="0"/>
              <a:t>FOF</a:t>
            </a:r>
            <a:r>
              <a:rPr lang="zh-CN" altLang="en-US" dirty="0" smtClean="0"/>
              <a:t>投资管理部的良好的投研机制中逐渐成长起来的。</a:t>
            </a:r>
            <a:endParaRPr lang="en-US" altLang="zh-CN" dirty="0" smtClean="0"/>
          </a:p>
          <a:p>
            <a:r>
              <a:rPr lang="zh-CN" altLang="en-US" dirty="0" smtClean="0"/>
              <a:t>得益于领导把我们部门整合到整个大的养老金板块，</a:t>
            </a:r>
            <a:r>
              <a:rPr lang="en-US" altLang="zh-CN" dirty="0" smtClean="0"/>
              <a:t>FOF</a:t>
            </a:r>
            <a:r>
              <a:rPr lang="zh-CN" altLang="en-US" dirty="0" smtClean="0"/>
              <a:t>投资管理部也是共享了更多公司给予的资源，比如我们能够参加公司的研究晨会，可以得到研究员每天，有选择性的对各个行业的重点变化以及宏观环境、政策方面的及时更新，对帮助</a:t>
            </a:r>
            <a:r>
              <a:rPr lang="en-US" altLang="zh-CN" dirty="0" smtClean="0"/>
              <a:t>FOF</a:t>
            </a:r>
            <a:r>
              <a:rPr lang="zh-CN" altLang="en-US" dirty="0" smtClean="0"/>
              <a:t>投资管理部在行业景气度的定性研究以及宏观、政策对资产配置的影响方面可以说是大幅的赋能。</a:t>
            </a:r>
            <a:endParaRPr lang="en-US" altLang="zh-CN" dirty="0" smtClean="0"/>
          </a:p>
          <a:p>
            <a:r>
              <a:rPr lang="zh-CN" altLang="en-US" dirty="0" smtClean="0"/>
              <a:t>我们每月还会举行投委会，内容包括对各个组合的业绩归因，各个投资经理分享月度的策略调整，组合调整等等，还有一些投资相关的问题和事项的研讨。</a:t>
            </a:r>
            <a:endParaRPr lang="en-US" altLang="zh-CN" dirty="0" smtClean="0"/>
          </a:p>
          <a:p>
            <a:r>
              <a:rPr lang="zh-CN" altLang="en-US" dirty="0" smtClean="0"/>
              <a:t>当然还有不定时的双周会，投资经理和研究员会进行充分的讨论，研究员会在基金调研，行业动态方面进行更新等等，经理之间也会进行有效的沟通，互相分享在大类资产配置以及基金选择方面的观点。</a:t>
            </a:r>
            <a:endParaRPr lang="en-US" altLang="zh-CN" dirty="0" smtClean="0"/>
          </a:p>
          <a:p>
            <a:r>
              <a:rPr lang="zh-CN" altLang="en-US" dirty="0" smtClean="0"/>
              <a:t>然后每季度会进行业务、投资上的战略复盘，整合资源配置，探寻投资和业务开展的新方向。</a:t>
            </a:r>
            <a:r>
              <a:rPr kumimoji="1" lang="zh-CN" altLang="en-US" sz="1200" dirty="0" smtClean="0">
                <a:latin typeface="微软雅黑" panose="020B0503020204020204" charset="-122"/>
                <a:ea typeface="微软雅黑" panose="020B0503020204020204" charset="-122"/>
                <a:sym typeface="+mn-ea"/>
              </a:rPr>
              <a:t>可以说</a:t>
            </a:r>
            <a:r>
              <a:rPr kumimoji="1" lang="en-US" altLang="zh-CN" sz="1200" dirty="0" smtClean="0">
                <a:latin typeface="微软雅黑" panose="020B0503020204020204" charset="-122"/>
                <a:ea typeface="微软雅黑" panose="020B0503020204020204" charset="-122"/>
                <a:sym typeface="+mn-ea"/>
              </a:rPr>
              <a:t>FOF</a:t>
            </a:r>
            <a:r>
              <a:rPr kumimoji="1" lang="zh-CN" altLang="en-US" sz="1200" dirty="0" smtClean="0">
                <a:latin typeface="微软雅黑" panose="020B0503020204020204" charset="-122"/>
                <a:ea typeface="微软雅黑" panose="020B0503020204020204" charset="-122"/>
                <a:sym typeface="+mn-ea"/>
              </a:rPr>
              <a:t>投资管理部充分地利用了重大投资集体决策机制，突出集体智慧的形成与复用。</a:t>
            </a:r>
            <a:endParaRPr kumimoji="1" lang="en-US" altLang="zh-CN" sz="1200" dirty="0" smtClean="0">
              <a:latin typeface="微软雅黑" panose="020B0503020204020204" charset="-122"/>
              <a:ea typeface="微软雅黑" panose="020B0503020204020204" charset="-122"/>
              <a:sym typeface="+mn-ea"/>
            </a:endParaRPr>
          </a:p>
          <a:p>
            <a:r>
              <a:rPr kumimoji="1" lang="zh-CN" altLang="en-US" sz="1200" spc="0" baseline="0" dirty="0" smtClean="0">
                <a:solidFill>
                  <a:srgbClr val="3E3A39"/>
                </a:solidFill>
                <a:latin typeface="微软雅黑" panose="020B0503020204020204" charset="-122"/>
                <a:ea typeface="微软雅黑" panose="020B0503020204020204" charset="-122"/>
                <a:cs typeface="Arial" panose="020B0604020202020204"/>
                <a:sym typeface="+mn-ea"/>
                <a:rtl val="0"/>
              </a:rPr>
              <a:t>在这么多年的耳濡目染之中，我们也慢慢形成了自己的投资框架。</a:t>
            </a:r>
            <a:endParaRPr lang="zh-CN" altLang="en-US" sz="1200" spc="0" baseline="0" dirty="0" smtClean="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8</a:t>
            </a:fld>
            <a:endParaRPr lang="zh-CN" altLang="en-US"/>
          </a:p>
        </p:txBody>
      </p:sp>
    </p:spTree>
    <p:extLst>
      <p:ext uri="{BB962C8B-B14F-4D97-AF65-F5344CB8AC3E}">
        <p14:creationId xmlns:p14="http://schemas.microsoft.com/office/powerpoint/2010/main" val="648617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那接下来向各位领导汇报一下我的投资框架，我是怎么进行组合投资的。</a:t>
            </a:r>
            <a:endParaRPr lang="en-US" altLang="zh-CN" dirty="0" smtClean="0"/>
          </a:p>
          <a:p>
            <a:r>
              <a:rPr lang="zh-CN" altLang="en-US" dirty="0" smtClean="0"/>
              <a:t>整个投资框架是沿用了</a:t>
            </a:r>
            <a:r>
              <a:rPr lang="en-US" altLang="zh-CN" dirty="0" smtClean="0"/>
              <a:t>FOF</a:t>
            </a:r>
            <a:r>
              <a:rPr lang="zh-CN" altLang="en-US" dirty="0" smtClean="0"/>
              <a:t>投资管理部的定量和定性相结合的决策方式，来确定资产配置的比例，确定基金选择的标的以及</a:t>
            </a:r>
            <a:r>
              <a:rPr lang="en-US" altLang="zh-CN" dirty="0" smtClean="0"/>
              <a:t>ETF</a:t>
            </a:r>
            <a:r>
              <a:rPr lang="zh-CN" altLang="en-US" dirty="0" smtClean="0"/>
              <a:t>的投资。</a:t>
            </a:r>
            <a:endParaRPr lang="en-US" altLang="zh-CN" dirty="0" smtClean="0"/>
          </a:p>
          <a:p>
            <a:r>
              <a:rPr lang="zh-CN" altLang="en-US" dirty="0" smtClean="0"/>
              <a:t>主要分为资产配置、选基、</a:t>
            </a:r>
            <a:r>
              <a:rPr lang="en-US" altLang="zh-CN" dirty="0" smtClean="0"/>
              <a:t>ETF</a:t>
            </a:r>
            <a:r>
              <a:rPr lang="zh-CN" altLang="en-US" dirty="0" smtClean="0"/>
              <a:t>轮动三个维度。</a:t>
            </a:r>
            <a:endParaRPr lang="en-US" altLang="zh-CN" dirty="0" smtClean="0"/>
          </a:p>
          <a:p>
            <a:r>
              <a:rPr lang="zh-CN" altLang="en-US" dirty="0" smtClean="0"/>
              <a:t>第一步的资产配置，主要是对整体组合资产达成风险预算，还有一个比较重要的就是控制组合的回撤。</a:t>
            </a:r>
            <a:endParaRPr lang="en-US" altLang="zh-CN" dirty="0" smtClean="0"/>
          </a:p>
          <a:p>
            <a:r>
              <a:rPr lang="zh-CN" altLang="en-US" dirty="0" smtClean="0"/>
              <a:t>我之前也担任过公募基金的助理</a:t>
            </a:r>
            <a:endParaRPr lang="en-US" altLang="zh-CN" dirty="0" smtClean="0"/>
          </a:p>
          <a:p>
            <a:r>
              <a:rPr lang="zh-CN" altLang="en-US" dirty="0" smtClean="0"/>
              <a:t>如果是公募基金产品，因为有产品的基准，所以是围绕基准来进行大类资产的配置，如果是专户的产品，那就是根据客户定制的需求来进行配置。</a:t>
            </a:r>
            <a:endParaRPr lang="en-US" altLang="zh-CN" dirty="0" smtClean="0"/>
          </a:p>
          <a:p>
            <a:r>
              <a:rPr lang="zh-CN" altLang="en-US" dirty="0" smtClean="0"/>
              <a:t>首先是量化的方式，使用各类资产的历史数据，进行量化的分析，然后结合当前的宏观指标、估值分位等等指标，进行参数的调整，得出大致的在规定的风险预算之下的配置，</a:t>
            </a:r>
            <a:endParaRPr lang="en-US" altLang="zh-CN" dirty="0" smtClean="0"/>
          </a:p>
          <a:p>
            <a:r>
              <a:rPr lang="zh-CN" altLang="en-US" dirty="0" smtClean="0"/>
              <a:t>然后对配置进行模拟，对各类资产的未来走势的分布就行预测。</a:t>
            </a:r>
            <a:endParaRPr lang="en-US" altLang="zh-CN" dirty="0" smtClean="0"/>
          </a:p>
          <a:p>
            <a:r>
              <a:rPr lang="zh-CN" altLang="en-US" dirty="0" smtClean="0"/>
              <a:t>这样我就能得到一个大致的资产配置比例作为底线配置，以及未来一段时间内的收益预测。</a:t>
            </a:r>
            <a:endParaRPr lang="en-US" altLang="zh-CN" dirty="0" smtClean="0"/>
          </a:p>
          <a:p>
            <a:endParaRPr lang="en-US" altLang="zh-CN" dirty="0" smtClean="0"/>
          </a:p>
          <a:p>
            <a:r>
              <a:rPr lang="zh-CN" altLang="en-US" dirty="0" smtClean="0"/>
              <a:t>然后比较重要的一步是定性把关，这有个人的判断，也有依托的团队的集体力量，我会和其他经理、以及助理一起开会讨论，结合市场周期、估值性价比、宏观基本面等等因素，进行一些调整。</a:t>
            </a:r>
            <a:endParaRPr lang="en-US" altLang="zh-CN" dirty="0" smtClean="0"/>
          </a:p>
          <a:p>
            <a:r>
              <a:rPr lang="zh-CN" altLang="en-US" dirty="0" smtClean="0"/>
              <a:t>各类资产的基本面支撑条件是有差异化的，不同的市场环境会引发不同资产的收益差异，通过在多资产间进行性价比排序，从多个角度比如基本面、流动性、估值、市场情绪等等，对各个资产进行优胜劣汰，筛选出环境受益的前几名进行优先配置，避免投资组合的</a:t>
            </a:r>
            <a:r>
              <a:rPr lang="en-US" altLang="zh-CN" dirty="0" smtClean="0"/>
              <a:t>Beta</a:t>
            </a:r>
            <a:r>
              <a:rPr lang="zh-CN" altLang="en-US" dirty="0" smtClean="0"/>
              <a:t>出现失速下滑。</a:t>
            </a:r>
            <a:endParaRPr lang="en-US" altLang="zh-CN" dirty="0" smtClean="0"/>
          </a:p>
          <a:p>
            <a:endParaRPr lang="en-US" altLang="zh-CN" dirty="0" smtClean="0"/>
          </a:p>
          <a:p>
            <a:endParaRPr lang="en-US" altLang="zh-CN"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9</a:t>
            </a:fld>
            <a:endParaRPr lang="zh-CN" altLang="en-US"/>
          </a:p>
        </p:txBody>
      </p:sp>
    </p:spTree>
    <p:extLst>
      <p:ext uri="{BB962C8B-B14F-4D97-AF65-F5344CB8AC3E}">
        <p14:creationId xmlns:p14="http://schemas.microsoft.com/office/powerpoint/2010/main" val="2923992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在这个海量数据的年代，我觉得投资还是离不开对数据的高效精确的处理。</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对于</a:t>
            </a:r>
            <a:r>
              <a:rPr lang="en-US" altLang="zh-CN" dirty="0" smtClean="0"/>
              <a:t>FOF</a:t>
            </a:r>
            <a:r>
              <a:rPr lang="zh-CN" altLang="en-US" dirty="0" smtClean="0"/>
              <a:t>的资产配置那就是对不同资产的市场行数据进行多个角度的分析。</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得益于近两年</a:t>
            </a:r>
            <a:r>
              <a:rPr lang="en-US" altLang="zh-CN" dirty="0" smtClean="0"/>
              <a:t>AI</a:t>
            </a:r>
            <a:r>
              <a:rPr lang="zh-CN" altLang="en-US" dirty="0" smtClean="0"/>
              <a:t>的飞速发展，加上我本身是软件工程出身，借助</a:t>
            </a:r>
            <a:r>
              <a:rPr lang="en-US" altLang="zh-CN" dirty="0" smtClean="0"/>
              <a:t>AI</a:t>
            </a:r>
            <a:r>
              <a:rPr lang="zh-CN" altLang="en-US" dirty="0" smtClean="0"/>
              <a:t>模型的编程能力，我可以在短时间内根据客户的投资需求，量身定做一套适合客户大类资产配置要求的可视化分析系统。</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PPT</a:t>
            </a:r>
            <a:r>
              <a:rPr lang="zh-CN" altLang="en-US" dirty="0" smtClean="0"/>
              <a:t>里面的截图就是我近期根据某个专户客户提出的需求，使用</a:t>
            </a:r>
            <a:r>
              <a:rPr lang="en-US" altLang="zh-CN" dirty="0" smtClean="0"/>
              <a:t>AI</a:t>
            </a:r>
            <a:r>
              <a:rPr lang="zh-CN" altLang="en-US" dirty="0" smtClean="0"/>
              <a:t>模型开发出来的资产配置系统。</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因为每个客户的投资需求，投资目标，能投资的大类资产类别都是差别很大的，所以定制化的系统可以更高效，更精准的帮助我根据客户的收益和风险目标，结合限定范围内的大类资产进行资产配置的量化分析。比如这个系统里面就根据客户的限定投资范围纳入了纯债资产、可转债、以及黄金。</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我就可以快速的在当前的市场环境下，使用大类资产配置的很多经典的模型，比如均值</a:t>
            </a:r>
            <a:r>
              <a:rPr lang="en-US" altLang="zh-CN" dirty="0" smtClean="0"/>
              <a:t>-</a:t>
            </a:r>
            <a:r>
              <a:rPr lang="zh-CN" altLang="en-US" dirty="0" smtClean="0"/>
              <a:t>方差优化，最大夏普、风险平价等等，得到大类资产的底线配置，就是左边这个图。</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而且还可以同时得到根据不同的模型，在历史经验中，如何达到客户的收益和风险指标。</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右边的图是使用蒙特卡洛模型，对当前得出的资产配置比例进行模拟，得到一个大致的未来一年之内的组合收益分布，这样我就能大致知道组合的预期收益，以及在最好的</a:t>
            </a:r>
            <a:r>
              <a:rPr lang="en-US" altLang="zh-CN" dirty="0" smtClean="0"/>
              <a:t>90%</a:t>
            </a:r>
            <a:r>
              <a:rPr lang="zh-CN" altLang="en-US" dirty="0" smtClean="0"/>
              <a:t>分位以及最差的</a:t>
            </a:r>
            <a:r>
              <a:rPr lang="en-US" altLang="zh-CN" dirty="0" smtClean="0"/>
              <a:t>10%</a:t>
            </a:r>
            <a:r>
              <a:rPr lang="zh-CN" altLang="en-US" dirty="0" smtClean="0"/>
              <a:t>分为的模拟情境下，投资组合的收益情况。</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里只展示了其中的两个模块，我还会对不同的资产之间的相关性进行量化研究和追踪，资产之间相关性也是非常重要的一面，当某些资产的相关性开始趋同，甚至从原来的负相关变为正相关的时候，就是一个预警信号，因为某几类资产同涨同跌的情况可能加大对组合的回撤，这时候就要进行资产配置的调整。不过这也是</a:t>
            </a:r>
            <a:r>
              <a:rPr lang="en-US" altLang="zh-CN" dirty="0" smtClean="0"/>
              <a:t>FOF</a:t>
            </a:r>
            <a:r>
              <a:rPr lang="zh-CN" altLang="en-US" dirty="0" smtClean="0"/>
              <a:t>产品相对于其他类别的产品的一个优势所在，我们可以通过跨资产类别的配置去平滑组合的波动，降低组合净值的回撤，通过跨类别甚至跨国别的资产去获取收益。可能</a:t>
            </a:r>
            <a:r>
              <a:rPr lang="en-US" altLang="zh-CN" dirty="0" smtClean="0"/>
              <a:t>FOF</a:t>
            </a:r>
            <a:r>
              <a:rPr lang="zh-CN" altLang="en-US" dirty="0" smtClean="0"/>
              <a:t>产品的收益可能不会短期内又十分极致的收益表现，但是拉长来看，年化收益并不弱，组合的波动因为多资产对冲会相对较小，像夏普比率这种风险调整收益指标会比较好，也就是客户的长期的持有体验也会比较好。</a:t>
            </a:r>
            <a:endParaRPr lang="en-US" altLang="zh-CN" dirty="0" smtClean="0"/>
          </a:p>
          <a:p>
            <a:endParaRPr lang="en-US" altLang="zh-CN"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10</a:t>
            </a:fld>
            <a:endParaRPr lang="zh-CN" altLang="en-US"/>
          </a:p>
        </p:txBody>
      </p:sp>
    </p:spTree>
    <p:extLst>
      <p:ext uri="{BB962C8B-B14F-4D97-AF65-F5344CB8AC3E}">
        <p14:creationId xmlns:p14="http://schemas.microsoft.com/office/powerpoint/2010/main" val="915932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那有了量化分析的底线数据以后，如何最终去摆布以及最终确定资产配置的比例，和定性的分析是离不开的。</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量化是工具，是海量的数据分析以后保证投资经理的决策不会偏离太大。</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那下一步就是定性分析。</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u="none" dirty="0" smtClean="0">
                <a:solidFill>
                  <a:srgbClr val="9F1620"/>
                </a:solidFill>
                <a:latin typeface="微软雅黑" panose="020B0503020204020204" pitchFamily="34" charset="-122"/>
                <a:ea typeface="微软雅黑" panose="020B0503020204020204" pitchFamily="34" charset="-122"/>
                <a:cs typeface="+mn-ea"/>
              </a:rPr>
              <a:t>大类资产的收益与风险的主要因素，归纳起来共性的有四点：</a:t>
            </a:r>
            <a:r>
              <a:rPr lang="zh-CN" altLang="en-US" sz="1200" b="0" i="0" u="none" kern="0" dirty="0" smtClean="0">
                <a:solidFill>
                  <a:srgbClr val="FFFFFF"/>
                </a:solidFill>
                <a:latin typeface="微软雅黑" pitchFamily="34" charset="-122"/>
                <a:ea typeface="微软雅黑" pitchFamily="34" charset="-122"/>
              </a:rPr>
              <a:t>基本面因素、流动性因素、估值因素、供求交易因素</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不过不同类别的资产，需要分析的角度也是会有一定的差别。</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货币类资产：资金价格由资金供需所决定，货币政策松紧是关键，决定了资金面的松紧程度</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基本面分析需要观察央行的货币供给，也就是政策利率、准备金率以及其他数量型工具，还有实体经济的资金需求，主要看经济增速（</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GDP</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PMI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、工业增加值）、</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CPI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PPI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等等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流动性要看看：政策利率（</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LPR</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MLF</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）、准备金率以及货币政策工具</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估值方面需要看银行间的隔夜或者</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7</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天质押式回购利率等资金利率</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固收类资产和货币类资产类似：也要看基本面的实体经济增长以及通胀以及预期：</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CPI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PPI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，流动性因素</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 </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政策利率等等，估值方面要看期限利差、信用利差。供求方面要看：供给侧的国债、政策性银行债、地方专项债发行量；需求侧的银行、基金、保险、券商等配置行为</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权益类资产除了以上提到的因素之外，还要看基本面的整体的盈利情况，估值方面的</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PE</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PB</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PS</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、股息率、</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PEG</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；相对估值：风险溢价、</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A-H</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溢价等；情绪指标：换手率、超卖超买、</a:t>
            </a: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MA60</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商品类资产商品兼备商品属性和金融属性。商品属性指作为实物的供需结构，长期需求是更为决定性的因素，而短期供给会对商品价格形成明显的扰动。金融属性指商品作为资产为持有人提供保值、增值和资金融通等功能的属性，往往与宏观因素有关，如汇率、政治、经济等。</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dirty="0" smtClean="0">
                <a:solidFill>
                  <a:srgbClr val="9F1620"/>
                </a:solidFill>
                <a:latin typeface="微软雅黑" panose="020B0503020204020204" pitchFamily="34" charset="-122"/>
                <a:ea typeface="微软雅黑" panose="020B0503020204020204" pitchFamily="34" charset="-122"/>
                <a:cs typeface="+mn-ea"/>
              </a:rPr>
              <a:t>QDII</a:t>
            </a: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我把它放在单独一类，虽然资产本质是大同小异，但是因为政策、交易、包括国别层面都有区别，需要具体情况具体分析的点也很多。</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smtClean="0">
                <a:solidFill>
                  <a:srgbClr val="9F1620"/>
                </a:solidFill>
                <a:latin typeface="微软雅黑" panose="020B0503020204020204" pitchFamily="34" charset="-122"/>
                <a:ea typeface="微软雅黑" panose="020B0503020204020204" pitchFamily="34" charset="-122"/>
                <a:cs typeface="+mn-ea"/>
              </a:rPr>
              <a:t>那通过的刚才提到的因素逐个资产进行综合全面的分析以后，我会得到不同资产之间的类似于多空或者中性的评价，然后根据量化的底线配置做出调整，最终确定组合资产配置的比例。</a:t>
            </a:r>
            <a:endParaRPr lang="en-US" altLang="zh-CN" sz="1200" b="0" i="0"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1" i="1" dirty="0" smtClean="0">
              <a:solidFill>
                <a:srgbClr val="9F1620"/>
              </a:solidFill>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dirty="0" smtClean="0">
                <a:solidFill>
                  <a:srgbClr val="9F1620"/>
                </a:solidFill>
                <a:latin typeface="微软雅黑" panose="020B0503020204020204" pitchFamily="34" charset="-122"/>
                <a:ea typeface="微软雅黑" panose="020B0503020204020204" pitchFamily="34" charset="-122"/>
                <a:cs typeface="+mn-ea"/>
              </a:rPr>
              <a:t>我们总结了驱动了大类资产的收益与风险的主要因素，归纳起来共性的有四点：</a:t>
            </a:r>
            <a:r>
              <a:rPr lang="zh-CN" altLang="en-US" sz="1200" b="1" i="1" kern="0" dirty="0" smtClean="0">
                <a:solidFill>
                  <a:srgbClr val="FFFFFF"/>
                </a:solidFill>
                <a:latin typeface="微软雅黑" pitchFamily="34" charset="-122"/>
                <a:ea typeface="微软雅黑" pitchFamily="34" charset="-122"/>
              </a:rPr>
              <a:t>基本面因素、流动性因素、估值因素、供求交易因素</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货币类资产：资金价格由资金供需所决定，货币政策松紧是关键，决定了资金面的松紧程度</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基本面因素：央行货币政策供给：政策利率、准备金率以及其他数量型工具；实体经济资金需求：经济增速（</a:t>
            </a:r>
            <a:r>
              <a:rPr lang="en-US" altLang="zh-CN" sz="1200" b="1" i="1" kern="0" dirty="0" smtClean="0">
                <a:solidFill>
                  <a:srgbClr val="FFFFFF"/>
                </a:solidFill>
                <a:latin typeface="微软雅黑" pitchFamily="34" charset="-122"/>
                <a:ea typeface="微软雅黑" pitchFamily="34" charset="-122"/>
              </a:rPr>
              <a:t>GDP</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PMI</a:t>
            </a:r>
            <a:r>
              <a:rPr lang="zh-CN" altLang="en-US" sz="1200" b="1" i="1" kern="0" dirty="0" smtClean="0">
                <a:solidFill>
                  <a:srgbClr val="FFFFFF"/>
                </a:solidFill>
                <a:latin typeface="微软雅黑" pitchFamily="34" charset="-122"/>
                <a:ea typeface="微软雅黑" pitchFamily="34" charset="-122"/>
              </a:rPr>
              <a:t>、工业增加值）、</a:t>
            </a:r>
            <a:r>
              <a:rPr lang="en-US" altLang="zh-CN" sz="1200" b="1" i="1" kern="0" dirty="0" smtClean="0">
                <a:solidFill>
                  <a:srgbClr val="FFFFFF"/>
                </a:solidFill>
                <a:latin typeface="微软雅黑" pitchFamily="34" charset="-122"/>
                <a:ea typeface="微软雅黑" pitchFamily="34" charset="-122"/>
              </a:rPr>
              <a:t>CPI</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PPI</a:t>
            </a:r>
            <a:r>
              <a:rPr lang="zh-CN" altLang="en-US" sz="1200" b="1" i="1" kern="0" dirty="0" smtClean="0">
                <a:solidFill>
                  <a:srgbClr val="FFFFFF"/>
                </a:solidFill>
                <a:latin typeface="微软雅黑" pitchFamily="34" charset="-122"/>
                <a:ea typeface="微软雅黑" pitchFamily="34" charset="-122"/>
              </a:rPr>
              <a:t>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a:t>
            </a:r>
            <a:r>
              <a:rPr lang="en-US" altLang="zh-CN" sz="1200" b="1" i="1" kern="0" dirty="0" smtClean="0">
                <a:solidFill>
                  <a:srgbClr val="FFFFFF"/>
                </a:solidFill>
                <a:latin typeface="微软雅黑" pitchFamily="34" charset="-122"/>
                <a:ea typeface="微软雅黑" pitchFamily="34" charset="-122"/>
              </a:rPr>
              <a:t>:  </a:t>
            </a:r>
            <a:r>
              <a:rPr lang="zh-CN" altLang="en-US" sz="1200" b="1" i="1" kern="0" dirty="0" smtClean="0">
                <a:solidFill>
                  <a:srgbClr val="FFFFFF"/>
                </a:solidFill>
                <a:latin typeface="微软雅黑" pitchFamily="34" charset="-122"/>
                <a:ea typeface="微软雅黑" pitchFamily="34" charset="-122"/>
              </a:rPr>
              <a:t>政策利率（</a:t>
            </a:r>
            <a:r>
              <a:rPr lang="en-US" altLang="zh-CN" sz="1200" b="1" i="1" kern="0" dirty="0" smtClean="0">
                <a:solidFill>
                  <a:srgbClr val="FFFFFF"/>
                </a:solidFill>
                <a:latin typeface="微软雅黑" pitchFamily="34" charset="-122"/>
                <a:ea typeface="微软雅黑" pitchFamily="34" charset="-122"/>
              </a:rPr>
              <a:t>LPR</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MLF</a:t>
            </a:r>
            <a:r>
              <a:rPr lang="zh-CN" altLang="en-US" sz="1200" b="1" i="1" kern="0" dirty="0" smtClean="0">
                <a:solidFill>
                  <a:srgbClr val="FFFFFF"/>
                </a:solidFill>
                <a:latin typeface="微软雅黑" pitchFamily="34" charset="-122"/>
                <a:ea typeface="微软雅黑" pitchFamily="34" charset="-122"/>
              </a:rPr>
              <a:t>）、准备金率以及货币政策工具</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估值因素：银行间的隔夜或者</a:t>
            </a:r>
            <a:r>
              <a:rPr lang="en-US" altLang="zh-CN" sz="1200" b="1" i="1" kern="0" dirty="0" smtClean="0">
                <a:solidFill>
                  <a:srgbClr val="FFFFFF"/>
                </a:solidFill>
                <a:latin typeface="微软雅黑" pitchFamily="34" charset="-122"/>
                <a:ea typeface="微软雅黑" pitchFamily="34" charset="-122"/>
              </a:rPr>
              <a:t>7</a:t>
            </a:r>
            <a:r>
              <a:rPr lang="zh-CN" altLang="en-US" sz="1200" b="1" i="1" kern="0" dirty="0" smtClean="0">
                <a:solidFill>
                  <a:srgbClr val="FFFFFF"/>
                </a:solidFill>
                <a:latin typeface="微软雅黑" pitchFamily="34" charset="-122"/>
                <a:ea typeface="微软雅黑" pitchFamily="34" charset="-122"/>
              </a:rPr>
              <a:t>天质押式回购利率等资金利率</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1" kern="0" dirty="0" smtClean="0">
              <a:solidFill>
                <a:srgbClr val="FFFFFF"/>
              </a:solidFill>
              <a:latin typeface="微软雅黑" pitchFamily="34" charset="-122"/>
              <a:ea typeface="微软雅黑"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固收类资产：由基本面（增长和通胀）、流动性以及供求关系所驱动。债券类资产还可以进一步区分为利率债和信用债。</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基本面因素：实体经济增长：</a:t>
            </a:r>
            <a:r>
              <a:rPr lang="en-US" altLang="zh-CN" sz="1200" b="1" i="1" kern="0" dirty="0" smtClean="0">
                <a:solidFill>
                  <a:srgbClr val="FFFFFF"/>
                </a:solidFill>
                <a:latin typeface="微软雅黑" pitchFamily="34" charset="-122"/>
                <a:ea typeface="微软雅黑" pitchFamily="34" charset="-122"/>
              </a:rPr>
              <a:t>GDP</a:t>
            </a:r>
            <a:r>
              <a:rPr lang="zh-CN" altLang="en-US" sz="1200" b="1" i="1" kern="0" dirty="0" smtClean="0">
                <a:solidFill>
                  <a:srgbClr val="FFFFFF"/>
                </a:solidFill>
                <a:latin typeface="微软雅黑" pitchFamily="34" charset="-122"/>
                <a:ea typeface="微软雅黑" pitchFamily="34" charset="-122"/>
              </a:rPr>
              <a:t>增速、</a:t>
            </a:r>
            <a:r>
              <a:rPr lang="en-US" altLang="zh-CN" sz="1200" b="1" i="1" kern="0" dirty="0" smtClean="0">
                <a:solidFill>
                  <a:srgbClr val="FFFFFF"/>
                </a:solidFill>
                <a:latin typeface="微软雅黑" pitchFamily="34" charset="-122"/>
                <a:ea typeface="微软雅黑" pitchFamily="34" charset="-122"/>
              </a:rPr>
              <a:t>PMI</a:t>
            </a:r>
            <a:r>
              <a:rPr lang="zh-CN" altLang="en-US" sz="1200" b="1" i="1" kern="0" dirty="0" smtClean="0">
                <a:solidFill>
                  <a:srgbClr val="FFFFFF"/>
                </a:solidFill>
                <a:latin typeface="微软雅黑" pitchFamily="34" charset="-122"/>
                <a:ea typeface="微软雅黑" pitchFamily="34" charset="-122"/>
              </a:rPr>
              <a:t>、工业增加值；通胀以及预期：</a:t>
            </a:r>
            <a:r>
              <a:rPr lang="en-US" altLang="zh-CN" sz="1200" b="1" i="1" kern="0" dirty="0" smtClean="0">
                <a:solidFill>
                  <a:srgbClr val="FFFFFF"/>
                </a:solidFill>
                <a:latin typeface="微软雅黑" pitchFamily="34" charset="-122"/>
                <a:ea typeface="微软雅黑" pitchFamily="34" charset="-122"/>
              </a:rPr>
              <a:t>CPI</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PPI</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a:t>
            </a:r>
            <a:r>
              <a:rPr lang="en-US" altLang="zh-CN" sz="1200" b="1" i="1" kern="0" dirty="0" smtClean="0">
                <a:solidFill>
                  <a:srgbClr val="FFFFFF"/>
                </a:solidFill>
                <a:latin typeface="微软雅黑" pitchFamily="34" charset="-122"/>
                <a:ea typeface="微软雅黑" pitchFamily="34" charset="-122"/>
              </a:rPr>
              <a:t>: </a:t>
            </a:r>
            <a:r>
              <a:rPr lang="zh-CN" altLang="en-US" sz="1200" b="1" i="1" kern="0" dirty="0" smtClean="0">
                <a:solidFill>
                  <a:srgbClr val="FFFFFF"/>
                </a:solidFill>
                <a:latin typeface="微软雅黑" pitchFamily="34" charset="-122"/>
                <a:ea typeface="微软雅黑" pitchFamily="34" charset="-122"/>
              </a:rPr>
              <a:t>政策利率（</a:t>
            </a:r>
            <a:r>
              <a:rPr lang="en-US" altLang="zh-CN" sz="1200" b="1" i="1" kern="0" dirty="0" smtClean="0">
                <a:solidFill>
                  <a:srgbClr val="FFFFFF"/>
                </a:solidFill>
                <a:latin typeface="微软雅黑" pitchFamily="34" charset="-122"/>
                <a:ea typeface="微软雅黑" pitchFamily="34" charset="-122"/>
              </a:rPr>
              <a:t>LPR</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MLF</a:t>
            </a:r>
            <a:r>
              <a:rPr lang="zh-CN" altLang="en-US" sz="1200" b="1" i="1" kern="0" dirty="0" smtClean="0">
                <a:solidFill>
                  <a:srgbClr val="FFFFFF"/>
                </a:solidFill>
                <a:latin typeface="微软雅黑" pitchFamily="34" charset="-122"/>
                <a:ea typeface="微软雅黑" pitchFamily="34" charset="-122"/>
              </a:rPr>
              <a:t>）、准备金率以及货币政策工具、资金利率</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估值因素：期限利差、信用利差、国别利差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供求交易因素：供给：国债、政策性银行债、地方专项债发行量；需求：银行、基金、保险、券商等配置行为</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1" kern="0" dirty="0" smtClean="0">
              <a:solidFill>
                <a:srgbClr val="FFFFFF"/>
              </a:solidFill>
              <a:latin typeface="微软雅黑" pitchFamily="34" charset="-122"/>
              <a:ea typeface="微软雅黑"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权益类资产：由现金回报（分红等）和资本利得两部分收益构成。而后者即股价涨跌幅，由盈利变动和估值变动两部分组成</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基本面因素：宏观基本面：</a:t>
            </a:r>
            <a:r>
              <a:rPr lang="en-US" altLang="zh-CN" sz="1200" b="1" i="1" kern="0" dirty="0" smtClean="0">
                <a:solidFill>
                  <a:srgbClr val="FFFFFF"/>
                </a:solidFill>
                <a:latin typeface="微软雅黑" pitchFamily="34" charset="-122"/>
                <a:ea typeface="微软雅黑" pitchFamily="34" charset="-122"/>
              </a:rPr>
              <a:t>GDP</a:t>
            </a:r>
            <a:r>
              <a:rPr lang="zh-CN" altLang="en-US" sz="1200" b="1" i="1" kern="0" dirty="0" smtClean="0">
                <a:solidFill>
                  <a:srgbClr val="FFFFFF"/>
                </a:solidFill>
                <a:latin typeface="微软雅黑" pitchFamily="34" charset="-122"/>
                <a:ea typeface="微软雅黑" pitchFamily="34" charset="-122"/>
              </a:rPr>
              <a:t>（投资、消费、出口）、</a:t>
            </a:r>
            <a:r>
              <a:rPr lang="en-US" altLang="zh-CN" sz="1200" b="1" i="1" kern="0" dirty="0" smtClean="0">
                <a:solidFill>
                  <a:srgbClr val="FFFFFF"/>
                </a:solidFill>
                <a:latin typeface="微软雅黑" pitchFamily="34" charset="-122"/>
                <a:ea typeface="微软雅黑" pitchFamily="34" charset="-122"/>
              </a:rPr>
              <a:t>PMI</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CPI</a:t>
            </a:r>
            <a:r>
              <a:rPr lang="zh-CN" altLang="en-US" sz="1200" b="1" i="1" kern="0" dirty="0" smtClean="0">
                <a:solidFill>
                  <a:srgbClr val="FFFFFF"/>
                </a:solidFill>
                <a:latin typeface="微软雅黑" pitchFamily="34" charset="-122"/>
                <a:ea typeface="微软雅黑" pitchFamily="34" charset="-122"/>
              </a:rPr>
              <a:t>、社融；企业盈利：收入、成本、利润、杠杆、现金流等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a:t>
            </a:r>
            <a:r>
              <a:rPr lang="en-US" altLang="zh-CN" sz="1200" b="1" i="1" kern="0" dirty="0" smtClean="0">
                <a:solidFill>
                  <a:srgbClr val="FFFFFF"/>
                </a:solidFill>
                <a:latin typeface="微软雅黑" pitchFamily="34" charset="-122"/>
                <a:ea typeface="微软雅黑" pitchFamily="34" charset="-122"/>
              </a:rPr>
              <a:t>:</a:t>
            </a:r>
            <a:r>
              <a:rPr lang="zh-CN" altLang="en-US" sz="1200" b="1" i="1" kern="0" dirty="0" smtClean="0">
                <a:solidFill>
                  <a:srgbClr val="FFFFFF"/>
                </a:solidFill>
                <a:latin typeface="微软雅黑" pitchFamily="34" charset="-122"/>
                <a:ea typeface="微软雅黑" pitchFamily="34" charset="-122"/>
              </a:rPr>
              <a:t>政策利率（</a:t>
            </a:r>
            <a:r>
              <a:rPr lang="en-US" altLang="zh-CN" sz="1200" b="1" i="1" kern="0" dirty="0" smtClean="0">
                <a:solidFill>
                  <a:srgbClr val="FFFFFF"/>
                </a:solidFill>
                <a:latin typeface="微软雅黑" pitchFamily="34" charset="-122"/>
                <a:ea typeface="微软雅黑" pitchFamily="34" charset="-122"/>
              </a:rPr>
              <a:t>LPR</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MLF</a:t>
            </a:r>
            <a:r>
              <a:rPr lang="zh-CN" altLang="en-US" sz="1200" b="1" i="1" kern="0" dirty="0" smtClean="0">
                <a:solidFill>
                  <a:srgbClr val="FFFFFF"/>
                </a:solidFill>
                <a:latin typeface="微软雅黑" pitchFamily="34" charset="-122"/>
                <a:ea typeface="微软雅黑" pitchFamily="34" charset="-122"/>
              </a:rPr>
              <a:t>）、准备金率以及货币政策工具、资金利率、国债收益率等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估值因素：绝对估值：</a:t>
            </a:r>
            <a:r>
              <a:rPr lang="en-US" altLang="zh-CN" sz="1200" b="1" i="1" kern="0" dirty="0" smtClean="0">
                <a:solidFill>
                  <a:srgbClr val="FFFFFF"/>
                </a:solidFill>
                <a:latin typeface="微软雅黑" pitchFamily="34" charset="-122"/>
                <a:ea typeface="微软雅黑" pitchFamily="34" charset="-122"/>
              </a:rPr>
              <a:t>PE</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PB</a:t>
            </a:r>
            <a:r>
              <a:rPr lang="zh-CN" altLang="en-US" sz="1200" b="1" i="1" kern="0" dirty="0" smtClean="0">
                <a:solidFill>
                  <a:srgbClr val="FFFFFF"/>
                </a:solidFill>
                <a:latin typeface="微软雅黑" pitchFamily="34" charset="-122"/>
                <a:ea typeface="微软雅黑" pitchFamily="34" charset="-122"/>
              </a:rPr>
              <a:t>、</a:t>
            </a:r>
            <a:r>
              <a:rPr lang="en-US" altLang="zh-CN" sz="1200" b="1" i="1" kern="0" dirty="0" smtClean="0">
                <a:solidFill>
                  <a:srgbClr val="FFFFFF"/>
                </a:solidFill>
                <a:latin typeface="微软雅黑" pitchFamily="34" charset="-122"/>
                <a:ea typeface="微软雅黑" pitchFamily="34" charset="-122"/>
              </a:rPr>
              <a:t>PS</a:t>
            </a:r>
            <a:r>
              <a:rPr lang="zh-CN" altLang="en-US" sz="1200" b="1" i="1" kern="0" dirty="0" smtClean="0">
                <a:solidFill>
                  <a:srgbClr val="FFFFFF"/>
                </a:solidFill>
                <a:latin typeface="微软雅黑" pitchFamily="34" charset="-122"/>
                <a:ea typeface="微软雅黑" pitchFamily="34" charset="-122"/>
              </a:rPr>
              <a:t>、股息率、</a:t>
            </a:r>
            <a:r>
              <a:rPr lang="en-US" altLang="zh-CN" sz="1200" b="1" i="1" kern="0" dirty="0" smtClean="0">
                <a:solidFill>
                  <a:srgbClr val="FFFFFF"/>
                </a:solidFill>
                <a:latin typeface="微软雅黑" pitchFamily="34" charset="-122"/>
                <a:ea typeface="微软雅黑" pitchFamily="34" charset="-122"/>
              </a:rPr>
              <a:t>PEG</a:t>
            </a:r>
            <a:r>
              <a:rPr lang="zh-CN" altLang="en-US" sz="1200" b="1" i="1" kern="0" dirty="0" smtClean="0">
                <a:solidFill>
                  <a:srgbClr val="FFFFFF"/>
                </a:solidFill>
                <a:latin typeface="微软雅黑" pitchFamily="34" charset="-122"/>
                <a:ea typeface="微软雅黑" pitchFamily="34" charset="-122"/>
              </a:rPr>
              <a:t>；相对估值：股权风险溢价、</a:t>
            </a:r>
            <a:r>
              <a:rPr lang="en-US" altLang="zh-CN" sz="1200" b="1" i="1" kern="0" dirty="0" smtClean="0">
                <a:solidFill>
                  <a:srgbClr val="FFFFFF"/>
                </a:solidFill>
                <a:latin typeface="微软雅黑" pitchFamily="34" charset="-122"/>
                <a:ea typeface="微软雅黑" pitchFamily="34" charset="-122"/>
              </a:rPr>
              <a:t>A-H</a:t>
            </a:r>
            <a:r>
              <a:rPr lang="zh-CN" altLang="en-US" sz="1200" b="1" i="1" kern="0" dirty="0" smtClean="0">
                <a:solidFill>
                  <a:srgbClr val="FFFFFF"/>
                </a:solidFill>
                <a:latin typeface="微软雅黑" pitchFamily="34" charset="-122"/>
                <a:ea typeface="微软雅黑" pitchFamily="34" charset="-122"/>
              </a:rPr>
              <a:t>溢价等；情绪指标：换手率、超卖超买、</a:t>
            </a:r>
            <a:r>
              <a:rPr lang="en-US" altLang="zh-CN" sz="1200" b="1" i="1" kern="0" dirty="0" smtClean="0">
                <a:solidFill>
                  <a:srgbClr val="FFFFFF"/>
                </a:solidFill>
                <a:latin typeface="微软雅黑" pitchFamily="34" charset="-122"/>
                <a:ea typeface="微软雅黑" pitchFamily="34" charset="-122"/>
              </a:rPr>
              <a:t>MA60</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供求交易因素：供给：</a:t>
            </a:r>
            <a:r>
              <a:rPr lang="en-US" altLang="zh-CN" sz="1200" b="1" i="1" kern="0" dirty="0" smtClean="0">
                <a:solidFill>
                  <a:srgbClr val="FFFFFF"/>
                </a:solidFill>
                <a:latin typeface="微软雅黑" pitchFamily="34" charset="-122"/>
                <a:ea typeface="微软雅黑" pitchFamily="34" charset="-122"/>
              </a:rPr>
              <a:t>IPO</a:t>
            </a:r>
            <a:r>
              <a:rPr lang="zh-CN" altLang="en-US" sz="1200" b="1" i="1" kern="0" dirty="0" smtClean="0">
                <a:solidFill>
                  <a:srgbClr val="FFFFFF"/>
                </a:solidFill>
                <a:latin typeface="微软雅黑" pitchFamily="34" charset="-122"/>
                <a:ea typeface="微软雅黑" pitchFamily="34" charset="-122"/>
              </a:rPr>
              <a:t>、定增、限售股解禁等；需求：基金、外资、保险、私募等机构行为等</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1" kern="0" dirty="0" smtClean="0">
              <a:solidFill>
                <a:srgbClr val="FFFFFF"/>
              </a:solidFill>
              <a:latin typeface="微软雅黑" pitchFamily="34" charset="-122"/>
              <a:ea typeface="微软雅黑"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商品资产：商品兼备商品属性和金融属性。商品属性指作为实物的供需结构，长期需求是更为决定性的因素，而短期供给会对商品价格形成明显的扰动。金融属性指商品作为资产为持有人提供保值、增值和资金融通等功能的属性，往往与宏观因素有关，如汇率、政治、经济等。</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基本面因素：各类产品自身供需格局；需求：全球主要经济体消费、投资增速等；供给：主要大宗商品产能、产量、资本开支等；库存水平、增速等；黄金：美国国债实际利率水平：美国</a:t>
            </a:r>
            <a:r>
              <a:rPr lang="en-US" altLang="zh-CN" sz="1200" b="1" i="1" kern="0" dirty="0" smtClean="0">
                <a:solidFill>
                  <a:srgbClr val="FFFFFF"/>
                </a:solidFill>
                <a:latin typeface="微软雅黑" pitchFamily="34" charset="-122"/>
                <a:ea typeface="微软雅黑" pitchFamily="34" charset="-122"/>
              </a:rPr>
              <a:t>10</a:t>
            </a:r>
            <a:r>
              <a:rPr lang="zh-CN" altLang="en-US" sz="1200" b="1" i="1" kern="0" dirty="0" smtClean="0">
                <a:solidFill>
                  <a:srgbClr val="FFFFFF"/>
                </a:solidFill>
                <a:latin typeface="微软雅黑" pitchFamily="34" charset="-122"/>
                <a:ea typeface="微软雅黑" pitchFamily="34" charset="-122"/>
              </a:rPr>
              <a:t>年期国债收益率</a:t>
            </a:r>
            <a:r>
              <a:rPr lang="en-US" altLang="zh-CN" sz="1200" b="1" i="1" kern="0" dirty="0" smtClean="0">
                <a:solidFill>
                  <a:srgbClr val="FFFFFF"/>
                </a:solidFill>
                <a:latin typeface="微软雅黑" pitchFamily="34" charset="-122"/>
                <a:ea typeface="微软雅黑" pitchFamily="34" charset="-122"/>
              </a:rPr>
              <a:t>-10</a:t>
            </a:r>
            <a:r>
              <a:rPr lang="zh-CN" altLang="en-US" sz="1200" b="1" i="1" kern="0" dirty="0" smtClean="0">
                <a:solidFill>
                  <a:srgbClr val="FFFFFF"/>
                </a:solidFill>
                <a:latin typeface="微软雅黑" pitchFamily="34" charset="-122"/>
                <a:ea typeface="微软雅黑" pitchFamily="34" charset="-122"/>
              </a:rPr>
              <a:t>年通胀预期</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a:t>
            </a:r>
            <a:r>
              <a:rPr lang="en-US" altLang="zh-CN" sz="1200" b="1" i="1" kern="0" dirty="0" smtClean="0">
                <a:solidFill>
                  <a:srgbClr val="FFFFFF"/>
                </a:solidFill>
                <a:latin typeface="微软雅黑" pitchFamily="34" charset="-122"/>
                <a:ea typeface="微软雅黑" pitchFamily="34" charset="-122"/>
              </a:rPr>
              <a:t>:</a:t>
            </a:r>
            <a:r>
              <a:rPr lang="zh-CN" altLang="en-US" sz="1200" b="1" i="1" kern="0" dirty="0" smtClean="0">
                <a:solidFill>
                  <a:srgbClr val="FFFFFF"/>
                </a:solidFill>
                <a:latin typeface="微软雅黑" pitchFamily="34" charset="-122"/>
                <a:ea typeface="微软雅黑" pitchFamily="34" charset="-122"/>
              </a:rPr>
              <a:t>全球央行货币政策松紧变化，如美、欧、日、中联储政策利率变化、资产负债表变化</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估值因素：相对估值：铜油比、金油比。黄金：铜金比、美元、美债实际利率、全球负利率债券规模</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供求交易因素：需求：全球主要经济体消费、投资增速、地缘政治、金融经济危机、突发事件；供给：主要大宗商品产能、产量、资本开支等；库存水平和增速、央行、主权基金行为</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1" kern="0" dirty="0" smtClean="0">
              <a:solidFill>
                <a:srgbClr val="FFFFFF"/>
              </a:solidFill>
              <a:latin typeface="微软雅黑" pitchFamily="34" charset="-122"/>
              <a:ea typeface="微软雅黑"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i="1" kern="0" dirty="0" smtClean="0">
                <a:solidFill>
                  <a:srgbClr val="FFFFFF"/>
                </a:solidFill>
                <a:latin typeface="微软雅黑" pitchFamily="34" charset="-122"/>
                <a:ea typeface="微软雅黑" pitchFamily="34" charset="-122"/>
              </a:rPr>
              <a:t>QDII:</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基本面因素：经济强弱、通胀、就业、企业盈利、政策目标</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流动性因素：市场资金松紧、利率水平、货币宽松 </a:t>
            </a:r>
            <a:r>
              <a:rPr lang="en-US" altLang="zh-CN" sz="1200" b="1" i="1" kern="0" dirty="0" smtClean="0">
                <a:solidFill>
                  <a:srgbClr val="FFFFFF"/>
                </a:solidFill>
                <a:latin typeface="微软雅黑" pitchFamily="34" charset="-122"/>
                <a:ea typeface="微软雅黑" pitchFamily="34" charset="-122"/>
              </a:rPr>
              <a:t>/ </a:t>
            </a:r>
            <a:r>
              <a:rPr lang="zh-CN" altLang="en-US" sz="1200" b="1" i="1" kern="0" dirty="0" smtClean="0">
                <a:solidFill>
                  <a:srgbClr val="FFFFFF"/>
                </a:solidFill>
                <a:latin typeface="微软雅黑" pitchFamily="34" charset="-122"/>
                <a:ea typeface="微软雅黑" pitchFamily="34" charset="-122"/>
              </a:rPr>
              <a:t>紧缩</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估值因素：相对估值、绝对估值、风险溢价、比价关系</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1" kern="0" dirty="0" smtClean="0">
                <a:solidFill>
                  <a:srgbClr val="FFFFFF"/>
                </a:solidFill>
                <a:latin typeface="微软雅黑" pitchFamily="34" charset="-122"/>
                <a:ea typeface="微软雅黑" pitchFamily="34" charset="-122"/>
              </a:rPr>
              <a:t>供求交易因素：买卖力量、机构行为、资金流向、衍生品、情绪</a:t>
            </a:r>
            <a:endParaRPr lang="zh-CN" altLang="en-US" i="1"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i="1"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11</a:t>
            </a:fld>
            <a:endParaRPr lang="zh-CN" altLang="en-US"/>
          </a:p>
        </p:txBody>
      </p:sp>
    </p:spTree>
    <p:extLst>
      <p:ext uri="{BB962C8B-B14F-4D97-AF65-F5344CB8AC3E}">
        <p14:creationId xmlns:p14="http://schemas.microsoft.com/office/powerpoint/2010/main" val="3968302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首先选基模型的表现需要一个锚来判定这个模型的效果的好坏。</a:t>
            </a:r>
            <a:endParaRPr lang="en-US" altLang="zh-CN" dirty="0" smtClean="0"/>
          </a:p>
          <a:p>
            <a:r>
              <a:rPr lang="zh-CN" altLang="en-US" dirty="0" smtClean="0"/>
              <a:t>我们定的目标是，模型选出的组合要能长期战胜</a:t>
            </a:r>
            <a:r>
              <a:rPr lang="en-US" altLang="zh-CN" dirty="0" smtClean="0"/>
              <a:t>930950</a:t>
            </a:r>
            <a:r>
              <a:rPr lang="zh-CN" altLang="en-US" dirty="0" smtClean="0"/>
              <a:t>这个偏股基金指数。</a:t>
            </a:r>
            <a:endParaRPr lang="en-US" altLang="zh-CN" dirty="0" smtClean="0"/>
          </a:p>
          <a:p>
            <a:r>
              <a:rPr lang="zh-CN" altLang="en-US" dirty="0" smtClean="0"/>
              <a:t>因为我们研究发现，如果能长期跟住甚至战胜这个基金指数的收益，可以获取长期的较好的年度收益的同时，也可以获得好的相对收益。</a:t>
            </a:r>
            <a:endParaRPr lang="en-US" altLang="zh-CN" dirty="0" smtClean="0"/>
          </a:p>
          <a:p>
            <a:endParaRPr lang="en-US" altLang="zh-CN" dirty="0" smtClean="0"/>
          </a:p>
          <a:p>
            <a:r>
              <a:rPr lang="zh-CN" altLang="en-US" dirty="0" smtClean="0"/>
              <a:t>左上图展示的是在过去</a:t>
            </a:r>
            <a:r>
              <a:rPr lang="en-US" altLang="zh-CN" dirty="0" smtClean="0"/>
              <a:t>5</a:t>
            </a:r>
            <a:r>
              <a:rPr lang="zh-CN" altLang="en-US" dirty="0" smtClean="0"/>
              <a:t>年区间全市场的权益类基金的收益率和偏股基金指数的收益率的比较结果。</a:t>
            </a:r>
            <a:endParaRPr lang="en-US" altLang="zh-CN" dirty="0" smtClean="0"/>
          </a:p>
          <a:p>
            <a:r>
              <a:rPr lang="zh-CN" altLang="en-US" dirty="0" smtClean="0"/>
              <a:t>可以看到，总体来看只有大概一半多的权益基金的收益率能够超越偏股基金指数，</a:t>
            </a:r>
            <a:endParaRPr lang="en-US" altLang="zh-CN" dirty="0" smtClean="0"/>
          </a:p>
          <a:p>
            <a:r>
              <a:rPr lang="zh-CN" altLang="en-US" dirty="0" smtClean="0"/>
              <a:t>如果我们收紧筛选条件，把它定为过去</a:t>
            </a:r>
            <a:r>
              <a:rPr lang="en-US" altLang="zh-CN" dirty="0" smtClean="0"/>
              <a:t>5</a:t>
            </a:r>
            <a:r>
              <a:rPr lang="zh-CN" altLang="en-US" dirty="0" smtClean="0"/>
              <a:t>年每个年度都能战胜偏股基金指数的权益基金的数量和比例，可以看到，右下的图，那</a:t>
            </a:r>
            <a:r>
              <a:rPr lang="en-US" altLang="zh-CN" dirty="0" smtClean="0"/>
              <a:t>5</a:t>
            </a:r>
            <a:r>
              <a:rPr lang="zh-CN" altLang="en-US" dirty="0" smtClean="0"/>
              <a:t>年累计下来就只有</a:t>
            </a:r>
            <a:r>
              <a:rPr lang="en-US" altLang="zh-CN" dirty="0" smtClean="0"/>
              <a:t>3%</a:t>
            </a:r>
            <a:r>
              <a:rPr lang="zh-CN" altLang="en-US" dirty="0" smtClean="0"/>
              <a:t>左右的权益基金能达到每年都战胜指数的效果了。</a:t>
            </a:r>
            <a:endParaRPr lang="en-US" altLang="zh-CN" dirty="0" smtClean="0"/>
          </a:p>
          <a:p>
            <a:endParaRPr lang="en-US" altLang="zh-CN" dirty="0" smtClean="0"/>
          </a:p>
          <a:p>
            <a:r>
              <a:rPr lang="zh-CN" altLang="en-US" dirty="0" smtClean="0"/>
              <a:t>那右边这个图，展示的是过去近十年偏股基金指数每个年度和全市场权益基金的收益比较的结果，可以看到每年几乎都排在</a:t>
            </a:r>
            <a:r>
              <a:rPr lang="en-US" altLang="zh-CN" dirty="0" smtClean="0"/>
              <a:t>50%</a:t>
            </a:r>
            <a:r>
              <a:rPr lang="zh-CN" altLang="en-US" dirty="0" smtClean="0"/>
              <a:t>左右的位置。</a:t>
            </a:r>
            <a:endParaRPr lang="en-US" altLang="zh-CN" dirty="0" smtClean="0"/>
          </a:p>
          <a:p>
            <a:endParaRPr lang="en-US" altLang="zh-CN" dirty="0" smtClean="0"/>
          </a:p>
          <a:p>
            <a:r>
              <a:rPr lang="zh-CN" altLang="en-US" dirty="0" smtClean="0"/>
              <a:t>也就是说，如果每年都能够跟上甚至战胜这个基金指数的收益，可以给投资者带来很好的持有体验，并且能够获得较好的相对收益，而且偏股基金指数的年化收益在</a:t>
            </a:r>
            <a:r>
              <a:rPr lang="en-US" altLang="zh-CN" dirty="0" smtClean="0"/>
              <a:t>10%</a:t>
            </a:r>
            <a:r>
              <a:rPr lang="zh-CN" altLang="en-US" dirty="0" smtClean="0"/>
              <a:t>左右，也能得到较好的长期绝对收益。</a:t>
            </a:r>
            <a:endParaRPr lang="en-US" altLang="zh-CN"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12</a:t>
            </a:fld>
            <a:endParaRPr lang="zh-CN" altLang="en-US"/>
          </a:p>
        </p:txBody>
      </p:sp>
    </p:spTree>
    <p:extLst>
      <p:ext uri="{BB962C8B-B14F-4D97-AF65-F5344CB8AC3E}">
        <p14:creationId xmlns:p14="http://schemas.microsoft.com/office/powerpoint/2010/main" val="2510585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13</a:t>
            </a:fld>
            <a:endParaRPr lang="zh-CN" altLang="en-US"/>
          </a:p>
        </p:txBody>
      </p:sp>
    </p:spTree>
    <p:extLst>
      <p:ext uri="{BB962C8B-B14F-4D97-AF65-F5344CB8AC3E}">
        <p14:creationId xmlns:p14="http://schemas.microsoft.com/office/powerpoint/2010/main" val="780282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14</a:t>
            </a:fld>
            <a:endParaRPr lang="zh-CN" altLang="en-US"/>
          </a:p>
        </p:txBody>
      </p:sp>
    </p:spTree>
    <p:extLst>
      <p:ext uri="{BB962C8B-B14F-4D97-AF65-F5344CB8AC3E}">
        <p14:creationId xmlns:p14="http://schemas.microsoft.com/office/powerpoint/2010/main" val="630546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那模型效果如何呢？</a:t>
            </a:r>
            <a:endParaRPr lang="en-US" altLang="zh-CN" dirty="0" smtClean="0"/>
          </a:p>
          <a:p>
            <a:endParaRPr lang="en-US" altLang="zh-CN" dirty="0" smtClean="0"/>
          </a:p>
          <a:p>
            <a:r>
              <a:rPr lang="zh-CN" altLang="en-US" dirty="0" smtClean="0"/>
              <a:t>这是净值走势和偏股基金的走势比较。</a:t>
            </a:r>
            <a:endParaRPr lang="en-US" altLang="zh-CN" dirty="0" smtClean="0"/>
          </a:p>
          <a:p>
            <a:r>
              <a:rPr lang="zh-CN" altLang="en-US" dirty="0" smtClean="0"/>
              <a:t>因为合规要求不能展示模型的具体的收益和风险数据，那我来口诉一下模型的效果。</a:t>
            </a:r>
            <a:endParaRPr lang="en-US" altLang="zh-CN" dirty="0" smtClean="0"/>
          </a:p>
          <a:p>
            <a:r>
              <a:rPr lang="zh-CN" altLang="en-US" dirty="0" smtClean="0"/>
              <a:t>从</a:t>
            </a:r>
            <a:r>
              <a:rPr lang="en-US" altLang="zh-CN" dirty="0" smtClean="0"/>
              <a:t>2017</a:t>
            </a:r>
            <a:r>
              <a:rPr lang="zh-CN" altLang="en-US" dirty="0" smtClean="0"/>
              <a:t>年到</a:t>
            </a:r>
            <a:r>
              <a:rPr lang="en-US" altLang="zh-CN" dirty="0" smtClean="0"/>
              <a:t>2025</a:t>
            </a:r>
            <a:r>
              <a:rPr lang="zh-CN" altLang="en-US" dirty="0" smtClean="0"/>
              <a:t>年的每个年度，包括</a:t>
            </a:r>
            <a:r>
              <a:rPr lang="en-US" altLang="zh-CN" dirty="0" smtClean="0"/>
              <a:t>2026</a:t>
            </a:r>
            <a:r>
              <a:rPr lang="zh-CN" altLang="en-US" dirty="0" smtClean="0"/>
              <a:t>年至今，相对偏股基金都是由超额收益的，累计下来年化的超额收益将近</a:t>
            </a:r>
            <a:r>
              <a:rPr lang="en-US" altLang="zh-CN" dirty="0" smtClean="0"/>
              <a:t>6%</a:t>
            </a:r>
            <a:r>
              <a:rPr lang="zh-CN" altLang="en-US" dirty="0" smtClean="0"/>
              <a:t>。</a:t>
            </a:r>
            <a:endParaRPr lang="en-US" altLang="zh-CN" dirty="0" smtClean="0"/>
          </a:p>
          <a:p>
            <a:r>
              <a:rPr lang="zh-CN" altLang="en-US" dirty="0" smtClean="0"/>
              <a:t>而且在日度、周度、月度的胜率上都在</a:t>
            </a:r>
            <a:r>
              <a:rPr lang="en-US" altLang="zh-CN" dirty="0" smtClean="0"/>
              <a:t>50%-60%</a:t>
            </a:r>
            <a:r>
              <a:rPr lang="zh-CN" altLang="en-US" dirty="0" smtClean="0"/>
              <a:t>之间</a:t>
            </a:r>
            <a:endParaRPr lang="en-US" altLang="zh-CN" dirty="0" smtClean="0"/>
          </a:p>
          <a:p>
            <a:endParaRPr lang="en-US" altLang="zh-CN" dirty="0" smtClean="0"/>
          </a:p>
          <a:p>
            <a:endParaRPr lang="en-US" altLang="zh-CN" dirty="0" smtClean="0"/>
          </a:p>
          <a:p>
            <a:r>
              <a:rPr lang="zh-CN" altLang="en-US" dirty="0" smtClean="0"/>
              <a:t>这是模型选出的一个行业中性组合，也就是在每一期的备选池之中，选出和指数相比行业配置偏离最小化的组合，行业偏离都控制在大概</a:t>
            </a:r>
            <a:r>
              <a:rPr lang="en-US" altLang="zh-CN" dirty="0" smtClean="0"/>
              <a:t>5%</a:t>
            </a:r>
            <a:r>
              <a:rPr lang="zh-CN" altLang="en-US" dirty="0" smtClean="0"/>
              <a:t>以内，也就是说超额收益主要来源是基金经理的选股能力，在行业配置大致相同的情况下，由基金经理的选股能力所获得的</a:t>
            </a:r>
            <a:r>
              <a:rPr lang="en-US" altLang="zh-CN" dirty="0" smtClean="0"/>
              <a:t>alpha</a:t>
            </a:r>
            <a:r>
              <a:rPr lang="zh-CN" altLang="en-US" dirty="0" smtClean="0"/>
              <a:t>。</a:t>
            </a:r>
            <a:endParaRPr lang="en-US" altLang="zh-CN" dirty="0" smtClean="0"/>
          </a:p>
          <a:p>
            <a:r>
              <a:rPr lang="zh-CN" altLang="en-US" dirty="0" smtClean="0"/>
              <a:t>模型还可以根据不同的产品的需求调整行业偏离的程度，比如如果把单个行业比例配置上限放宽到</a:t>
            </a:r>
            <a:r>
              <a:rPr lang="en-US" altLang="zh-CN" dirty="0" smtClean="0"/>
              <a:t>20%</a:t>
            </a:r>
            <a:r>
              <a:rPr lang="zh-CN" altLang="en-US" dirty="0" smtClean="0"/>
              <a:t>，那年化超额收益能够增加</a:t>
            </a:r>
            <a:r>
              <a:rPr lang="en-US" altLang="zh-CN" dirty="0" smtClean="0"/>
              <a:t>2-3%</a:t>
            </a:r>
            <a:r>
              <a:rPr lang="zh-CN" altLang="en-US" dirty="0" smtClean="0"/>
              <a:t>，不过放大行业偏离度，可以在长时间维度上获取行业超配的超额收益，但是也会增加超额收益的波动率，会导致比如某个年度持续跑输偏股基金指数。</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15</a:t>
            </a:fld>
            <a:endParaRPr lang="zh-CN" altLang="en-US"/>
          </a:p>
        </p:txBody>
      </p:sp>
    </p:spTree>
    <p:extLst>
      <p:ext uri="{BB962C8B-B14F-4D97-AF65-F5344CB8AC3E}">
        <p14:creationId xmlns:p14="http://schemas.microsoft.com/office/powerpoint/2010/main" val="259056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我使用的机器学习选基模型，简单来说就是右边这个图显示的，当然，这个展示的是特征如果只有</a:t>
            </a:r>
            <a:r>
              <a:rPr lang="en-US" altLang="zh-CN" dirty="0" smtClean="0"/>
              <a:t>3</a:t>
            </a:r>
            <a:r>
              <a:rPr lang="zh-CN" altLang="en-US" dirty="0" smtClean="0"/>
              <a:t>个的情况下，在三维空间之中找到一个平面去区分选择出表现优秀的前</a:t>
            </a:r>
            <a:r>
              <a:rPr lang="en-US" altLang="zh-CN" dirty="0" smtClean="0"/>
              <a:t>N</a:t>
            </a:r>
            <a:r>
              <a:rPr lang="zh-CN" altLang="en-US" dirty="0" smtClean="0"/>
              <a:t>支基金。如果特征超过</a:t>
            </a:r>
            <a:r>
              <a:rPr lang="en-US" altLang="zh-CN" dirty="0" smtClean="0"/>
              <a:t>3</a:t>
            </a:r>
            <a:r>
              <a:rPr lang="zh-CN" altLang="en-US" dirty="0" smtClean="0"/>
              <a:t>个的时候，那就是在多维度空间去寻找一个超平面来达到选基效果。</a:t>
            </a:r>
            <a:endParaRPr lang="en-US" altLang="zh-CN" dirty="0" smtClean="0"/>
          </a:p>
          <a:p>
            <a:endParaRPr lang="en-US" altLang="zh-CN" dirty="0" smtClean="0"/>
          </a:p>
          <a:p>
            <a:r>
              <a:rPr lang="zh-CN" altLang="en-US" dirty="0" smtClean="0"/>
              <a:t>选择这个模型和传统的线性回归模型优势主要有三个：</a:t>
            </a:r>
            <a:endParaRPr lang="en-US" altLang="zh-CN" dirty="0" smtClean="0"/>
          </a:p>
          <a:p>
            <a:r>
              <a:rPr lang="en-US" altLang="zh-CN" dirty="0" smtClean="0"/>
              <a:t>1.</a:t>
            </a:r>
            <a:r>
              <a:rPr lang="zh-CN" altLang="en-US" dirty="0" smtClean="0"/>
              <a:t>更契合“分类”而非“预测”的投资逻辑</a:t>
            </a:r>
          </a:p>
          <a:p>
            <a:r>
              <a:rPr lang="zh-CN" altLang="en-US" dirty="0" smtClean="0"/>
              <a:t>在实际的投资组合构建中，我们往往不需要精准预测某只标的下个月的绝对收益率究竟是 </a:t>
            </a:r>
            <a:r>
              <a:rPr lang="en-US" altLang="zh-CN" dirty="0" smtClean="0"/>
              <a:t>2.1% </a:t>
            </a:r>
            <a:r>
              <a:rPr lang="zh-CN" altLang="en-US" dirty="0" smtClean="0"/>
              <a:t>还是 </a:t>
            </a:r>
            <a:r>
              <a:rPr lang="en-US" altLang="zh-CN" dirty="0" smtClean="0"/>
              <a:t>2.3%</a:t>
            </a:r>
            <a:r>
              <a:rPr lang="zh-CN" altLang="en-US" dirty="0" smtClean="0"/>
              <a:t>。我们更关心的是横截面上的相对强弱</a:t>
            </a:r>
            <a:r>
              <a:rPr lang="en-US" altLang="zh-CN" dirty="0" smtClean="0"/>
              <a:t>——</a:t>
            </a:r>
            <a:r>
              <a:rPr lang="zh-CN" altLang="en-US" dirty="0" smtClean="0"/>
              <a:t>例如，它能否进入前 </a:t>
            </a:r>
            <a:r>
              <a:rPr lang="en-US" altLang="zh-CN" dirty="0" smtClean="0"/>
              <a:t>20% </a:t>
            </a:r>
            <a:r>
              <a:rPr lang="zh-CN" altLang="en-US" dirty="0" smtClean="0"/>
              <a:t>的“多头池”（</a:t>
            </a:r>
            <a:r>
              <a:rPr lang="en-US" altLang="zh-CN" dirty="0" smtClean="0"/>
              <a:t>Top Quintile</a:t>
            </a:r>
            <a:r>
              <a:rPr lang="zh-CN" altLang="en-US" dirty="0" smtClean="0"/>
              <a:t>），或者跑赢特定的宽基指数。</a:t>
            </a:r>
            <a:r>
              <a:rPr lang="en-US" altLang="zh-CN" dirty="0" smtClean="0"/>
              <a:t>SVM</a:t>
            </a:r>
            <a:r>
              <a:rPr lang="zh-CN" altLang="en-US" dirty="0" smtClean="0"/>
              <a:t>作为一种原生的强分类器（</a:t>
            </a:r>
            <a:r>
              <a:rPr lang="en-US" altLang="zh-CN" dirty="0" smtClean="0"/>
              <a:t>SVC</a:t>
            </a:r>
            <a:r>
              <a:rPr lang="zh-CN" altLang="en-US" dirty="0" smtClean="0"/>
              <a:t>），在处理这种离散状态的边界划分时，往往比用连续预测再人为切分的回归模型更加准确。</a:t>
            </a:r>
            <a:endParaRPr lang="en-US" altLang="zh-CN" dirty="0" smtClean="0"/>
          </a:p>
          <a:p>
            <a:r>
              <a:rPr lang="en-US" altLang="zh-CN" dirty="0" smtClean="0"/>
              <a:t>2.</a:t>
            </a:r>
            <a:r>
              <a:rPr lang="zh-CN" altLang="en-US" dirty="0" smtClean="0"/>
              <a:t>对非线性的处理：显式定义 </a:t>
            </a:r>
            <a:r>
              <a:rPr lang="en-US" altLang="zh-CN" dirty="0" smtClean="0"/>
              <a:t>vs. </a:t>
            </a:r>
            <a:r>
              <a:rPr lang="zh-CN" altLang="en-US" dirty="0" smtClean="0"/>
              <a:t>隐式映射</a:t>
            </a:r>
          </a:p>
          <a:p>
            <a:r>
              <a:rPr lang="zh-CN" altLang="en-US" dirty="0" smtClean="0"/>
              <a:t>传统回归： 本质上是线性的。如果因变量和自变量之间存在非线性关系，通常需要人工进行优化。</a:t>
            </a:r>
          </a:p>
          <a:p>
            <a:r>
              <a:rPr lang="en-US" altLang="zh-CN" dirty="0" smtClean="0"/>
              <a:t>SVM</a:t>
            </a:r>
            <a:r>
              <a:rPr lang="zh-CN" altLang="en-US" dirty="0" smtClean="0"/>
              <a:t>模型： 可以把量价特征映射到无限维的高维空间，让原本非线性的数据就变得线性可分了。</a:t>
            </a:r>
            <a:endParaRPr lang="en-US" altLang="zh-CN" dirty="0" smtClean="0"/>
          </a:p>
          <a:p>
            <a:r>
              <a:rPr lang="en-US" altLang="zh-CN" dirty="0" smtClean="0"/>
              <a:t>3.</a:t>
            </a:r>
            <a:r>
              <a:rPr lang="zh-CN" altLang="en-US" dirty="0" smtClean="0"/>
              <a:t>对数据分布的敏感度</a:t>
            </a:r>
          </a:p>
          <a:p>
            <a:r>
              <a:rPr lang="zh-CN" altLang="en-US" dirty="0" smtClean="0"/>
              <a:t>传统回归： 会受到所有样本点的影响。由于金融市场数据呈现典型的“尖峰肥尾”特征，少量的极端异常收益往往会大幅度扭曲回归直线的斜率。</a:t>
            </a:r>
          </a:p>
          <a:p>
            <a:r>
              <a:rPr lang="en-US" altLang="zh-CN" dirty="0" smtClean="0"/>
              <a:t>SVM</a:t>
            </a:r>
            <a:r>
              <a:rPr lang="zh-CN" altLang="en-US" dirty="0" smtClean="0"/>
              <a:t>模型： 它的决策边界由距离边界最近的少数几个关键样本点决定。对于那些远离边界、特征极其极端的“噪音点”或非常安全的分类点，函数不予理会，对金融市场的极端离群值具有极强的适应性。</a:t>
            </a:r>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16</a:t>
            </a:fld>
            <a:endParaRPr lang="zh-CN" altLang="en-US"/>
          </a:p>
        </p:txBody>
      </p:sp>
    </p:spTree>
    <p:extLst>
      <p:ext uri="{BB962C8B-B14F-4D97-AF65-F5344CB8AC3E}">
        <p14:creationId xmlns:p14="http://schemas.microsoft.com/office/powerpoint/2010/main" val="2227644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在使用量化筛选的方式得到初始基金组合以及基金备选池之后，在最终确认基金组合之前，还需要对基金进行全方位多维度的评价。</a:t>
            </a:r>
            <a:endParaRPr lang="en-US" altLang="zh-CN" dirty="0" smtClean="0"/>
          </a:p>
          <a:p>
            <a:endParaRPr lang="en-US" altLang="zh-CN" dirty="0" smtClean="0"/>
          </a:p>
          <a:p>
            <a:r>
              <a:rPr lang="zh-CN" altLang="en-US" dirty="0" smtClean="0"/>
              <a:t>做一个类比，左边的图是梅西年轻的时候的能力图，可以看到一个顶级前锋在攻击方面的能力是超越平均水平的，那同样的，我也希望组合中的基金也都是这种优秀的产品。</a:t>
            </a:r>
            <a:endParaRPr lang="en-US" altLang="zh-CN" dirty="0" smtClean="0"/>
          </a:p>
          <a:p>
            <a:endParaRPr lang="en-US" altLang="zh-CN" dirty="0" smtClean="0"/>
          </a:p>
          <a:p>
            <a:r>
              <a:rPr lang="zh-CN" altLang="en-US" dirty="0" smtClean="0"/>
              <a:t>所以我会从多个维度对每一只基金进行多维度的评价，在量化组合的结果之上，再争取优中选优，尽量确保基金组合的超额收益的稳定性。</a:t>
            </a:r>
            <a:endParaRPr lang="en-US" altLang="zh-CN" dirty="0" smtClean="0"/>
          </a:p>
          <a:p>
            <a:endParaRPr lang="en-US" altLang="zh-CN" dirty="0" smtClean="0"/>
          </a:p>
          <a:p>
            <a:r>
              <a:rPr lang="zh-CN" altLang="en-US" dirty="0" smtClean="0"/>
              <a:t>对基金评价有多个维度，</a:t>
            </a:r>
            <a:endParaRPr lang="en-US" altLang="zh-CN" dirty="0" smtClean="0"/>
          </a:p>
          <a:p>
            <a:endParaRPr lang="en-US" altLang="zh-CN" dirty="0" smtClean="0"/>
          </a:p>
          <a:p>
            <a:r>
              <a:rPr lang="zh-CN" altLang="en-US" dirty="0" smtClean="0"/>
              <a:t>业绩表现：业绩表现以及稳定性、风险控制能力、风险调整后收益</a:t>
            </a:r>
            <a:endParaRPr lang="en-US" altLang="zh-CN" dirty="0" smtClean="0"/>
          </a:p>
          <a:p>
            <a:r>
              <a:rPr lang="zh-CN" altLang="en-US" dirty="0" smtClean="0"/>
              <a:t>投资偏好：赛道、风格偏好；大小盘偏好、估值偏好；行业集中度、持仓集中度</a:t>
            </a:r>
            <a:endParaRPr lang="en-US" altLang="zh-CN" dirty="0" smtClean="0"/>
          </a:p>
          <a:p>
            <a:r>
              <a:rPr lang="zh-CN" altLang="en-US" dirty="0" smtClean="0"/>
              <a:t>能力拆解：资产配置能力；行业、风格配置；个股选择</a:t>
            </a:r>
            <a:endParaRPr lang="en-US" altLang="zh-CN" dirty="0" smtClean="0"/>
          </a:p>
          <a:p>
            <a:r>
              <a:rPr lang="zh-CN" altLang="en-US" dirty="0" smtClean="0"/>
              <a:t>投资框架：景气追踪、估值安全边际、高质量等</a:t>
            </a:r>
            <a:endParaRPr lang="en-US" altLang="zh-CN" dirty="0" smtClean="0"/>
          </a:p>
          <a:p>
            <a:r>
              <a:rPr lang="zh-CN" altLang="en-US" dirty="0" smtClean="0"/>
              <a:t>基金经理：从业经历、管理年限；个人禀赋、优势能力圈；主要策略及规模容量</a:t>
            </a:r>
            <a:endParaRPr lang="en-US" altLang="zh-CN" dirty="0" smtClean="0"/>
          </a:p>
          <a:p>
            <a:r>
              <a:rPr lang="zh-CN" altLang="en-US" dirty="0" smtClean="0"/>
              <a:t>环境评价：投研团队支持、稳定性；基金公司的氛围、激励、考核等等</a:t>
            </a:r>
            <a:endParaRPr lang="en-US" altLang="zh-CN" dirty="0" smtClean="0"/>
          </a:p>
          <a:p>
            <a:endParaRPr lang="en-US" altLang="zh-CN"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17</a:t>
            </a:fld>
            <a:endParaRPr lang="zh-CN" altLang="en-US"/>
          </a:p>
        </p:txBody>
      </p:sp>
    </p:spTree>
    <p:extLst>
      <p:ext uri="{BB962C8B-B14F-4D97-AF65-F5344CB8AC3E}">
        <p14:creationId xmlns:p14="http://schemas.microsoft.com/office/powerpoint/2010/main" val="1849223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除了纯</a:t>
            </a:r>
            <a:r>
              <a:rPr lang="en-US" altLang="zh-CN" dirty="0" smtClean="0"/>
              <a:t>ETF</a:t>
            </a:r>
            <a:r>
              <a:rPr lang="zh-CN" altLang="en-US" dirty="0" smtClean="0"/>
              <a:t>策略之外，一般我们的组合</a:t>
            </a:r>
            <a:r>
              <a:rPr lang="en-US" altLang="zh-CN" dirty="0" smtClean="0"/>
              <a:t>ETF</a:t>
            </a:r>
            <a:r>
              <a:rPr lang="zh-CN" altLang="en-US" dirty="0" smtClean="0"/>
              <a:t>的占比会控制的比较低，一般来说不会超过</a:t>
            </a:r>
            <a:r>
              <a:rPr lang="en-US" altLang="zh-CN" dirty="0" smtClean="0"/>
              <a:t>5%</a:t>
            </a:r>
            <a:r>
              <a:rPr lang="zh-CN" altLang="en-US" dirty="0" smtClean="0"/>
              <a:t>，所以</a:t>
            </a:r>
            <a:r>
              <a:rPr lang="en-US" altLang="zh-CN" dirty="0" smtClean="0"/>
              <a:t>ETF</a:t>
            </a:r>
            <a:r>
              <a:rPr lang="zh-CN" altLang="en-US" dirty="0" smtClean="0"/>
              <a:t>轮动策略还是使用了</a:t>
            </a:r>
            <a:r>
              <a:rPr lang="en-US" altLang="zh-CN" dirty="0" smtClean="0"/>
              <a:t>FOF</a:t>
            </a:r>
            <a:r>
              <a:rPr lang="zh-CN" altLang="en-US" dirty="0" smtClean="0"/>
              <a:t>团队的的轮动策略池。</a:t>
            </a:r>
            <a:endParaRPr lang="en-US" altLang="zh-CN" dirty="0" smtClean="0"/>
          </a:p>
          <a:p>
            <a:r>
              <a:rPr lang="zh-CN" altLang="en-US" dirty="0" smtClean="0"/>
              <a:t>这个轮动策略池是动态调整的，我们会自行开发策略，也会关注各个卖方的策略，如果验证之后是有效的，胜率和赔率比较高，我们就会把它纳入我们的轮动策略池。</a:t>
            </a:r>
            <a:endParaRPr lang="en-US" altLang="zh-CN" dirty="0" smtClean="0"/>
          </a:p>
          <a:p>
            <a:endParaRPr lang="en-US" altLang="zh-CN" dirty="0" smtClean="0"/>
          </a:p>
          <a:p>
            <a:r>
              <a:rPr lang="zh-CN" altLang="en-US" dirty="0" smtClean="0"/>
              <a:t>各个策略之间相关性都是比较低的，这样配合起来才能增加整个组合的夏普比例。</a:t>
            </a:r>
            <a:endParaRPr lang="en-US" altLang="zh-CN" dirty="0" smtClean="0"/>
          </a:p>
          <a:p>
            <a:endParaRPr lang="en-US" altLang="zh-CN" dirty="0" smtClean="0"/>
          </a:p>
          <a:p>
            <a:r>
              <a:rPr lang="zh-CN" altLang="en-US" dirty="0" smtClean="0"/>
              <a:t>目前主要有三个</a:t>
            </a:r>
            <a:r>
              <a:rPr lang="en-US" altLang="zh-CN" dirty="0" smtClean="0"/>
              <a:t>ETF</a:t>
            </a:r>
            <a:r>
              <a:rPr lang="zh-CN" altLang="en-US" dirty="0" smtClean="0"/>
              <a:t>轮动策略，聪明资金、时点动量、和偏股复制</a:t>
            </a:r>
            <a:r>
              <a:rPr lang="en-US" altLang="zh-CN" dirty="0" smtClean="0"/>
              <a:t>ETF</a:t>
            </a:r>
            <a:r>
              <a:rPr lang="zh-CN" altLang="en-US" dirty="0" smtClean="0"/>
              <a:t>模型。</a:t>
            </a:r>
            <a:endParaRPr lang="en-US" altLang="zh-CN" dirty="0" smtClean="0"/>
          </a:p>
          <a:p>
            <a:r>
              <a:rPr lang="zh-CN" altLang="en-US" dirty="0" smtClean="0"/>
              <a:t>聪明资金轮动模型主要是跟踪优选主动行业配置基金的仓位动向，当我们发现这些优选基金有对某个行业进行增配或者减配的趋势的时候，我们会结合当下宏观环境以及行业景气度，进行综合评判，对胜率和赔率做出预估之后，决定是否参与该行业</a:t>
            </a:r>
            <a:r>
              <a:rPr lang="en-US" altLang="zh-CN" dirty="0" smtClean="0"/>
              <a:t>ETF</a:t>
            </a:r>
            <a:r>
              <a:rPr lang="zh-CN" altLang="en-US" dirty="0" smtClean="0"/>
              <a:t>配置，以及参与的大致比例。</a:t>
            </a:r>
            <a:endParaRPr lang="en-US" altLang="zh-CN" dirty="0" smtClean="0"/>
          </a:p>
          <a:p>
            <a:r>
              <a:rPr lang="zh-CN" altLang="en-US" dirty="0" smtClean="0"/>
              <a:t>时点动量</a:t>
            </a:r>
            <a:r>
              <a:rPr lang="en-US" altLang="zh-CN" dirty="0" smtClean="0"/>
              <a:t>ETF</a:t>
            </a:r>
            <a:r>
              <a:rPr lang="zh-CN" altLang="en-US" dirty="0" smtClean="0"/>
              <a:t>轮动没醒只要用来识别市场的关键点位，事件指标，比如其中的几个指标，就是通过量化的方式，通过宽基指数的涨跌幅以及各个行业的趋势变化，来预判市场是否短期见底或者见顶，如果给出信号，就会选择比如见顶回调的时候跌的少的前几个行业，或者见底反弹涨幅前几的几个行业，就行小仓位的配置，博取收益。</a:t>
            </a:r>
            <a:endParaRPr lang="en-US" altLang="zh-CN" dirty="0" smtClean="0"/>
          </a:p>
          <a:p>
            <a:r>
              <a:rPr lang="zh-CN" altLang="en-US" dirty="0" smtClean="0"/>
              <a:t>偏股复制</a:t>
            </a:r>
            <a:r>
              <a:rPr lang="en-US" altLang="zh-CN" dirty="0" smtClean="0"/>
              <a:t>ETF</a:t>
            </a:r>
            <a:r>
              <a:rPr lang="zh-CN" altLang="en-US" dirty="0" smtClean="0"/>
              <a:t>模型，就是通过行业</a:t>
            </a:r>
            <a:r>
              <a:rPr lang="en-US" altLang="zh-CN" dirty="0" smtClean="0"/>
              <a:t>ETF</a:t>
            </a:r>
            <a:r>
              <a:rPr lang="zh-CN" altLang="en-US" dirty="0" smtClean="0"/>
              <a:t>组合，动态复制偏股基金指数收益，使用场景比如进行短期的调仓的时候，因为基金申赎的日期错配，可能会出现配置比例偏差，这个时候就可以只用</a:t>
            </a:r>
            <a:r>
              <a:rPr lang="en-US" altLang="zh-CN" dirty="0" smtClean="0"/>
              <a:t>ETF</a:t>
            </a:r>
            <a:r>
              <a:rPr lang="zh-CN" altLang="en-US" dirty="0" smtClean="0"/>
              <a:t>组合来弥补这部分的配置。</a:t>
            </a:r>
          </a:p>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18</a:t>
            </a:fld>
            <a:endParaRPr lang="zh-CN" altLang="en-US"/>
          </a:p>
        </p:txBody>
      </p:sp>
    </p:spTree>
    <p:extLst>
      <p:ext uri="{BB962C8B-B14F-4D97-AF65-F5344CB8AC3E}">
        <p14:creationId xmlns:p14="http://schemas.microsoft.com/office/powerpoint/2010/main" val="2320894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对于一些实操证明过的表现优秀的</a:t>
            </a:r>
            <a:r>
              <a:rPr lang="en-US" altLang="zh-CN" dirty="0" smtClean="0"/>
              <a:t>ETF</a:t>
            </a:r>
            <a:r>
              <a:rPr lang="zh-CN" altLang="en-US" dirty="0" smtClean="0"/>
              <a:t>轮动模型，我会把它落地在我的可视化系统里面。</a:t>
            </a:r>
            <a:endParaRPr lang="en-US" altLang="zh-CN" dirty="0" smtClean="0"/>
          </a:p>
          <a:p>
            <a:endParaRPr lang="en-US" altLang="zh-CN" dirty="0" smtClean="0"/>
          </a:p>
          <a:p>
            <a:r>
              <a:rPr lang="zh-CN" altLang="en-US" dirty="0" smtClean="0"/>
              <a:t>这几个图展示的就是我把时点动量模型落地在本地的结果。</a:t>
            </a:r>
            <a:endParaRPr lang="en-US" altLang="zh-CN" dirty="0" smtClean="0"/>
          </a:p>
          <a:p>
            <a:r>
              <a:rPr lang="zh-CN" altLang="en-US" dirty="0" smtClean="0"/>
              <a:t>效果比较好的原因是把择时和动量结合在了一起，不是单纯的去追动量，这样会在市场反转的时候损失收益，而是在市场满足某些择时条件的时候去获取动量收益，增加交易的胜率。</a:t>
            </a:r>
            <a:endParaRPr lang="en-US" altLang="zh-CN" dirty="0" smtClean="0"/>
          </a:p>
          <a:p>
            <a:endParaRPr lang="en-US" altLang="zh-CN" dirty="0" smtClean="0"/>
          </a:p>
          <a:p>
            <a:r>
              <a:rPr lang="zh-CN" altLang="en-US" dirty="0" smtClean="0"/>
              <a:t>左上图显示的是历史出现过的信号，时点动量的信号有大致三类，市场见顶回落，市场触底反弹和市场横盘突破，每个信号出现当天，会根据当天的行业涨跌幅排序选取前五的行业，我们从去年开始使用下来，证明是比较有效的，比如去年</a:t>
            </a:r>
            <a:r>
              <a:rPr lang="en-US" altLang="zh-CN" dirty="0" smtClean="0"/>
              <a:t>4</a:t>
            </a:r>
            <a:r>
              <a:rPr lang="zh-CN" altLang="en-US" dirty="0" smtClean="0"/>
              <a:t>月关税战市场大跌之后在</a:t>
            </a:r>
            <a:r>
              <a:rPr lang="en-US" altLang="zh-CN" dirty="0" smtClean="0"/>
              <a:t>4</a:t>
            </a:r>
            <a:r>
              <a:rPr lang="zh-CN" altLang="en-US" dirty="0" smtClean="0"/>
              <a:t>月</a:t>
            </a:r>
            <a:r>
              <a:rPr lang="en-US" altLang="zh-CN" dirty="0" smtClean="0"/>
              <a:t>8</a:t>
            </a:r>
            <a:r>
              <a:rPr lang="zh-CN" altLang="en-US" dirty="0" smtClean="0"/>
              <a:t>日提示的市场反弹信号，以及在</a:t>
            </a:r>
            <a:r>
              <a:rPr lang="en-US" altLang="zh-CN" dirty="0" smtClean="0"/>
              <a:t>4</a:t>
            </a:r>
            <a:r>
              <a:rPr lang="zh-CN" altLang="en-US" dirty="0" smtClean="0"/>
              <a:t>月底</a:t>
            </a:r>
            <a:r>
              <a:rPr lang="en-US" altLang="zh-CN" dirty="0" smtClean="0"/>
              <a:t>5</a:t>
            </a:r>
            <a:r>
              <a:rPr lang="zh-CN" altLang="en-US" dirty="0" smtClean="0"/>
              <a:t>月底</a:t>
            </a:r>
            <a:r>
              <a:rPr lang="en-US" altLang="zh-CN" dirty="0" smtClean="0"/>
              <a:t>7</a:t>
            </a:r>
            <a:r>
              <a:rPr lang="zh-CN" altLang="en-US" dirty="0" smtClean="0"/>
              <a:t>月初提示的市场横盘突破信号，然后在</a:t>
            </a:r>
            <a:r>
              <a:rPr lang="en-US" altLang="zh-CN" dirty="0" smtClean="0"/>
              <a:t>7</a:t>
            </a:r>
            <a:r>
              <a:rPr lang="zh-CN" altLang="en-US" dirty="0" smtClean="0"/>
              <a:t>月底、</a:t>
            </a:r>
            <a:r>
              <a:rPr lang="en-US" altLang="zh-CN" dirty="0" smtClean="0"/>
              <a:t>8</a:t>
            </a:r>
            <a:r>
              <a:rPr lang="zh-CN" altLang="en-US" dirty="0" smtClean="0"/>
              <a:t>月底提示了市场有行业见顶回落，高低切的机会，以及今年</a:t>
            </a:r>
            <a:r>
              <a:rPr lang="en-US" altLang="zh-CN" dirty="0" smtClean="0"/>
              <a:t>3</a:t>
            </a:r>
            <a:r>
              <a:rPr lang="zh-CN" altLang="en-US" dirty="0" smtClean="0"/>
              <a:t>月</a:t>
            </a:r>
            <a:r>
              <a:rPr lang="en-US" altLang="zh-CN" dirty="0" smtClean="0"/>
              <a:t>24</a:t>
            </a:r>
            <a:r>
              <a:rPr lang="zh-CN" altLang="en-US" dirty="0" smtClean="0"/>
              <a:t>美伊冲突后市场大跌之后的见底反弹信号等等</a:t>
            </a:r>
            <a:endParaRPr lang="en-US" altLang="zh-CN" dirty="0" smtClean="0"/>
          </a:p>
          <a:p>
            <a:endParaRPr lang="en-US" altLang="zh-CN" dirty="0" smtClean="0"/>
          </a:p>
          <a:p>
            <a:endParaRPr lang="en-US" altLang="zh-CN" dirty="0" smtClean="0"/>
          </a:p>
          <a:p>
            <a:r>
              <a:rPr lang="zh-CN" altLang="en-US" dirty="0" smtClean="0"/>
              <a:t>但是因为合规要求，把图中展示的行业排名里面的行业名称和涨跌幅给模糊化处理掉了哈。。。</a:t>
            </a:r>
            <a:endParaRPr lang="en-US" altLang="zh-CN" dirty="0" smtClean="0"/>
          </a:p>
          <a:p>
            <a:endParaRPr lang="en-US" altLang="zh-CN" dirty="0" smtClean="0"/>
          </a:p>
          <a:p>
            <a:r>
              <a:rPr lang="zh-CN" altLang="en-US" dirty="0" smtClean="0"/>
              <a:t>那右边两个图是时点动量模型的历史回测结果，坐上是根据每期信号当天的行业排名从高到低分</a:t>
            </a:r>
            <a:r>
              <a:rPr lang="en-US" altLang="zh-CN" dirty="0" smtClean="0"/>
              <a:t>5</a:t>
            </a:r>
            <a:r>
              <a:rPr lang="zh-CN" altLang="en-US" dirty="0" smtClean="0"/>
              <a:t>组，看后</a:t>
            </a:r>
            <a:r>
              <a:rPr lang="en-US" altLang="zh-CN" dirty="0" smtClean="0"/>
              <a:t>20</a:t>
            </a:r>
            <a:r>
              <a:rPr lang="zh-CN" altLang="en-US" dirty="0" smtClean="0"/>
              <a:t>个交易日相对中证全指的超额收益，可以看到明显超额收益的有效性。</a:t>
            </a:r>
            <a:endParaRPr lang="en-US" altLang="zh-CN" dirty="0" smtClean="0"/>
          </a:p>
          <a:p>
            <a:r>
              <a:rPr lang="zh-CN" altLang="en-US" dirty="0" smtClean="0"/>
              <a:t>右下是过去两年根据时点动量其中的横盘突破信号去交易</a:t>
            </a:r>
            <a:r>
              <a:rPr lang="en-US" altLang="zh-CN" dirty="0" smtClean="0"/>
              <a:t>ETF</a:t>
            </a:r>
            <a:r>
              <a:rPr lang="zh-CN" altLang="en-US" dirty="0" smtClean="0"/>
              <a:t>的效果，可以看出比指数的收益是要好很多的。</a:t>
            </a:r>
            <a:endParaRPr lang="en-US" altLang="zh-CN" dirty="0" smtClean="0"/>
          </a:p>
        </p:txBody>
      </p:sp>
      <p:sp>
        <p:nvSpPr>
          <p:cNvPr id="4" name="灯片编号占位符 3"/>
          <p:cNvSpPr>
            <a:spLocks noGrp="1"/>
          </p:cNvSpPr>
          <p:nvPr>
            <p:ph type="sldNum" sz="quarter" idx="10"/>
          </p:nvPr>
        </p:nvSpPr>
        <p:spPr/>
        <p:txBody>
          <a:bodyPr/>
          <a:lstStyle/>
          <a:p>
            <a:fld id="{50D21365-F1D8-47CC-8906-823C7233621A}" type="slidenum">
              <a:rPr lang="zh-CN" altLang="en-US" smtClean="0"/>
              <a:t>19</a:t>
            </a:fld>
            <a:endParaRPr lang="zh-CN" altLang="en-US"/>
          </a:p>
        </p:txBody>
      </p:sp>
    </p:spTree>
    <p:extLst>
      <p:ext uri="{BB962C8B-B14F-4D97-AF65-F5344CB8AC3E}">
        <p14:creationId xmlns:p14="http://schemas.microsoft.com/office/powerpoint/2010/main" val="1229347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D21365-F1D8-47CC-8906-823C7233621A}" type="slidenum">
              <a:rPr lang="zh-CN" altLang="en-US" smtClean="0"/>
              <a:t>22</a:t>
            </a:fld>
            <a:endParaRPr lang="zh-CN" altLang="en-US"/>
          </a:p>
        </p:txBody>
      </p:sp>
    </p:spTree>
    <p:extLst>
      <p:ext uri="{BB962C8B-B14F-4D97-AF65-F5344CB8AC3E}">
        <p14:creationId xmlns:p14="http://schemas.microsoft.com/office/powerpoint/2010/main" val="860532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hasCustomPrompt="1"/>
          </p:nvPr>
        </p:nvSpPr>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编辑母版文本样式</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5" name="日期占位符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7" name="日期占位符 6"/>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dirty="0"/>
              <a:t>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编辑母版文本样式</a:t>
            </a:r>
          </a:p>
        </p:txBody>
      </p:sp>
      <p:sp>
        <p:nvSpPr>
          <p:cNvPr id="5" name="日期占位符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编辑母版文本样式</a:t>
            </a:r>
          </a:p>
        </p:txBody>
      </p:sp>
      <p:sp>
        <p:nvSpPr>
          <p:cNvPr id="5" name="日期占位符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hasCustomPrompt="1"/>
          </p:nvPr>
        </p:nvSpPr>
        <p:spPr/>
        <p:txBody>
          <a:bodyPr vert="eaVert"/>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本占位符 2"/>
          <p:cNvSpPr>
            <a:spLocks noGrp="1"/>
          </p:cNvSpPr>
          <p:nvPr>
            <p:ph type="body" orient="vert" idx="1" hasCustomPrompt="1"/>
          </p:nvPr>
        </p:nvSpPr>
        <p:spPr>
          <a:xfrm>
            <a:off x="838200" y="365125"/>
            <a:ext cx="7734300" cy="5811838"/>
          </a:xfrm>
        </p:spPr>
        <p:txBody>
          <a:bodyPr vert="eaVert"/>
          <a:lstStyle/>
          <a:p>
            <a:pPr lvl="0"/>
            <a:r>
              <a:rPr kumimoji="1" lang="zh-CN" altLang="en-US" dirty="0"/>
              <a:t>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p>
        </p:txBody>
      </p:sp>
      <p:sp>
        <p:nvSpPr>
          <p:cNvPr id="4" name="日期占位符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4C711FC-F966-DD4A-8ACA-D3C45381323F}" type="slidenum">
              <a:rPr kumimoji="1" lang="zh-CN" altLang="en-US" smtClean="0"/>
              <a:t>‹#›</a:t>
            </a:fld>
            <a:endParaRPr kumimoji="1"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screen"/>
          <a:stretch>
            <a:fillRect/>
          </a:stretch>
        </p:blipFill>
        <p:spPr>
          <a:xfrm>
            <a:off x="0" y="0"/>
            <a:ext cx="12192000" cy="6858000"/>
          </a:xfrm>
          <a:prstGeom prst="rect">
            <a:avLst/>
          </a:prstGeom>
        </p:spPr>
      </p:pic>
      <p:sp>
        <p:nvSpPr>
          <p:cNvPr id="9" name="内容占位符 2"/>
          <p:cNvSpPr>
            <a:spLocks noGrp="1"/>
          </p:cNvSpPr>
          <p:nvPr>
            <p:ph sz="half" idx="1" hasCustomPrompt="1"/>
          </p:nvPr>
        </p:nvSpPr>
        <p:spPr>
          <a:xfrm>
            <a:off x="506999" y="1664413"/>
            <a:ext cx="11118850" cy="3723563"/>
          </a:xfrm>
          <a:prstGeom prst="rect">
            <a:avLst/>
          </a:prstGeom>
        </p:spPr>
        <p:txBody>
          <a:bodyPr anchor="ctr"/>
          <a:lstStyle>
            <a:lvl1pPr marL="285750" marR="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sz="1400" b="0">
                <a:solidFill>
                  <a:schemeClr val="bg2">
                    <a:lumMod val="25000"/>
                  </a:schemeClr>
                </a:solidFill>
                <a:latin typeface="微软雅黑" panose="020B0503020204020204" pitchFamily="34" charset="-122"/>
                <a:ea typeface="微软雅黑" panose="020B0503020204020204" pitchFamily="34" charset="-122"/>
              </a:defRPr>
            </a:lvl1pPr>
          </a:lstStyle>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本文件所包含的资料仅供一般性参考，不应视为任何形式的要约、要约邀请，亦非对任何交易的正式确认。本文件所提供的信息和资料不作为向本文件接收者提出的任何建议。银华基金及其雇员不对本文件信息资料的真实性、准确性、可靠性、完整性或其他方面作出保证或承诺，也不就该等信息的任何错误或遗漏承担任何责任。</a:t>
            </a:r>
          </a:p>
          <a:p>
            <a:pPr marL="285750" marR="0" lvl="0" indent="-285750" algn="l" defTabSz="914400" rtl="0" eaLnBrk="1" fontAlgn="auto" latinLnBrk="0" hangingPunct="1">
              <a:lnSpc>
                <a:spcPct val="110000"/>
              </a:lnSpc>
              <a:spcBef>
                <a:spcPts val="0"/>
              </a:spcBef>
              <a:spcAft>
                <a:spcPts val="0"/>
              </a:spcAft>
              <a:buClrTx/>
              <a:buSzTx/>
              <a:defRPr/>
            </a:pPr>
            <a:endParaRPr kumimoji="1" lang="zh-CN" altLang="en-US" dirty="0"/>
          </a:p>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任何通过本文件而获得的信息（包括但不限于产品信息、企业信息、行业资讯等），接收者应自行确认信息的真实性、准确性、完整性、时效性。</a:t>
            </a:r>
          </a:p>
          <a:p>
            <a:pPr marL="285750" marR="0" lvl="0" indent="-285750" algn="l" defTabSz="914400" rtl="0" eaLnBrk="1" fontAlgn="auto" latinLnBrk="0" hangingPunct="1">
              <a:lnSpc>
                <a:spcPct val="110000"/>
              </a:lnSpc>
              <a:spcBef>
                <a:spcPts val="0"/>
              </a:spcBef>
              <a:spcAft>
                <a:spcPts val="0"/>
              </a:spcAft>
              <a:buClrTx/>
              <a:buSzTx/>
              <a:defRPr/>
            </a:pPr>
            <a:endParaRPr kumimoji="1" lang="zh-CN" altLang="en-US" dirty="0"/>
          </a:p>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投资有风险，投资者在作出投资决策前应认真阅读相关产品正式法律文件以及银华基金相关公告的信息，以其作准，并自主决策、自行承担投资风险。</a:t>
            </a:r>
          </a:p>
          <a:p>
            <a:pPr marL="285750" marR="0" lvl="0" indent="-285750" algn="l" defTabSz="914400" rtl="0" eaLnBrk="1" fontAlgn="auto" latinLnBrk="0" hangingPunct="1">
              <a:lnSpc>
                <a:spcPct val="110000"/>
              </a:lnSpc>
              <a:spcBef>
                <a:spcPts val="0"/>
              </a:spcBef>
              <a:spcAft>
                <a:spcPts val="0"/>
              </a:spcAft>
              <a:buClrTx/>
              <a:buSzTx/>
              <a:defRPr/>
            </a:pPr>
            <a:endParaRPr kumimoji="1" lang="zh-CN" altLang="en-US" dirty="0"/>
          </a:p>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接收者应当对本文件进行严格保密，未经许可，不得向第三方披露、援引或用于其他用途、亦不得复制或传播本文件。</a:t>
            </a:r>
          </a:p>
        </p:txBody>
      </p:sp>
      <p:sp>
        <p:nvSpPr>
          <p:cNvPr id="7" name="标题 1"/>
          <p:cNvSpPr>
            <a:spLocks noGrp="1"/>
          </p:cNvSpPr>
          <p:nvPr>
            <p:ph type="title" hasCustomPrompt="1"/>
          </p:nvPr>
        </p:nvSpPr>
        <p:spPr>
          <a:xfrm>
            <a:off x="506999" y="373357"/>
            <a:ext cx="4411266" cy="751963"/>
          </a:xfrm>
          <a:prstGeom prst="rect">
            <a:avLst/>
          </a:prstGeom>
        </p:spPr>
        <p:txBody>
          <a:bodyPr anchor="ctr"/>
          <a:lstStyle>
            <a:lvl1pPr>
              <a:defRPr sz="2400" b="1" spc="400" baseline="0">
                <a:solidFill>
                  <a:srgbClr val="D12920"/>
                </a:solidFill>
              </a:defRPr>
            </a:lvl1pPr>
          </a:lstStyle>
          <a:p>
            <a:r>
              <a:rPr kumimoji="1" lang="zh-CN" altLang="en-US" dirty="0"/>
              <a:t>声明页</a:t>
            </a:r>
          </a:p>
        </p:txBody>
      </p:sp>
      <p:sp>
        <p:nvSpPr>
          <p:cNvPr id="12" name="矩形 11"/>
          <p:cNvSpPr/>
          <p:nvPr userDrawn="1"/>
        </p:nvSpPr>
        <p:spPr>
          <a:xfrm>
            <a:off x="0" y="605018"/>
            <a:ext cx="171880" cy="368181"/>
          </a:xfrm>
          <a:prstGeom prst="rect">
            <a:avLst/>
          </a:prstGeom>
          <a:solidFill>
            <a:srgbClr val="D02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编辑母版文本样式</a:t>
            </a:r>
          </a:p>
          <a:p>
            <a:pPr lvl="1"/>
            <a:r>
              <a:rPr kumimoji="1" lang="zh-CN" altLang="en-US"/>
              <a:t>第二级</a:t>
            </a:r>
          </a:p>
          <a:p>
            <a:pPr lvl="2"/>
            <a:r>
              <a:rPr kumimoji="1" lang="zh-CN" altLang="en-US"/>
              <a:t>第三级</a:t>
            </a:r>
          </a:p>
          <a:p>
            <a:pPr lvl="3"/>
            <a:r>
              <a:rPr kumimoji="1" lang="zh-CN" altLang="en-US"/>
              <a:t>第四级</a:t>
            </a:r>
          </a:p>
          <a:p>
            <a:pPr lvl="4"/>
            <a:r>
              <a:rPr kumimoji="1"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A7914-B59F-1844-89B3-46355EB53AAC}" type="datetimeFigureOut">
              <a:rPr kumimoji="1" lang="zh-CN" altLang="en-US" smtClean="0"/>
              <a:t>2026/8/28</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C711FC-F966-DD4A-8ACA-D3C45381323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A7914-B59F-1844-89B3-46355EB53AAC}" type="datetimeFigureOut">
              <a:rPr kumimoji="1" lang="zh-CN" altLang="en-US" smtClean="0"/>
              <a:t>2026/8/28</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C711FC-F966-DD4A-8ACA-D3C45381323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slideLayout" Target="../slideLayouts/slideLayout19.xml"/><Relationship Id="rId9" Type="http://schemas.openxmlformats.org/officeDocument/2006/relationships/notesSlide" Target="../notesSlides/notesSlide1.xml"/><Relationship Id="rId10"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tags" Target="../tags/tag11.xml"/><Relationship Id="rId5" Type="http://schemas.openxmlformats.org/officeDocument/2006/relationships/tags" Target="../tags/tag12.xml"/><Relationship Id="rId6" Type="http://schemas.openxmlformats.org/officeDocument/2006/relationships/tags" Target="../tags/tag13.xml"/><Relationship Id="rId7" Type="http://schemas.openxmlformats.org/officeDocument/2006/relationships/tags" Target="../tags/tag14.xml"/><Relationship Id="rId8" Type="http://schemas.openxmlformats.org/officeDocument/2006/relationships/tags" Target="../tags/tag15.xml"/><Relationship Id="rId9" Type="http://schemas.openxmlformats.org/officeDocument/2006/relationships/tags" Target="../tags/tag16.xml"/><Relationship Id="rId10" Type="http://schemas.openxmlformats.org/officeDocument/2006/relationships/tags" Target="../tags/tag17.xml"/><Relationship Id="rId11" Type="http://schemas.openxmlformats.org/officeDocument/2006/relationships/tags" Target="../tags/tag18.xml"/><Relationship Id="rId12" Type="http://schemas.openxmlformats.org/officeDocument/2006/relationships/tags" Target="../tags/tag19.xml"/><Relationship Id="rId13" Type="http://schemas.openxmlformats.org/officeDocument/2006/relationships/tags" Target="../tags/tag20.xml"/><Relationship Id="rId14" Type="http://schemas.openxmlformats.org/officeDocument/2006/relationships/tags" Target="../tags/tag21.xml"/><Relationship Id="rId15" Type="http://schemas.openxmlformats.org/officeDocument/2006/relationships/tags" Target="../tags/tag22.xml"/><Relationship Id="rId16" Type="http://schemas.openxmlformats.org/officeDocument/2006/relationships/tags" Target="../tags/tag23.xml"/><Relationship Id="rId17" Type="http://schemas.openxmlformats.org/officeDocument/2006/relationships/tags" Target="../tags/tag24.xml"/><Relationship Id="rId18" Type="http://schemas.openxmlformats.org/officeDocument/2006/relationships/tags" Target="../tags/tag25.xml"/><Relationship Id="rId19" Type="http://schemas.openxmlformats.org/officeDocument/2006/relationships/tags" Target="../tags/tag26.xml"/><Relationship Id="rId20" Type="http://schemas.openxmlformats.org/officeDocument/2006/relationships/tags" Target="../tags/tag27.xml"/><Relationship Id="rId21" Type="http://schemas.openxmlformats.org/officeDocument/2006/relationships/tags" Target="../tags/tag28.xml"/><Relationship Id="rId22" Type="http://schemas.openxmlformats.org/officeDocument/2006/relationships/tags" Target="../tags/tag29.xml"/><Relationship Id="rId23" Type="http://schemas.openxmlformats.org/officeDocument/2006/relationships/tags" Target="../tags/tag30.xml"/><Relationship Id="rId24" Type="http://schemas.openxmlformats.org/officeDocument/2006/relationships/tags" Target="../tags/tag31.xml"/><Relationship Id="rId25" Type="http://schemas.openxmlformats.org/officeDocument/2006/relationships/tags" Target="../tags/tag32.xml"/><Relationship Id="rId26" Type="http://schemas.openxmlformats.org/officeDocument/2006/relationships/tags" Target="../tags/tag33.xml"/><Relationship Id="rId27" Type="http://schemas.openxmlformats.org/officeDocument/2006/relationships/tags" Target="../tags/tag34.xml"/><Relationship Id="rId28" Type="http://schemas.openxmlformats.org/officeDocument/2006/relationships/tags" Target="../tags/tag35.xml"/><Relationship Id="rId29" Type="http://schemas.openxmlformats.org/officeDocument/2006/relationships/tags" Target="../tags/tag36.xml"/><Relationship Id="rId30" Type="http://schemas.openxmlformats.org/officeDocument/2006/relationships/tags" Target="../tags/tag37.xml"/><Relationship Id="rId31" Type="http://schemas.openxmlformats.org/officeDocument/2006/relationships/tags" Target="../tags/tag38.xml"/><Relationship Id="rId32" Type="http://schemas.openxmlformats.org/officeDocument/2006/relationships/tags" Target="../tags/tag39.xml"/><Relationship Id="rId33" Type="http://schemas.openxmlformats.org/officeDocument/2006/relationships/tags" Target="../tags/tag40.xml"/><Relationship Id="rId34" Type="http://schemas.openxmlformats.org/officeDocument/2006/relationships/tags" Target="../tags/tag41.xml"/><Relationship Id="rId35" Type="http://schemas.openxmlformats.org/officeDocument/2006/relationships/tags" Target="../tags/tag42.xml"/><Relationship Id="rId36" Type="http://schemas.openxmlformats.org/officeDocument/2006/relationships/tags" Target="../tags/tag43.xml"/><Relationship Id="rId37" Type="http://schemas.openxmlformats.org/officeDocument/2006/relationships/tags" Target="../tags/tag44.xml"/><Relationship Id="rId38" Type="http://schemas.openxmlformats.org/officeDocument/2006/relationships/tags" Target="../tags/tag45.xml"/><Relationship Id="rId39" Type="http://schemas.openxmlformats.org/officeDocument/2006/relationships/tags" Target="../tags/tag46.xml"/><Relationship Id="rId40" Type="http://schemas.openxmlformats.org/officeDocument/2006/relationships/tags" Target="../tags/tag47.xml"/><Relationship Id="rId41" Type="http://schemas.openxmlformats.org/officeDocument/2006/relationships/tags" Target="../tags/tag48.xml"/><Relationship Id="rId42" Type="http://schemas.openxmlformats.org/officeDocument/2006/relationships/tags" Target="../tags/tag49.xml"/><Relationship Id="rId43" Type="http://schemas.openxmlformats.org/officeDocument/2006/relationships/tags" Target="../tags/tag50.xml"/><Relationship Id="rId44" Type="http://schemas.openxmlformats.org/officeDocument/2006/relationships/tags" Target="../tags/tag51.xml"/><Relationship Id="rId45" Type="http://schemas.openxmlformats.org/officeDocument/2006/relationships/tags" Target="../tags/tag52.xml"/><Relationship Id="rId46" Type="http://schemas.openxmlformats.org/officeDocument/2006/relationships/tags" Target="../tags/tag53.xml"/><Relationship Id="rId47" Type="http://schemas.openxmlformats.org/officeDocument/2006/relationships/tags" Target="../tags/tag54.xml"/><Relationship Id="rId48" Type="http://schemas.openxmlformats.org/officeDocument/2006/relationships/slideLayout" Target="../slideLayouts/slideLayout24.xml"/><Relationship Id="rId49" Type="http://schemas.openxmlformats.org/officeDocument/2006/relationships/notesSlide" Target="../notesSlides/notesSlide4.xml"/><Relationship Id="rId50" Type="http://schemas.openxmlformats.org/officeDocument/2006/relationships/image" Target="../media/image7.png"/><Relationship Id="rId51" Type="http://schemas.openxmlformats.org/officeDocument/2006/relationships/image" Target="../media/image8.png"/><Relationship Id="rId52" Type="http://schemas.openxmlformats.org/officeDocument/2006/relationships/image" Target="../media/image9.png"/><Relationship Id="rId53" Type="http://schemas.openxmlformats.org/officeDocument/2006/relationships/image" Target="../media/image10.png"/><Relationship Id="rId54" Type="http://schemas.openxmlformats.org/officeDocument/2006/relationships/image" Target="../media/image11.png"/><Relationship Id="rId55" Type="http://schemas.openxmlformats.org/officeDocument/2006/relationships/image" Target="../media/image12.png"/><Relationship Id="rId56" Type="http://schemas.openxmlformats.org/officeDocument/2006/relationships/image" Target="../media/image13.png"/><Relationship Id="rId57"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26.emf"/><Relationship Id="rId4" Type="http://schemas.openxmlformats.org/officeDocument/2006/relationships/image" Target="../media/image27.emf"/><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9067800" y="4060504"/>
            <a:ext cx="1485900" cy="1143000"/>
          </a:xfrm>
          <a:prstGeom prst="roundRect">
            <a:avLst>
              <a:gd name="adj" fmla="val 10000"/>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6810" y="1568444"/>
            <a:ext cx="11313725" cy="899349"/>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4600" b="1" dirty="0">
                <a:solidFill>
                  <a:schemeClr val="tx1">
                    <a:lumMod val="75000"/>
                    <a:lumOff val="25000"/>
                  </a:schemeClr>
                </a:solidFill>
                <a:latin typeface="Century Gothic" panose="020B0502020202020204" pitchFamily="34" charset="0"/>
                <a:ea typeface="+mj-ea"/>
              </a:rPr>
              <a:t>银华基金</a:t>
            </a:r>
            <a:r>
              <a:rPr lang="en-US" altLang="zh-CN" sz="4600" b="1" dirty="0">
                <a:solidFill>
                  <a:schemeClr val="tx1">
                    <a:lumMod val="75000"/>
                    <a:lumOff val="25000"/>
                  </a:schemeClr>
                </a:solidFill>
                <a:latin typeface="Century Gothic" panose="020B0502020202020204" pitchFamily="34" charset="0"/>
                <a:ea typeface="+mj-ea"/>
              </a:rPr>
              <a:t>FOF</a:t>
            </a:r>
            <a:r>
              <a:rPr lang="zh-CN" altLang="en-US" sz="4600" b="1" dirty="0">
                <a:solidFill>
                  <a:schemeClr val="tx1">
                    <a:lumMod val="75000"/>
                    <a:lumOff val="25000"/>
                  </a:schemeClr>
                </a:solidFill>
                <a:latin typeface="Century Gothic" panose="020B0502020202020204" pitchFamily="34" charset="0"/>
                <a:ea typeface="+mj-ea"/>
              </a:rPr>
              <a:t>投资管理部</a:t>
            </a:r>
            <a:r>
              <a:rPr lang="en-US" altLang="zh-CN" sz="4600" b="1" dirty="0">
                <a:solidFill>
                  <a:schemeClr val="tx1">
                    <a:lumMod val="75000"/>
                    <a:lumOff val="25000"/>
                  </a:schemeClr>
                </a:solidFill>
                <a:latin typeface="Century Gothic" panose="020B0502020202020204" pitchFamily="34" charset="0"/>
                <a:ea typeface="+mj-ea"/>
              </a:rPr>
              <a:t>-</a:t>
            </a:r>
            <a:r>
              <a:rPr lang="zh-CN" altLang="en-US" sz="4600" b="1" dirty="0">
                <a:solidFill>
                  <a:schemeClr val="tx1">
                    <a:lumMod val="75000"/>
                    <a:lumOff val="25000"/>
                  </a:schemeClr>
                </a:solidFill>
                <a:latin typeface="Century Gothic" panose="020B0502020202020204" pitchFamily="34" charset="0"/>
                <a:ea typeface="+mj-ea"/>
              </a:rPr>
              <a:t>投资</a:t>
            </a:r>
            <a:r>
              <a:rPr lang="zh-CN" altLang="en-US" sz="4600" b="1" dirty="0" smtClean="0">
                <a:solidFill>
                  <a:schemeClr val="tx1">
                    <a:lumMod val="75000"/>
                    <a:lumOff val="25000"/>
                  </a:schemeClr>
                </a:solidFill>
                <a:latin typeface="Century Gothic" panose="020B0502020202020204" pitchFamily="34" charset="0"/>
                <a:ea typeface="+mj-ea"/>
              </a:rPr>
              <a:t>框架</a:t>
            </a:r>
            <a:endParaRPr lang="en-US" altLang="zh-CN" sz="4600" b="1" dirty="0">
              <a:solidFill>
                <a:srgbClr val="B83835"/>
              </a:solidFill>
              <a:latin typeface="Century Gothic" panose="020B0502020202020204" pitchFamily="34" charset="0"/>
              <a:ea typeface="+mj-ea"/>
            </a:endParaRPr>
          </a:p>
        </p:txBody>
      </p:sp>
      <p:sp>
        <p:nvSpPr>
          <p:cNvPr id="4" name="椭圆 3"/>
          <p:cNvSpPr/>
          <p:nvPr/>
        </p:nvSpPr>
        <p:spPr>
          <a:xfrm>
            <a:off x="8314835" y="5846029"/>
            <a:ext cx="276008" cy="276008"/>
          </a:xfrm>
          <a:prstGeom prst="ellipse">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30"/>
          <p:cNvSpPr/>
          <p:nvPr/>
        </p:nvSpPr>
        <p:spPr>
          <a:xfrm>
            <a:off x="0" y="4060504"/>
            <a:ext cx="7277100" cy="1143000"/>
          </a:xfrm>
          <a:custGeom>
            <a:avLst/>
            <a:gdLst>
              <a:gd name="connsiteX0" fmla="*/ 0 w 7277100"/>
              <a:gd name="connsiteY0" fmla="*/ 0 h 1143000"/>
              <a:gd name="connsiteX1" fmla="*/ 114300 w 7277100"/>
              <a:gd name="connsiteY1" fmla="*/ 0 h 1143000"/>
              <a:gd name="connsiteX2" fmla="*/ 3773714 w 7277100"/>
              <a:gd name="connsiteY2" fmla="*/ 0 h 1143000"/>
              <a:gd name="connsiteX3" fmla="*/ 7162800 w 7277100"/>
              <a:gd name="connsiteY3" fmla="*/ 0 h 1143000"/>
              <a:gd name="connsiteX4" fmla="*/ 7277100 w 7277100"/>
              <a:gd name="connsiteY4" fmla="*/ 114300 h 1143000"/>
              <a:gd name="connsiteX5" fmla="*/ 7277100 w 7277100"/>
              <a:gd name="connsiteY5" fmla="*/ 1028700 h 1143000"/>
              <a:gd name="connsiteX6" fmla="*/ 7162800 w 7277100"/>
              <a:gd name="connsiteY6" fmla="*/ 1143000 h 1143000"/>
              <a:gd name="connsiteX7" fmla="*/ 3773714 w 7277100"/>
              <a:gd name="connsiteY7" fmla="*/ 1143000 h 1143000"/>
              <a:gd name="connsiteX8" fmla="*/ 114300 w 7277100"/>
              <a:gd name="connsiteY8" fmla="*/ 1143000 h 1143000"/>
              <a:gd name="connsiteX9" fmla="*/ 0 w 7277100"/>
              <a:gd name="connsiteY9" fmla="*/ 1143000 h 1143000"/>
              <a:gd name="connsiteX10" fmla="*/ 0 w 7277100"/>
              <a:gd name="connsiteY10" fmla="*/ 1028700 h 1143000"/>
              <a:gd name="connsiteX11" fmla="*/ 0 w 7277100"/>
              <a:gd name="connsiteY11" fmla="*/ 114300 h 1143000"/>
              <a:gd name="connsiteX0-1" fmla="*/ 0 w 7277100"/>
              <a:gd name="connsiteY0-2" fmla="*/ 0 h 1143000"/>
              <a:gd name="connsiteX1-3" fmla="*/ 114300 w 7277100"/>
              <a:gd name="connsiteY1-4" fmla="*/ 0 h 1143000"/>
              <a:gd name="connsiteX2-5" fmla="*/ 7162800 w 7277100"/>
              <a:gd name="connsiteY2-6" fmla="*/ 0 h 1143000"/>
              <a:gd name="connsiteX3-7" fmla="*/ 7277100 w 7277100"/>
              <a:gd name="connsiteY3-8" fmla="*/ 114300 h 1143000"/>
              <a:gd name="connsiteX4-9" fmla="*/ 7277100 w 7277100"/>
              <a:gd name="connsiteY4-10" fmla="*/ 1028700 h 1143000"/>
              <a:gd name="connsiteX5-11" fmla="*/ 7162800 w 7277100"/>
              <a:gd name="connsiteY5-12" fmla="*/ 1143000 h 1143000"/>
              <a:gd name="connsiteX6-13" fmla="*/ 3773714 w 7277100"/>
              <a:gd name="connsiteY6-14" fmla="*/ 1143000 h 1143000"/>
              <a:gd name="connsiteX7-15" fmla="*/ 114300 w 7277100"/>
              <a:gd name="connsiteY7-16" fmla="*/ 1143000 h 1143000"/>
              <a:gd name="connsiteX8-17" fmla="*/ 0 w 7277100"/>
              <a:gd name="connsiteY8-18" fmla="*/ 1143000 h 1143000"/>
              <a:gd name="connsiteX9-19" fmla="*/ 0 w 7277100"/>
              <a:gd name="connsiteY9-20" fmla="*/ 1028700 h 1143000"/>
              <a:gd name="connsiteX10-21" fmla="*/ 0 w 7277100"/>
              <a:gd name="connsiteY10-22" fmla="*/ 114300 h 1143000"/>
              <a:gd name="connsiteX11-23" fmla="*/ 0 w 7277100"/>
              <a:gd name="connsiteY11-24" fmla="*/ 0 h 1143000"/>
              <a:gd name="connsiteX0-25" fmla="*/ 0 w 7277100"/>
              <a:gd name="connsiteY0-26" fmla="*/ 0 h 1143000"/>
              <a:gd name="connsiteX1-27" fmla="*/ 114300 w 7277100"/>
              <a:gd name="connsiteY1-28" fmla="*/ 0 h 1143000"/>
              <a:gd name="connsiteX2-29" fmla="*/ 7162800 w 7277100"/>
              <a:gd name="connsiteY2-30" fmla="*/ 0 h 1143000"/>
              <a:gd name="connsiteX3-31" fmla="*/ 7277100 w 7277100"/>
              <a:gd name="connsiteY3-32" fmla="*/ 114300 h 1143000"/>
              <a:gd name="connsiteX4-33" fmla="*/ 7277100 w 7277100"/>
              <a:gd name="connsiteY4-34" fmla="*/ 1028700 h 1143000"/>
              <a:gd name="connsiteX5-35" fmla="*/ 7162800 w 7277100"/>
              <a:gd name="connsiteY5-36" fmla="*/ 1143000 h 1143000"/>
              <a:gd name="connsiteX6-37" fmla="*/ 114300 w 7277100"/>
              <a:gd name="connsiteY6-38" fmla="*/ 1143000 h 1143000"/>
              <a:gd name="connsiteX7-39" fmla="*/ 0 w 7277100"/>
              <a:gd name="connsiteY7-40" fmla="*/ 1143000 h 1143000"/>
              <a:gd name="connsiteX8-41" fmla="*/ 0 w 7277100"/>
              <a:gd name="connsiteY8-42" fmla="*/ 1028700 h 1143000"/>
              <a:gd name="connsiteX9-43" fmla="*/ 0 w 7277100"/>
              <a:gd name="connsiteY9-44" fmla="*/ 114300 h 1143000"/>
              <a:gd name="connsiteX10-45" fmla="*/ 0 w 7277100"/>
              <a:gd name="connsiteY10-4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7277100" h="1143000">
                <a:moveTo>
                  <a:pt x="0" y="0"/>
                </a:moveTo>
                <a:lnTo>
                  <a:pt x="114300" y="0"/>
                </a:lnTo>
                <a:lnTo>
                  <a:pt x="7162800" y="0"/>
                </a:lnTo>
                <a:cubicBezTo>
                  <a:pt x="7225926" y="0"/>
                  <a:pt x="7277100" y="51174"/>
                  <a:pt x="7277100" y="114300"/>
                </a:cubicBezTo>
                <a:lnTo>
                  <a:pt x="7277100" y="1028700"/>
                </a:lnTo>
                <a:cubicBezTo>
                  <a:pt x="7277100" y="1091826"/>
                  <a:pt x="7225926" y="1143000"/>
                  <a:pt x="7162800" y="1143000"/>
                </a:cubicBezTo>
                <a:lnTo>
                  <a:pt x="114300" y="1143000"/>
                </a:lnTo>
                <a:lnTo>
                  <a:pt x="0" y="1143000"/>
                </a:lnTo>
                <a:lnTo>
                  <a:pt x="0" y="1028700"/>
                </a:lnTo>
                <a:lnTo>
                  <a:pt x="0" y="114300"/>
                </a:lnTo>
                <a:lnTo>
                  <a:pt x="0" y="0"/>
                </a:lnTo>
                <a:close/>
              </a:path>
            </a:pathLst>
          </a:cu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28"/>
          <p:cNvSpPr/>
          <p:nvPr/>
        </p:nvSpPr>
        <p:spPr>
          <a:xfrm>
            <a:off x="7429500" y="2784154"/>
            <a:ext cx="4762500" cy="1143000"/>
          </a:xfrm>
          <a:custGeom>
            <a:avLst/>
            <a:gdLst>
              <a:gd name="connsiteX0" fmla="*/ 114300 w 4762500"/>
              <a:gd name="connsiteY0" fmla="*/ 0 h 1143000"/>
              <a:gd name="connsiteX1" fmla="*/ 3722204 w 4762500"/>
              <a:gd name="connsiteY1" fmla="*/ 0 h 1143000"/>
              <a:gd name="connsiteX2" fmla="*/ 4648200 w 4762500"/>
              <a:gd name="connsiteY2" fmla="*/ 0 h 1143000"/>
              <a:gd name="connsiteX3" fmla="*/ 4762500 w 4762500"/>
              <a:gd name="connsiteY3" fmla="*/ 0 h 1143000"/>
              <a:gd name="connsiteX4" fmla="*/ 4762500 w 4762500"/>
              <a:gd name="connsiteY4" fmla="*/ 114300 h 1143000"/>
              <a:gd name="connsiteX5" fmla="*/ 4762500 w 4762500"/>
              <a:gd name="connsiteY5" fmla="*/ 1028700 h 1143000"/>
              <a:gd name="connsiteX6" fmla="*/ 4762500 w 4762500"/>
              <a:gd name="connsiteY6" fmla="*/ 1143000 h 1143000"/>
              <a:gd name="connsiteX7" fmla="*/ 4648200 w 4762500"/>
              <a:gd name="connsiteY7" fmla="*/ 1143000 h 1143000"/>
              <a:gd name="connsiteX8" fmla="*/ 3722204 w 4762500"/>
              <a:gd name="connsiteY8" fmla="*/ 1143000 h 1143000"/>
              <a:gd name="connsiteX9" fmla="*/ 114300 w 4762500"/>
              <a:gd name="connsiteY9" fmla="*/ 1143000 h 1143000"/>
              <a:gd name="connsiteX10" fmla="*/ 0 w 4762500"/>
              <a:gd name="connsiteY10" fmla="*/ 1028700 h 1143000"/>
              <a:gd name="connsiteX11" fmla="*/ 0 w 4762500"/>
              <a:gd name="connsiteY11" fmla="*/ 114300 h 1143000"/>
              <a:gd name="connsiteX12" fmla="*/ 114300 w 4762500"/>
              <a:gd name="connsiteY12" fmla="*/ 0 h 1143000"/>
              <a:gd name="connsiteX0-1" fmla="*/ 114300 w 4762500"/>
              <a:gd name="connsiteY0-2" fmla="*/ 0 h 1143000"/>
              <a:gd name="connsiteX1-3" fmla="*/ 4648200 w 4762500"/>
              <a:gd name="connsiteY1-4" fmla="*/ 0 h 1143000"/>
              <a:gd name="connsiteX2-5" fmla="*/ 4762500 w 4762500"/>
              <a:gd name="connsiteY2-6" fmla="*/ 0 h 1143000"/>
              <a:gd name="connsiteX3-7" fmla="*/ 4762500 w 4762500"/>
              <a:gd name="connsiteY3-8" fmla="*/ 114300 h 1143000"/>
              <a:gd name="connsiteX4-9" fmla="*/ 4762500 w 4762500"/>
              <a:gd name="connsiteY4-10" fmla="*/ 1028700 h 1143000"/>
              <a:gd name="connsiteX5-11" fmla="*/ 4762500 w 4762500"/>
              <a:gd name="connsiteY5-12" fmla="*/ 1143000 h 1143000"/>
              <a:gd name="connsiteX6-13" fmla="*/ 4648200 w 4762500"/>
              <a:gd name="connsiteY6-14" fmla="*/ 1143000 h 1143000"/>
              <a:gd name="connsiteX7-15" fmla="*/ 3722204 w 4762500"/>
              <a:gd name="connsiteY7-16" fmla="*/ 1143000 h 1143000"/>
              <a:gd name="connsiteX8-17" fmla="*/ 114300 w 4762500"/>
              <a:gd name="connsiteY8-18" fmla="*/ 1143000 h 1143000"/>
              <a:gd name="connsiteX9-19" fmla="*/ 0 w 4762500"/>
              <a:gd name="connsiteY9-20" fmla="*/ 1028700 h 1143000"/>
              <a:gd name="connsiteX10-21" fmla="*/ 0 w 4762500"/>
              <a:gd name="connsiteY10-22" fmla="*/ 114300 h 1143000"/>
              <a:gd name="connsiteX11-23" fmla="*/ 114300 w 4762500"/>
              <a:gd name="connsiteY11-24" fmla="*/ 0 h 1143000"/>
              <a:gd name="connsiteX0-25" fmla="*/ 114300 w 4762500"/>
              <a:gd name="connsiteY0-26" fmla="*/ 0 h 1143000"/>
              <a:gd name="connsiteX1-27" fmla="*/ 4648200 w 4762500"/>
              <a:gd name="connsiteY1-28" fmla="*/ 0 h 1143000"/>
              <a:gd name="connsiteX2-29" fmla="*/ 4762500 w 4762500"/>
              <a:gd name="connsiteY2-30" fmla="*/ 0 h 1143000"/>
              <a:gd name="connsiteX3-31" fmla="*/ 4762500 w 4762500"/>
              <a:gd name="connsiteY3-32" fmla="*/ 114300 h 1143000"/>
              <a:gd name="connsiteX4-33" fmla="*/ 4762500 w 4762500"/>
              <a:gd name="connsiteY4-34" fmla="*/ 1028700 h 1143000"/>
              <a:gd name="connsiteX5-35" fmla="*/ 4762500 w 4762500"/>
              <a:gd name="connsiteY5-36" fmla="*/ 1143000 h 1143000"/>
              <a:gd name="connsiteX6-37" fmla="*/ 4648200 w 4762500"/>
              <a:gd name="connsiteY6-38" fmla="*/ 1143000 h 1143000"/>
              <a:gd name="connsiteX7-39" fmla="*/ 114300 w 4762500"/>
              <a:gd name="connsiteY7-40" fmla="*/ 1143000 h 1143000"/>
              <a:gd name="connsiteX8-41" fmla="*/ 0 w 4762500"/>
              <a:gd name="connsiteY8-42" fmla="*/ 1028700 h 1143000"/>
              <a:gd name="connsiteX9-43" fmla="*/ 0 w 4762500"/>
              <a:gd name="connsiteY9-44" fmla="*/ 114300 h 1143000"/>
              <a:gd name="connsiteX10-45" fmla="*/ 114300 w 4762500"/>
              <a:gd name="connsiteY10-4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762500" h="1143000">
                <a:moveTo>
                  <a:pt x="114300" y="0"/>
                </a:moveTo>
                <a:lnTo>
                  <a:pt x="4648200" y="0"/>
                </a:lnTo>
                <a:lnTo>
                  <a:pt x="4762500" y="0"/>
                </a:lnTo>
                <a:lnTo>
                  <a:pt x="4762500" y="114300"/>
                </a:lnTo>
                <a:lnTo>
                  <a:pt x="4762500" y="1028700"/>
                </a:lnTo>
                <a:lnTo>
                  <a:pt x="4762500" y="1143000"/>
                </a:lnTo>
                <a:lnTo>
                  <a:pt x="4648200" y="1143000"/>
                </a:lnTo>
                <a:lnTo>
                  <a:pt x="114300" y="1143000"/>
                </a:lnTo>
                <a:cubicBezTo>
                  <a:pt x="51174" y="1143000"/>
                  <a:pt x="0" y="1091826"/>
                  <a:pt x="0" y="1028700"/>
                </a:cubicBezTo>
                <a:lnTo>
                  <a:pt x="0" y="114300"/>
                </a:lnTo>
                <a:cubicBezTo>
                  <a:pt x="0" y="51174"/>
                  <a:pt x="51174" y="0"/>
                  <a:pt x="114300" y="0"/>
                </a:cubicBezTo>
                <a:close/>
              </a:path>
            </a:pathLst>
          </a:custGeom>
          <a:solidFill>
            <a:srgbClr val="B83835">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7429500" y="4060504"/>
            <a:ext cx="1485900" cy="1143000"/>
          </a:xfrm>
          <a:prstGeom prst="roundRect">
            <a:avLst>
              <a:gd name="adj" fmla="val 10000"/>
            </a:avLst>
          </a:prstGeom>
          <a:solidFill>
            <a:srgbClr val="B83835">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5355771" y="2784154"/>
            <a:ext cx="1921329" cy="1143000"/>
          </a:xfrm>
          <a:prstGeom prst="roundRect">
            <a:avLst>
              <a:gd name="adj" fmla="val 10000"/>
            </a:avLst>
          </a:prstGeom>
          <a:solidFill>
            <a:srgbClr val="B83835">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10706100" y="4060504"/>
            <a:ext cx="1921329" cy="1143000"/>
          </a:xfrm>
          <a:prstGeom prst="roundRect">
            <a:avLst>
              <a:gd name="adj" fmla="val 10000"/>
            </a:avLst>
          </a:prstGeom>
          <a:solidFill>
            <a:srgbClr val="B83835">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1" descr="00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709" y="398914"/>
            <a:ext cx="1662557" cy="42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圆角矩形 22"/>
          <p:cNvSpPr/>
          <p:nvPr/>
        </p:nvSpPr>
        <p:spPr>
          <a:xfrm rot="5400000">
            <a:off x="11819164" y="3925813"/>
            <a:ext cx="1921329" cy="1143000"/>
          </a:xfrm>
          <a:prstGeom prst="roundRect">
            <a:avLst>
              <a:gd name="adj" fmla="val 10000"/>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8590843" y="5727360"/>
            <a:ext cx="3309691" cy="513346"/>
          </a:xfrm>
          <a:prstGeom prst="rect">
            <a:avLst/>
          </a:prstGeom>
          <a:noFill/>
        </p:spPr>
        <p:txBody>
          <a:bodyPr wrap="square" rtlCol="0">
            <a:spAutoFit/>
            <a:scene3d>
              <a:camera prst="orthographicFront"/>
              <a:lightRig rig="threePt" dir="t"/>
            </a:scene3d>
            <a:sp3d contourW="12700"/>
          </a:bodyPr>
          <a:lstStyle/>
          <a:p>
            <a:pPr algn="r">
              <a:lnSpc>
                <a:spcPct val="114000"/>
              </a:lnSpc>
            </a:pPr>
            <a:r>
              <a:rPr lang="en-US" altLang="zh-CN" sz="2400" b="1" dirty="0">
                <a:solidFill>
                  <a:schemeClr val="tx1">
                    <a:lumMod val="75000"/>
                    <a:lumOff val="25000"/>
                  </a:schemeClr>
                </a:solidFill>
                <a:latin typeface="Century Gothic" panose="020B0502020202020204" pitchFamily="34" charset="0"/>
                <a:ea typeface="+mj-ea"/>
              </a:rPr>
              <a:t>FOF</a:t>
            </a:r>
            <a:r>
              <a:rPr lang="zh-CN" altLang="en-US" sz="2400" b="1" dirty="0">
                <a:solidFill>
                  <a:schemeClr val="tx1">
                    <a:lumMod val="75000"/>
                    <a:lumOff val="25000"/>
                  </a:schemeClr>
                </a:solidFill>
                <a:latin typeface="Century Gothic" panose="020B0502020202020204" pitchFamily="34" charset="0"/>
                <a:ea typeface="+mj-ea"/>
              </a:rPr>
              <a:t>投资管理部</a:t>
            </a:r>
            <a:r>
              <a:rPr lang="en-US" altLang="zh-CN" sz="2400" b="1" dirty="0">
                <a:solidFill>
                  <a:schemeClr val="tx1">
                    <a:lumMod val="75000"/>
                    <a:lumOff val="25000"/>
                  </a:schemeClr>
                </a:solidFill>
                <a:latin typeface="Century Gothic" panose="020B0502020202020204" pitchFamily="34" charset="0"/>
                <a:ea typeface="+mj-ea"/>
              </a:rPr>
              <a:t>-</a:t>
            </a:r>
            <a:r>
              <a:rPr lang="zh-CN" altLang="en-US" sz="2400" b="1" dirty="0">
                <a:solidFill>
                  <a:schemeClr val="tx1">
                    <a:lumMod val="75000"/>
                    <a:lumOff val="25000"/>
                  </a:schemeClr>
                </a:solidFill>
                <a:latin typeface="Century Gothic" panose="020B0502020202020204" pitchFamily="34" charset="0"/>
                <a:ea typeface="+mj-ea"/>
              </a:rPr>
              <a:t>吴致超</a:t>
            </a:r>
            <a:endParaRPr lang="en-US" altLang="zh-CN" sz="2400" b="1" dirty="0">
              <a:solidFill>
                <a:srgbClr val="B83835"/>
              </a:solidFill>
              <a:latin typeface="Century Gothic" panose="020B0502020202020204" pitchFamily="34" charset="0"/>
              <a:ea typeface="+mj-ea"/>
            </a:endParaRPr>
          </a:p>
        </p:txBody>
      </p:sp>
      <p:sp>
        <p:nvSpPr>
          <p:cNvPr id="5" name="文本框 4"/>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par>
                          <p:cTn id="17" fill="hold">
                            <p:stCondLst>
                              <p:cond delay="1000"/>
                            </p:stCondLst>
                            <p:childTnLst>
                              <p:par>
                                <p:cTn id="18" presetID="2" presetClass="entr" presetSubtype="8"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0-#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childTnLst>
                          </p:cTn>
                        </p:par>
                        <p:par>
                          <p:cTn id="42" fill="hold">
                            <p:stCondLst>
                              <p:cond delay="4000"/>
                            </p:stCondLst>
                            <p:childTnLst>
                              <p:par>
                                <p:cTn id="43" presetID="2" presetClass="entr" presetSubtype="8" fill="hold" grpId="0" nodeType="after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additive="base">
                                        <p:cTn id="45" dur="500" fill="hold"/>
                                        <p:tgtEl>
                                          <p:spTgt spid="24"/>
                                        </p:tgtEl>
                                        <p:attrNameLst>
                                          <p:attrName>ppt_x</p:attrName>
                                        </p:attrNameLst>
                                      </p:cBhvr>
                                      <p:tavLst>
                                        <p:tav tm="0">
                                          <p:val>
                                            <p:strVal val="0-#ppt_w/2"/>
                                          </p:val>
                                        </p:tav>
                                        <p:tav tm="100000">
                                          <p:val>
                                            <p:strVal val="#ppt_x"/>
                                          </p:val>
                                        </p:tav>
                                      </p:tavLst>
                                    </p:anim>
                                    <p:anim calcmode="lin" valueType="num">
                                      <p:cBhvr additive="base">
                                        <p:cTn id="46"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12" grpId="0" animBg="1"/>
      <p:bldP spid="13" grpId="0" animBg="1"/>
      <p:bldP spid="14" grpId="0" animBg="1"/>
      <p:bldP spid="15" grpId="0" animBg="1"/>
      <p:bldP spid="18" grpId="0" animBg="1"/>
      <p:bldP spid="23" grpId="0" animBg="1"/>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9587" y="2199005"/>
            <a:ext cx="5605780" cy="3291840"/>
          </a:xfrm>
          <a:prstGeom prst="rect">
            <a:avLst/>
          </a:prstGeom>
          <a:blipFill rotWithShape="0">
            <a:blip r:embed="rId2"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1358265"/>
            <a:ext cx="6185366" cy="4132580"/>
          </a:xfrm>
          <a:prstGeom prst="rect">
            <a:avLst/>
          </a:prstGeom>
          <a:solidFill>
            <a:srgbClr val="C3373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945030" y="2446020"/>
            <a:ext cx="1637665" cy="829945"/>
          </a:xfrm>
          <a:prstGeom prst="rect">
            <a:avLst/>
          </a:prstGeom>
          <a:noFill/>
        </p:spPr>
        <p:txBody>
          <a:bodyPr wrap="square" rtlCol="0">
            <a:spAutoFit/>
          </a:bodyPr>
          <a:lstStyle/>
          <a:p>
            <a:pPr algn="l"/>
            <a:r>
              <a:rPr lang="zh-CN" altLang="en-US" sz="4800" b="1" dirty="0">
                <a:solidFill>
                  <a:schemeClr val="bg1"/>
                </a:solidFill>
                <a:latin typeface="微软雅黑" panose="020B0503020204020204" pitchFamily="34" charset="-122"/>
                <a:ea typeface="微软雅黑" panose="020B0503020204020204" pitchFamily="34" charset="-122"/>
              </a:rPr>
              <a:t>目 录</a:t>
            </a:r>
          </a:p>
        </p:txBody>
      </p:sp>
      <p:sp>
        <p:nvSpPr>
          <p:cNvPr id="5" name="文本框 4"/>
          <p:cNvSpPr txBox="1"/>
          <p:nvPr/>
        </p:nvSpPr>
        <p:spPr>
          <a:xfrm>
            <a:off x="2100388" y="3298559"/>
            <a:ext cx="3074035" cy="706755"/>
          </a:xfrm>
          <a:prstGeom prst="rect">
            <a:avLst/>
          </a:prstGeom>
          <a:noFill/>
        </p:spPr>
        <p:txBody>
          <a:bodyPr wrap="square" rtlCol="0">
            <a:spAutoFit/>
          </a:bodyPr>
          <a:lstStyle/>
          <a:p>
            <a:pPr algn="r"/>
            <a:r>
              <a:rPr lang="en-US" altLang="zh-CN" sz="4000" b="1" dirty="0">
                <a:solidFill>
                  <a:schemeClr val="bg1"/>
                </a:solidFill>
                <a:latin typeface="Arial" panose="020B0604020202020204" pitchFamily="34" charset="0"/>
                <a:ea typeface="方正清刻本悦宋简体" panose="02000000000000000000" charset="-122"/>
              </a:rPr>
              <a:t>CONTENTS</a:t>
            </a:r>
          </a:p>
        </p:txBody>
      </p:sp>
      <p:sp>
        <p:nvSpPr>
          <p:cNvPr id="7" name="文本框 6"/>
          <p:cNvSpPr txBox="1"/>
          <p:nvPr/>
        </p:nvSpPr>
        <p:spPr>
          <a:xfrm>
            <a:off x="9155532" y="2644898"/>
            <a:ext cx="2207744" cy="430886"/>
          </a:xfrm>
          <a:prstGeom prst="rect">
            <a:avLst/>
          </a:prstGeom>
          <a:noFill/>
        </p:spPr>
        <p:txBody>
          <a:bodyPr wrap="square" rtlCol="0" anchor="t" anchorCtr="0">
            <a:spAutoFit/>
          </a:bodyPr>
          <a:lstStyle/>
          <a:p>
            <a:pPr algn="l" fontAlgn="auto">
              <a:lnSpc>
                <a:spcPct val="100000"/>
              </a:lnSpc>
            </a:pPr>
            <a:r>
              <a:rPr lang="zh-CN" altLang="en-US" sz="2200" b="1" dirty="0">
                <a:solidFill>
                  <a:srgbClr val="B83835"/>
                </a:solidFill>
                <a:latin typeface="微软雅黑" panose="020B0503020204020204" pitchFamily="34" charset="-122"/>
                <a:ea typeface="微软雅黑" panose="020B0503020204020204" pitchFamily="34" charset="-122"/>
                <a:sym typeface="+mn-ea"/>
              </a:rPr>
              <a:t>团队介绍</a:t>
            </a:r>
          </a:p>
        </p:txBody>
      </p:sp>
      <p:sp>
        <p:nvSpPr>
          <p:cNvPr id="9" name="文本框 8"/>
          <p:cNvSpPr txBox="1"/>
          <p:nvPr/>
        </p:nvSpPr>
        <p:spPr>
          <a:xfrm>
            <a:off x="9155532" y="3500243"/>
            <a:ext cx="2446905" cy="430887"/>
          </a:xfrm>
          <a:prstGeom prst="rect">
            <a:avLst/>
          </a:prstGeom>
          <a:noFill/>
        </p:spPr>
        <p:txBody>
          <a:bodyPr wrap="square" rtlCol="0" anchor="t" anchorCtr="0">
            <a:spAutoFit/>
          </a:bodyPr>
          <a:lstStyle/>
          <a:p>
            <a:r>
              <a:t>投资体系（资产配置 / ETF轮动 / ETF收益增强）</a:t>
            </a:r>
          </a:p>
        </p:txBody>
      </p:sp>
      <p:sp>
        <p:nvSpPr>
          <p:cNvPr id="14" name="矩形 13"/>
          <p:cNvSpPr/>
          <p:nvPr/>
        </p:nvSpPr>
        <p:spPr>
          <a:xfrm>
            <a:off x="1027825" y="3270220"/>
            <a:ext cx="4009438"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7589622" y="2523557"/>
            <a:ext cx="1429385" cy="645160"/>
          </a:xfrm>
          <a:prstGeom prst="rect">
            <a:avLst/>
          </a:prstGeom>
          <a:noFill/>
        </p:spPr>
        <p:txBody>
          <a:bodyPr wrap="square" rtlCol="0">
            <a:spAutoFit/>
          </a:bodyPr>
          <a:lstStyle/>
          <a:p>
            <a:pPr algn="r"/>
            <a:r>
              <a:rPr lang="en-US" altLang="zh-CN" b="1" dirty="0">
                <a:latin typeface="微软雅黑" panose="020B0503020204020204" pitchFamily="34" charset="-122"/>
                <a:ea typeface="微软雅黑" panose="020B0503020204020204" pitchFamily="34" charset="-122"/>
              </a:rPr>
              <a:t>PART</a:t>
            </a:r>
            <a:r>
              <a:rPr lang="en-US" altLang="zh-CN" dirty="0">
                <a:latin typeface="Arial" panose="020B0604020202020204" pitchFamily="34" charset="0"/>
              </a:rPr>
              <a:t> </a:t>
            </a:r>
            <a:r>
              <a:rPr lang="en-US" altLang="zh-CN" sz="3600" dirty="0">
                <a:latin typeface="Arial" panose="020B0604020202020204" pitchFamily="34" charset="0"/>
              </a:rPr>
              <a:t>01</a:t>
            </a:r>
          </a:p>
        </p:txBody>
      </p:sp>
      <p:sp>
        <p:nvSpPr>
          <p:cNvPr id="18" name="文本框 17"/>
          <p:cNvSpPr txBox="1"/>
          <p:nvPr/>
        </p:nvSpPr>
        <p:spPr>
          <a:xfrm>
            <a:off x="7589621" y="3360154"/>
            <a:ext cx="1429385" cy="645160"/>
          </a:xfrm>
          <a:prstGeom prst="rect">
            <a:avLst/>
          </a:prstGeom>
          <a:noFill/>
        </p:spPr>
        <p:txBody>
          <a:bodyPr wrap="square" rtlCol="0">
            <a:spAutoFit/>
          </a:bodyPr>
          <a:lstStyle/>
          <a:p>
            <a:pPr algn="r"/>
            <a:r>
              <a:rPr lang="en-US" altLang="zh-CN" b="1" dirty="0">
                <a:latin typeface="微软雅黑" panose="020B0503020204020204" pitchFamily="34" charset="-122"/>
                <a:ea typeface="微软雅黑" panose="020B0503020204020204" pitchFamily="34" charset="-122"/>
              </a:rPr>
              <a:t>PART</a:t>
            </a:r>
            <a:r>
              <a:rPr lang="en-US" altLang="zh-CN" dirty="0">
                <a:latin typeface="Arial" panose="020B0604020202020204" pitchFamily="34" charset="0"/>
              </a:rPr>
              <a:t> </a:t>
            </a:r>
            <a:r>
              <a:rPr lang="en-US" altLang="en-US" sz="3600" dirty="0">
                <a:latin typeface="Arial" panose="020B0604020202020204" pitchFamily="34" charset="0"/>
              </a:rPr>
              <a:t>02</a:t>
            </a:r>
            <a:endParaRPr lang="en-US" altLang="zh-CN" sz="3600" dirty="0">
              <a:latin typeface="Arial" panose="020B0604020202020204" pitchFamily="34" charset="0"/>
            </a:endParaRPr>
          </a:p>
        </p:txBody>
      </p:sp>
      <p:sp>
        <p:nvSpPr>
          <p:cNvPr id="6" name="文本框 5"/>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par>
                          <p:cTn id="20" fill="hold">
                            <p:stCondLst>
                              <p:cond delay="2000"/>
                            </p:stCondLst>
                            <p:childTnLst>
                              <p:par>
                                <p:cTn id="21" presetID="29"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ppt_x</p:attrName>
                                        </p:attrNameLst>
                                      </p:cBhvr>
                                      <p:tavLst>
                                        <p:tav tm="0">
                                          <p:val>
                                            <p:strVal val="#ppt_x-.2"/>
                                          </p:val>
                                        </p:tav>
                                        <p:tav tm="100000">
                                          <p:val>
                                            <p:strVal val="#ppt_x"/>
                                          </p:val>
                                        </p:tav>
                                      </p:tavLst>
                                    </p:anim>
                                    <p:anim calcmode="lin" valueType="num">
                                      <p:cBhvr>
                                        <p:cTn id="24"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5" dur="500"/>
                                        <p:tgtEl>
                                          <p:spTgt spid="7"/>
                                        </p:tgtEl>
                                      </p:cBhvr>
                                    </p:animEffect>
                                  </p:childTnLst>
                                </p:cTn>
                              </p:par>
                            </p:childTnLst>
                          </p:cTn>
                        </p:par>
                        <p:par>
                          <p:cTn id="26" fill="hold">
                            <p:stCondLst>
                              <p:cond delay="2500"/>
                            </p:stCondLst>
                            <p:childTnLst>
                              <p:par>
                                <p:cTn id="27" presetID="29" presetClass="entr" presetSubtype="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ppt_x</p:attrName>
                                        </p:attrNameLst>
                                      </p:cBhvr>
                                      <p:tavLst>
                                        <p:tav tm="0">
                                          <p:val>
                                            <p:strVal val="#ppt_x-.2"/>
                                          </p:val>
                                        </p:tav>
                                        <p:tav tm="100000">
                                          <p:val>
                                            <p:strVal val="#ppt_x"/>
                                          </p:val>
                                        </p:tav>
                                      </p:tavLst>
                                    </p:anim>
                                    <p:anim calcmode="lin" valueType="num">
                                      <p:cBhvr>
                                        <p:cTn id="30"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31" dur="500"/>
                                        <p:tgtEl>
                                          <p:spTgt spid="9"/>
                                        </p:tgtEl>
                                      </p:cBhvr>
                                    </p:animEffect>
                                  </p:childTnLst>
                                </p:cTn>
                              </p:par>
                            </p:childTnLst>
                          </p:cTn>
                        </p:par>
                        <p:par>
                          <p:cTn id="32" fill="hold">
                            <p:stCondLst>
                              <p:cond delay="3000"/>
                            </p:stCondLst>
                            <p:childTnLst>
                              <p:par>
                                <p:cTn id="33" presetID="22" presetClass="entr" presetSubtype="8"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par>
                          <p:cTn id="36" fill="hold">
                            <p:stCondLst>
                              <p:cond delay="3500"/>
                            </p:stCondLst>
                            <p:childTnLst>
                              <p:par>
                                <p:cTn id="37" presetID="53" presetClass="entr" presetSubtype="16"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animEffect transition="in" filter="fade">
                                      <p:cBhvr>
                                        <p:cTn id="41" dur="500"/>
                                        <p:tgtEl>
                                          <p:spTgt spid="17"/>
                                        </p:tgtEl>
                                      </p:cBhvr>
                                    </p:animEffect>
                                  </p:childTnLst>
                                </p:cTn>
                              </p:par>
                            </p:childTnLst>
                          </p:cTn>
                        </p:par>
                        <p:par>
                          <p:cTn id="42" fill="hold">
                            <p:stCondLst>
                              <p:cond delay="4000"/>
                            </p:stCondLst>
                            <p:childTnLst>
                              <p:par>
                                <p:cTn id="43" presetID="53" presetClass="entr" presetSubtype="16"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p:cTn id="45" dur="500" fill="hold"/>
                                        <p:tgtEl>
                                          <p:spTgt spid="18"/>
                                        </p:tgtEl>
                                        <p:attrNameLst>
                                          <p:attrName>ppt_w</p:attrName>
                                        </p:attrNameLst>
                                      </p:cBhvr>
                                      <p:tavLst>
                                        <p:tav tm="0">
                                          <p:val>
                                            <p:fltVal val="0"/>
                                          </p:val>
                                        </p:tav>
                                        <p:tav tm="100000">
                                          <p:val>
                                            <p:strVal val="#ppt_w"/>
                                          </p:val>
                                        </p:tav>
                                      </p:tavLst>
                                    </p:anim>
                                    <p:anim calcmode="lin" valueType="num">
                                      <p:cBhvr>
                                        <p:cTn id="46" dur="500" fill="hold"/>
                                        <p:tgtEl>
                                          <p:spTgt spid="18"/>
                                        </p:tgtEl>
                                        <p:attrNameLst>
                                          <p:attrName>ppt_h</p:attrName>
                                        </p:attrNameLst>
                                      </p:cBhvr>
                                      <p:tavLst>
                                        <p:tav tm="0">
                                          <p:val>
                                            <p:fltVal val="0"/>
                                          </p:val>
                                        </p:tav>
                                        <p:tav tm="100000">
                                          <p:val>
                                            <p:strVal val="#ppt_h"/>
                                          </p:val>
                                        </p:tav>
                                      </p:tavLst>
                                    </p:anim>
                                    <p:animEffect transition="in" filter="fade">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4" grpId="0"/>
      <p:bldP spid="5" grpId="0"/>
      <p:bldP spid="7" grpId="0"/>
      <p:bldP spid="9" grpId="0"/>
      <p:bldP spid="14" grpId="0" bldLvl="0" animBg="1"/>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45655" y="1836420"/>
            <a:ext cx="5045710" cy="3185795"/>
          </a:xfrm>
          <a:prstGeom prst="rect">
            <a:avLst/>
          </a:prstGeom>
          <a:blipFill rotWithShape="1">
            <a:blip r:embed="rId2"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      </a:t>
            </a:r>
            <a:endParaRPr lang="zh-CN" altLang="en-US" dirty="0"/>
          </a:p>
        </p:txBody>
      </p:sp>
      <p:sp>
        <p:nvSpPr>
          <p:cNvPr id="3" name="矩形 2"/>
          <p:cNvSpPr/>
          <p:nvPr/>
        </p:nvSpPr>
        <p:spPr>
          <a:xfrm>
            <a:off x="0" y="1836420"/>
            <a:ext cx="7026910" cy="3185795"/>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5"/>
          <p:cNvCxnSpPr/>
          <p:nvPr/>
        </p:nvCxnSpPr>
        <p:spPr>
          <a:xfrm>
            <a:off x="0" y="1719552"/>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5139027"/>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39940" y="2742004"/>
            <a:ext cx="3785870" cy="662489"/>
          </a:xfrm>
          <a:prstGeom prst="rect">
            <a:avLst/>
          </a:prstGeom>
          <a:noFill/>
        </p:spPr>
        <p:txBody>
          <a:bodyPr wrap="square" rtlCol="0">
            <a:spAutoFit/>
          </a:bodyPr>
          <a:lstStyle/>
          <a:p>
            <a:pPr>
              <a:lnSpc>
                <a:spcPct val="150000"/>
              </a:lnSpc>
            </a:pPr>
            <a:r>
              <a:rPr lang="zh-CN" altLang="en-US" sz="2800" b="1" dirty="0">
                <a:solidFill>
                  <a:schemeClr val="bg1"/>
                </a:solidFill>
                <a:latin typeface="微软雅黑" panose="020B0503020204020204" pitchFamily="34" charset="-122"/>
                <a:ea typeface="微软雅黑" panose="020B0503020204020204" pitchFamily="34" charset="-122"/>
                <a:sym typeface="+mn-ea"/>
              </a:rPr>
              <a:t>团队介绍</a:t>
            </a:r>
          </a:p>
        </p:txBody>
      </p:sp>
      <p:sp>
        <p:nvSpPr>
          <p:cNvPr id="8" name="文本框 7"/>
          <p:cNvSpPr txBox="1"/>
          <p:nvPr/>
        </p:nvSpPr>
        <p:spPr>
          <a:xfrm>
            <a:off x="231775" y="2459990"/>
            <a:ext cx="2075180" cy="1938020"/>
          </a:xfrm>
          <a:prstGeom prst="rect">
            <a:avLst/>
          </a:prstGeom>
          <a:noFill/>
        </p:spPr>
        <p:txBody>
          <a:bodyPr wrap="square" rtlCol="0">
            <a:spAutoFit/>
          </a:bodyPr>
          <a:lstStyle/>
          <a:p>
            <a:pPr algn="r"/>
            <a:r>
              <a:rPr lang="en-US" altLang="zh-CN" sz="12000" b="1" dirty="0">
                <a:solidFill>
                  <a:schemeClr val="bg1"/>
                </a:solidFill>
                <a:latin typeface="Arial" panose="020B0604020202020204" pitchFamily="34" charset="0"/>
              </a:rPr>
              <a:t>01</a:t>
            </a:r>
          </a:p>
        </p:txBody>
      </p:sp>
      <p:sp>
        <p:nvSpPr>
          <p:cNvPr id="7" name="文本框 6"/>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par>
                          <p:cTn id="18" fill="hold">
                            <p:stCondLst>
                              <p:cond delay="1500"/>
                            </p:stCondLst>
                            <p:childTnLst>
                              <p:par>
                                <p:cTn id="19" presetID="29"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ppt_x</p:attrName>
                                        </p:attrNameLst>
                                      </p:cBhvr>
                                      <p:tavLst>
                                        <p:tav tm="0">
                                          <p:val>
                                            <p:strVal val="#ppt_x-.2"/>
                                          </p:val>
                                        </p:tav>
                                        <p:tav tm="100000">
                                          <p:val>
                                            <p:strVal val="#ppt_x"/>
                                          </p:val>
                                        </p:tav>
                                      </p:tavLst>
                                    </p:anim>
                                    <p:anim calcmode="lin" valueType="num">
                                      <p:cBhvr>
                                        <p:cTn id="22" dur="5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23" dur="500"/>
                                        <p:tgtEl>
                                          <p:spTgt spid="6"/>
                                        </p:tgtEl>
                                      </p:cBhvr>
                                    </p:animEffect>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anim calcmode="lin" valueType="num">
                                      <p:cBhvr>
                                        <p:cTn id="28" dur="500" fill="hold"/>
                                        <p:tgtEl>
                                          <p:spTgt spid="2"/>
                                        </p:tgtEl>
                                        <p:attrNameLst>
                                          <p:attrName>ppt_x</p:attrName>
                                        </p:attrNameLst>
                                      </p:cBhvr>
                                      <p:tavLst>
                                        <p:tav tm="0">
                                          <p:val>
                                            <p:strVal val="#ppt_x"/>
                                          </p:val>
                                        </p:tav>
                                        <p:tav tm="100000">
                                          <p:val>
                                            <p:strVal val="#ppt_x"/>
                                          </p:val>
                                        </p:tav>
                                      </p:tavLst>
                                    </p:anim>
                                    <p:anim calcmode="lin" valueType="num">
                                      <p:cBhvr>
                                        <p:cTn id="29" dur="500" fill="hold"/>
                                        <p:tgtEl>
                                          <p:spTgt spid="2"/>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grpSp>
        <p:nvGrpSpPr>
          <p:cNvPr id="6" name="组合 5"/>
          <p:cNvGrpSpPr/>
          <p:nvPr/>
        </p:nvGrpSpPr>
        <p:grpSpPr>
          <a:xfrm>
            <a:off x="325629" y="332202"/>
            <a:ext cx="370488" cy="461920"/>
            <a:chOff x="7409" y="353"/>
            <a:chExt cx="1374" cy="1582"/>
          </a:xfrm>
          <a:solidFill>
            <a:srgbClr val="C43635"/>
          </a:solidFill>
        </p:grpSpPr>
        <p:sp>
          <p:nvSpPr>
            <p:cNvPr id="10" name="平行四边形 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sp>
          <p:nvSpPr>
            <p:cNvPr id="11" name="平行四边形 1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grpSp>
      <p:sp>
        <p:nvSpPr>
          <p:cNvPr id="12" name="文本框 11"/>
          <p:cNvSpPr txBox="1"/>
          <p:nvPr/>
        </p:nvSpPr>
        <p:spPr>
          <a:xfrm>
            <a:off x="782767" y="328874"/>
            <a:ext cx="4036836" cy="430439"/>
          </a:xfrm>
          <a:prstGeom prst="rect">
            <a:avLst/>
          </a:prstGeom>
          <a:noFill/>
        </p:spPr>
        <p:txBody>
          <a:bodyPr wrap="square" rtlCol="0">
            <a:spAutoFit/>
          </a:bodyPr>
          <a:lstStyle/>
          <a:p>
            <a:r>
              <a:rPr lang="zh-CN" altLang="en-US" sz="2195" b="1" dirty="0">
                <a:solidFill>
                  <a:srgbClr val="9F1620"/>
                </a:solidFill>
                <a:latin typeface="微软雅黑" panose="020B0503020204020204" pitchFamily="34" charset="-122"/>
                <a:ea typeface="微软雅黑" panose="020B0503020204020204" pitchFamily="34" charset="-122"/>
                <a:cs typeface="+mn-ea"/>
              </a:rPr>
              <a:t>银华基金</a:t>
            </a:r>
            <a:endParaRPr lang="zh-CN" altLang="en-US" sz="2195" b="1" dirty="0">
              <a:latin typeface="微软雅黑" panose="020B0503020204020204" pitchFamily="34" charset="-122"/>
              <a:ea typeface="微软雅黑" panose="020B0503020204020204" pitchFamily="34" charset="-122"/>
              <a:cs typeface="+mn-ea"/>
            </a:endParaRPr>
          </a:p>
        </p:txBody>
      </p:sp>
      <p:sp>
        <p:nvSpPr>
          <p:cNvPr id="2" name="灯片编号占位符 1"/>
          <p:cNvSpPr>
            <a:spLocks noGrp="1"/>
          </p:cNvSpPr>
          <p:nvPr>
            <p:ph type="sldNum" sz="quarter" idx="4294967295"/>
          </p:nvPr>
        </p:nvSpPr>
        <p:spPr>
          <a:xfrm>
            <a:off x="8736162" y="6639853"/>
            <a:ext cx="2841171" cy="476345"/>
          </a:xfrm>
        </p:spPr>
        <p:txBody>
          <a:bodyPr/>
          <a:lstStyle/>
          <a:p>
            <a:fld id="{01A33459-9038-4A08-9739-D099B456C693}" type="slidenum">
              <a:rPr lang="zh-CN" altLang="en-US" smtClean="0"/>
              <a:t>4</a:t>
            </a:fld>
            <a:endParaRPr lang="zh-CN" altLang="en-US" dirty="0"/>
          </a:p>
        </p:txBody>
      </p:sp>
      <p:sp>
        <p:nvSpPr>
          <p:cNvPr id="31" name="文本框 30"/>
          <p:cNvSpPr txBox="1"/>
          <p:nvPr/>
        </p:nvSpPr>
        <p:spPr>
          <a:xfrm>
            <a:off x="257810" y="839470"/>
            <a:ext cx="11621770" cy="1198880"/>
          </a:xfrm>
          <a:prstGeom prst="rect">
            <a:avLst/>
          </a:prstGeom>
          <a:noFill/>
        </p:spPr>
        <p:txBody>
          <a:bodyPr wrap="square" rtlCol="0">
            <a:spAutoFit/>
          </a:bodyPr>
          <a:lstStyle/>
          <a:p>
            <a:pPr marL="285750" indent="-285750" defTabSz="914400">
              <a:lnSpc>
                <a:spcPct val="150000"/>
              </a:lnSpc>
              <a:spcAft>
                <a:spcPts val="600"/>
              </a:spcAft>
              <a:buClr>
                <a:srgbClr val="C00000"/>
              </a:buClr>
              <a:buFont typeface="Wingdings" panose="05000000000000000000" pitchFamily="2" charset="2"/>
              <a:buChar char="p"/>
              <a:tabLst>
                <a:tab pos="903605" algn="l"/>
              </a:tabLst>
            </a:pPr>
            <a:r>
              <a:rPr lang="zh-CN" altLang="en-US" sz="1600" dirty="0">
                <a:latin typeface="+mj-ea"/>
                <a:ea typeface="+mj-ea"/>
              </a:rPr>
              <a:t>截至</a:t>
            </a:r>
            <a:r>
              <a:rPr lang="en-US" altLang="zh-CN" sz="1600" dirty="0">
                <a:latin typeface="+mj-ea"/>
                <a:ea typeface="+mj-ea"/>
              </a:rPr>
              <a:t>2026</a:t>
            </a:r>
            <a:r>
              <a:rPr lang="zh-CN" altLang="en-US" sz="1600" dirty="0">
                <a:latin typeface="+mj-ea"/>
                <a:ea typeface="+mj-ea"/>
              </a:rPr>
              <a:t>年</a:t>
            </a:r>
            <a:r>
              <a:rPr lang="en-US" altLang="zh-CN" sz="1600" dirty="0">
                <a:latin typeface="+mj-ea"/>
                <a:ea typeface="+mj-ea"/>
              </a:rPr>
              <a:t>3</a:t>
            </a:r>
            <a:r>
              <a:rPr lang="zh-CN" altLang="en-US" sz="1600" dirty="0">
                <a:latin typeface="+mj-ea"/>
                <a:ea typeface="+mj-ea"/>
              </a:rPr>
              <a:t>月</a:t>
            </a:r>
            <a:r>
              <a:rPr lang="en-US" altLang="zh-CN" sz="1600" dirty="0">
                <a:latin typeface="+mj-ea"/>
                <a:ea typeface="+mj-ea"/>
              </a:rPr>
              <a:t>31</a:t>
            </a:r>
            <a:r>
              <a:rPr lang="zh-CN" altLang="en-US" sz="1600" dirty="0">
                <a:latin typeface="+mj-ea"/>
                <a:ea typeface="+mj-ea"/>
              </a:rPr>
              <a:t>日，银华基金旗下管理公募基金产品</a:t>
            </a:r>
            <a:r>
              <a:rPr lang="en-US" altLang="zh-CN" sz="1600" dirty="0">
                <a:latin typeface="+mj-ea"/>
                <a:ea typeface="+mj-ea"/>
                <a:sym typeface="+mn-ea"/>
              </a:rPr>
              <a:t>249</a:t>
            </a:r>
            <a:r>
              <a:rPr lang="zh-CN" altLang="zh-CN" sz="1600" dirty="0">
                <a:latin typeface="+mj-ea"/>
                <a:ea typeface="+mj-ea"/>
                <a:sym typeface="+mn-ea"/>
              </a:rPr>
              <a:t>只</a:t>
            </a:r>
            <a:r>
              <a:rPr lang="zh-CN" altLang="en-US" sz="1600" dirty="0">
                <a:latin typeface="+mj-ea"/>
                <a:ea typeface="+mj-ea"/>
              </a:rPr>
              <a:t>，建立了覆盖权益、固收、量化、</a:t>
            </a:r>
            <a:r>
              <a:rPr lang="en-US" altLang="zh-CN" sz="1600" dirty="0">
                <a:latin typeface="+mj-ea"/>
                <a:ea typeface="+mj-ea"/>
              </a:rPr>
              <a:t>QDII</a:t>
            </a:r>
            <a:r>
              <a:rPr lang="zh-CN" altLang="en-US" sz="1600" dirty="0">
                <a:latin typeface="+mj-ea"/>
                <a:ea typeface="+mj-ea"/>
              </a:rPr>
              <a:t>、</a:t>
            </a:r>
            <a:r>
              <a:rPr lang="en-US" altLang="zh-CN" sz="1600" dirty="0">
                <a:latin typeface="+mj-ea"/>
                <a:ea typeface="+mj-ea"/>
              </a:rPr>
              <a:t>FOF</a:t>
            </a:r>
            <a:r>
              <a:rPr lang="zh-CN" altLang="en-US" sz="1600" dirty="0">
                <a:latin typeface="+mj-ea"/>
                <a:ea typeface="+mj-ea"/>
              </a:rPr>
              <a:t>、</a:t>
            </a:r>
            <a:r>
              <a:rPr lang="en-US" altLang="zh-CN" sz="1600" dirty="0">
                <a:latin typeface="+mj-ea"/>
                <a:ea typeface="+mj-ea"/>
              </a:rPr>
              <a:t>REITs</a:t>
            </a:r>
            <a:r>
              <a:rPr lang="zh-CN" altLang="en-US" sz="1600" dirty="0">
                <a:latin typeface="+mj-ea"/>
                <a:ea typeface="+mj-ea"/>
              </a:rPr>
              <a:t>等类型的全系列产品线；非公募业务包括社保、基本养老、企业年金、职业年金、专户等。银华基金（含子公司）资产管理总规模超过</a:t>
            </a:r>
            <a:r>
              <a:rPr lang="en-US" altLang="zh-CN" sz="1600" dirty="0">
                <a:highlight>
                  <a:srgbClr val="FFFF00"/>
                </a:highlight>
                <a:latin typeface="+mj-ea"/>
                <a:ea typeface="+mj-ea"/>
              </a:rPr>
              <a:t>1.2</a:t>
            </a:r>
            <a:r>
              <a:rPr lang="zh-CN" altLang="en-US" sz="1600" dirty="0">
                <a:latin typeface="+mj-ea"/>
                <a:ea typeface="+mj-ea"/>
              </a:rPr>
              <a:t>万亿元。</a:t>
            </a:r>
          </a:p>
        </p:txBody>
      </p:sp>
      <p:grpSp>
        <p:nvGrpSpPr>
          <p:cNvPr id="32" name="组合 31"/>
          <p:cNvGrpSpPr/>
          <p:nvPr/>
        </p:nvGrpSpPr>
        <p:grpSpPr>
          <a:xfrm>
            <a:off x="537845" y="4123055"/>
            <a:ext cx="3628390" cy="654685"/>
            <a:chOff x="847" y="6493"/>
            <a:chExt cx="5714" cy="1031"/>
          </a:xfrm>
        </p:grpSpPr>
        <p:sp>
          <p:nvSpPr>
            <p:cNvPr id="33" name="圆角矩形 32"/>
            <p:cNvSpPr/>
            <p:nvPr>
              <p:custDataLst>
                <p:tags r:id="rId6"/>
              </p:custDataLst>
            </p:nvPr>
          </p:nvSpPr>
          <p:spPr>
            <a:xfrm>
              <a:off x="1417" y="6493"/>
              <a:ext cx="4500" cy="1031"/>
            </a:xfrm>
            <a:prstGeom prst="roundRect">
              <a:avLst>
                <a:gd name="adj" fmla="val 15027"/>
              </a:avLst>
            </a:prstGeom>
            <a:gradFill>
              <a:gsLst>
                <a:gs pos="0">
                  <a:srgbClr val="FFF1EF"/>
                </a:gs>
                <a:gs pos="100000">
                  <a:schemeClr val="bg1"/>
                </a:gs>
              </a:gsLst>
              <a:lin ang="5400000" scaled="0"/>
            </a:gradFill>
            <a:ln w="25400">
              <a:solidFill>
                <a:schemeClr val="bg1"/>
              </a:solidFill>
            </a:ln>
            <a:effectLst>
              <a:outerShdw blurRad="177800" dist="101600" dir="5400000" algn="t" rotWithShape="0">
                <a:srgbClr val="D5120A">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文本框 34"/>
            <p:cNvSpPr txBox="1"/>
            <p:nvPr>
              <p:custDataLst>
                <p:tags r:id="rId7"/>
              </p:custDataLst>
            </p:nvPr>
          </p:nvSpPr>
          <p:spPr>
            <a:xfrm>
              <a:off x="847" y="6861"/>
              <a:ext cx="5714" cy="483"/>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sym typeface="黑体" panose="02010609060101010101" pitchFamily="49" charset="-122"/>
                </a:rPr>
                <a:t>银华资本</a:t>
              </a:r>
              <a:r>
                <a:rPr lang="en-US" altLang="zh-CN" sz="1400" b="1" dirty="0">
                  <a:latin typeface="微软雅黑" panose="020B0503020204020204" pitchFamily="34" charset="-122"/>
                  <a:ea typeface="微软雅黑" panose="020B0503020204020204" pitchFamily="34" charset="-122"/>
                  <a:sym typeface="黑体" panose="02010609060101010101" pitchFamily="49" charset="-122"/>
                </a:rPr>
                <a:t>+</a:t>
              </a:r>
              <a:r>
                <a:rPr lang="zh-CN" altLang="en-US" sz="1400" b="1" dirty="0">
                  <a:latin typeface="微软雅黑" panose="020B0503020204020204" pitchFamily="34" charset="-122"/>
                  <a:ea typeface="微软雅黑" panose="020B0503020204020204" pitchFamily="34" charset="-122"/>
                  <a:sym typeface="黑体" panose="02010609060101010101" pitchFamily="49" charset="-122"/>
                </a:rPr>
                <a:t>银华国际</a:t>
              </a:r>
              <a:r>
                <a:rPr lang="en-US" altLang="zh-CN" sz="1400" b="1" dirty="0">
                  <a:latin typeface="微软雅黑" panose="020B0503020204020204" pitchFamily="34" charset="-122"/>
                  <a:ea typeface="微软雅黑" panose="020B0503020204020204" pitchFamily="34" charset="-122"/>
                  <a:sym typeface="黑体" panose="02010609060101010101" pitchFamily="49" charset="-122"/>
                </a:rPr>
                <a:t>+</a:t>
              </a:r>
              <a:r>
                <a:rPr lang="zh-CN" altLang="en-US" sz="1400" b="1" dirty="0">
                  <a:latin typeface="微软雅黑" panose="020B0503020204020204" pitchFamily="34" charset="-122"/>
                  <a:ea typeface="微软雅黑" panose="020B0503020204020204" pitchFamily="34" charset="-122"/>
                  <a:sym typeface="黑体" panose="02010609060101010101" pitchFamily="49" charset="-122"/>
                </a:rPr>
                <a:t>银华永泰</a:t>
              </a:r>
              <a:endParaRPr lang="zh-CN" altLang="en-US" sz="1400" b="1" dirty="0"/>
            </a:p>
          </p:txBody>
        </p:sp>
      </p:grpSp>
      <p:grpSp>
        <p:nvGrpSpPr>
          <p:cNvPr id="36" name="组合 35"/>
          <p:cNvGrpSpPr/>
          <p:nvPr/>
        </p:nvGrpSpPr>
        <p:grpSpPr>
          <a:xfrm>
            <a:off x="7946390" y="4123055"/>
            <a:ext cx="3628390" cy="843280"/>
            <a:chOff x="12514" y="6493"/>
            <a:chExt cx="5714" cy="1328"/>
          </a:xfrm>
        </p:grpSpPr>
        <p:sp>
          <p:nvSpPr>
            <p:cNvPr id="37" name="圆角矩形 36"/>
            <p:cNvSpPr/>
            <p:nvPr>
              <p:custDataLst>
                <p:tags r:id="rId4"/>
              </p:custDataLst>
            </p:nvPr>
          </p:nvSpPr>
          <p:spPr>
            <a:xfrm>
              <a:off x="13121" y="6493"/>
              <a:ext cx="4500" cy="1328"/>
            </a:xfrm>
            <a:prstGeom prst="roundRect">
              <a:avLst>
                <a:gd name="adj" fmla="val 15027"/>
              </a:avLst>
            </a:prstGeom>
            <a:gradFill>
              <a:gsLst>
                <a:gs pos="0">
                  <a:srgbClr val="FFF1EF"/>
                </a:gs>
                <a:gs pos="100000">
                  <a:schemeClr val="bg1"/>
                </a:gs>
              </a:gsLst>
              <a:lin ang="5400000" scaled="0"/>
            </a:gradFill>
            <a:ln w="25400">
              <a:solidFill>
                <a:schemeClr val="bg1"/>
              </a:solidFill>
            </a:ln>
            <a:effectLst>
              <a:outerShdw blurRad="177800" dist="101600" dir="5400000" algn="t" rotWithShape="0">
                <a:srgbClr val="D5120A">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文本框 38"/>
            <p:cNvSpPr txBox="1"/>
            <p:nvPr>
              <p:custDataLst>
                <p:tags r:id="rId5"/>
              </p:custDataLst>
            </p:nvPr>
          </p:nvSpPr>
          <p:spPr>
            <a:xfrm>
              <a:off x="12514" y="6648"/>
              <a:ext cx="5714" cy="485"/>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rPr>
                <a:t>非公募业务</a:t>
              </a:r>
            </a:p>
          </p:txBody>
        </p:sp>
        <p:sp>
          <p:nvSpPr>
            <p:cNvPr id="40" name="圆角矩形 39"/>
            <p:cNvSpPr/>
            <p:nvPr/>
          </p:nvSpPr>
          <p:spPr>
            <a:xfrm>
              <a:off x="13277" y="7165"/>
              <a:ext cx="4174" cy="324"/>
            </a:xfrm>
            <a:prstGeom prst="roundRect">
              <a:avLst>
                <a:gd name="adj" fmla="val 50000"/>
              </a:avLst>
            </a:prstGeom>
            <a:solidFill>
              <a:schemeClr val="bg1"/>
            </a:solidFill>
            <a:ln>
              <a:noFill/>
            </a:ln>
            <a:effectLst>
              <a:outerShdw blurRad="76200" dir="5400000" algn="t" rotWithShape="0">
                <a:srgbClr val="D8221A">
                  <a:alpha val="19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文本框 40"/>
            <p:cNvSpPr txBox="1"/>
            <p:nvPr/>
          </p:nvSpPr>
          <p:spPr>
            <a:xfrm>
              <a:off x="13379" y="7160"/>
              <a:ext cx="3922" cy="364"/>
            </a:xfrm>
            <a:prstGeom prst="rect">
              <a:avLst/>
            </a:prstGeom>
            <a:noFill/>
          </p:spPr>
          <p:txBody>
            <a:bodyPr wrap="square" rtlCol="0">
              <a:spAutoFit/>
            </a:bodyPr>
            <a:lstStyle/>
            <a:p>
              <a:pPr algn="ctr"/>
              <a:r>
                <a:rPr lang="zh-CN" altLang="en-US" sz="900" dirty="0">
                  <a:latin typeface="微软雅黑" panose="020B0503020204020204" pitchFamily="34" charset="-122"/>
                  <a:ea typeface="微软雅黑" panose="020B0503020204020204" pitchFamily="34" charset="-122"/>
                  <a:cs typeface="Microsoft JhengHei" panose="020B0604030504040204" charset="-120"/>
                  <a:sym typeface="+mn-ea"/>
                </a:rPr>
                <a:t>社保、基本养老、企业年金、职业年金、专户</a:t>
              </a:r>
            </a:p>
          </p:txBody>
        </p:sp>
      </p:grpSp>
      <p:grpSp>
        <p:nvGrpSpPr>
          <p:cNvPr id="42" name="组合 41"/>
          <p:cNvGrpSpPr/>
          <p:nvPr/>
        </p:nvGrpSpPr>
        <p:grpSpPr>
          <a:xfrm>
            <a:off x="4166235" y="2267585"/>
            <a:ext cx="3628390" cy="1211580"/>
            <a:chOff x="6753" y="3994"/>
            <a:chExt cx="5714" cy="1908"/>
          </a:xfrm>
        </p:grpSpPr>
        <p:sp>
          <p:nvSpPr>
            <p:cNvPr id="43" name="圆角矩形 42"/>
            <p:cNvSpPr/>
            <p:nvPr>
              <p:custDataLst>
                <p:tags r:id="rId1"/>
              </p:custDataLst>
            </p:nvPr>
          </p:nvSpPr>
          <p:spPr>
            <a:xfrm>
              <a:off x="7360" y="3994"/>
              <a:ext cx="4500" cy="1908"/>
            </a:xfrm>
            <a:prstGeom prst="roundRect">
              <a:avLst>
                <a:gd name="adj" fmla="val 15027"/>
              </a:avLst>
            </a:prstGeom>
            <a:gradFill>
              <a:gsLst>
                <a:gs pos="0">
                  <a:srgbClr val="FFF1EF"/>
                </a:gs>
                <a:gs pos="100000">
                  <a:schemeClr val="bg1"/>
                </a:gs>
              </a:gsLst>
              <a:lin ang="5400000" scaled="0"/>
            </a:gradFill>
            <a:ln w="25400">
              <a:solidFill>
                <a:schemeClr val="bg1"/>
              </a:solidFill>
            </a:ln>
            <a:effectLst>
              <a:outerShdw blurRad="177800" dist="101600" dir="5400000" algn="t" rotWithShape="0">
                <a:srgbClr val="E7544D">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4" name="文本框 43"/>
            <p:cNvSpPr txBox="1"/>
            <p:nvPr>
              <p:custDataLst>
                <p:tags r:id="rId2"/>
              </p:custDataLst>
            </p:nvPr>
          </p:nvSpPr>
          <p:spPr>
            <a:xfrm>
              <a:off x="7515" y="4580"/>
              <a:ext cx="4190" cy="677"/>
            </a:xfrm>
            <a:prstGeom prst="rect">
              <a:avLst/>
            </a:prstGeom>
            <a:noFill/>
          </p:spPr>
          <p:txBody>
            <a:bodyPr wrap="square" rtlCol="0">
              <a:spAutoFit/>
            </a:bodyPr>
            <a:lstStyle/>
            <a:p>
              <a:pPr marL="1270" algn="ctr" fontAlgn="auto"/>
              <a:r>
                <a:rPr lang="en-US" altLang="zh-CN" sz="2200" b="1" spc="-35" dirty="0">
                  <a:solidFill>
                    <a:srgbClr val="D0281F"/>
                  </a:solidFill>
                  <a:latin typeface="微软雅黑" panose="020B0503020204020204" pitchFamily="34" charset="-122"/>
                  <a:ea typeface="微软雅黑" panose="020B0503020204020204" pitchFamily="34" charset="-122"/>
                  <a:cs typeface="黑体" panose="02010609060101010101" pitchFamily="49" charset="-122"/>
                  <a:sym typeface="+mn-ea"/>
                </a:rPr>
                <a:t>6837亿元+</a:t>
              </a:r>
              <a:endParaRPr lang="zh-CN" altLang="en-US" sz="2200" dirty="0"/>
            </a:p>
          </p:txBody>
        </p:sp>
        <p:sp>
          <p:nvSpPr>
            <p:cNvPr id="45" name="文本框 44"/>
            <p:cNvSpPr txBox="1"/>
            <p:nvPr>
              <p:custDataLst>
                <p:tags r:id="rId3"/>
              </p:custDataLst>
            </p:nvPr>
          </p:nvSpPr>
          <p:spPr>
            <a:xfrm>
              <a:off x="6753" y="4117"/>
              <a:ext cx="5714" cy="483"/>
            </a:xfrm>
            <a:prstGeom prst="rect">
              <a:avLst/>
            </a:prstGeom>
            <a:noFill/>
          </p:spPr>
          <p:txBody>
            <a:bodyPr wrap="square" rtlCol="0">
              <a:spAutoFit/>
            </a:bodyPr>
            <a:lstStyle/>
            <a:p>
              <a:pPr algn="ctr"/>
              <a:r>
                <a:rPr lang="zh-CN" altLang="en-US" sz="1400" b="1"/>
                <a:t>公募基金</a:t>
              </a:r>
            </a:p>
          </p:txBody>
        </p:sp>
        <p:sp>
          <p:nvSpPr>
            <p:cNvPr id="46" name="圆角矩形 45"/>
            <p:cNvSpPr/>
            <p:nvPr/>
          </p:nvSpPr>
          <p:spPr>
            <a:xfrm>
              <a:off x="8790" y="5307"/>
              <a:ext cx="1622" cy="402"/>
            </a:xfrm>
            <a:prstGeom prst="roundRect">
              <a:avLst>
                <a:gd name="adj" fmla="val 50000"/>
              </a:avLst>
            </a:prstGeom>
            <a:solidFill>
              <a:srgbClr val="E8464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b="1" dirty="0">
                  <a:solidFill>
                    <a:schemeClr val="bg1"/>
                  </a:solidFill>
                </a:rPr>
                <a:t>249</a:t>
              </a:r>
              <a:r>
                <a:rPr lang="zh-CN" altLang="en-US" sz="1600" b="1" dirty="0">
                  <a:solidFill>
                    <a:schemeClr val="bg1"/>
                  </a:solidFill>
                </a:rPr>
                <a:t>只</a:t>
              </a:r>
            </a:p>
          </p:txBody>
        </p:sp>
      </p:grpSp>
      <p:sp>
        <p:nvSpPr>
          <p:cNvPr id="47" name="文本框 46"/>
          <p:cNvSpPr txBox="1"/>
          <p:nvPr/>
        </p:nvSpPr>
        <p:spPr>
          <a:xfrm>
            <a:off x="4044315" y="5612130"/>
            <a:ext cx="4064000" cy="1198880"/>
          </a:xfrm>
          <a:prstGeom prst="rect">
            <a:avLst/>
          </a:prstGeom>
          <a:noFill/>
        </p:spPr>
        <p:txBody>
          <a:bodyPr wrap="square"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rPr>
              <a:t>1.2</a:t>
            </a:r>
            <a:r>
              <a:rPr lang="zh-CN" altLang="en-US"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rPr>
              <a:t>万亿元</a:t>
            </a:r>
            <a:r>
              <a:rPr lang="en-US" altLang="zh-CN"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rPr>
              <a:t>+</a:t>
            </a:r>
            <a:endParaRPr lang="zh-CN" altLang="en-US"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endParaRPr>
          </a:p>
          <a:p>
            <a:pPr algn="ctr"/>
            <a:endParaRPr lang="zh-CN" altLang="en-US" sz="3600" b="1" dirty="0">
              <a:solidFill>
                <a:schemeClr val="bg1"/>
              </a:solidFill>
              <a:latin typeface="微软雅黑" panose="020B0503020204020204" pitchFamily="34" charset="-122"/>
              <a:ea typeface="微软雅黑" panose="020B0503020204020204" pitchFamily="34" charset="-122"/>
              <a:sym typeface="黑体" panose="02010609060101010101" pitchFamily="49" charset="-122"/>
            </a:endParaRPr>
          </a:p>
        </p:txBody>
      </p:sp>
      <p:sp>
        <p:nvSpPr>
          <p:cNvPr id="3" name="文本框 2"/>
          <p:cNvSpPr txBox="1"/>
          <p:nvPr/>
        </p:nvSpPr>
        <p:spPr>
          <a:xfrm>
            <a:off x="257563" y="6113876"/>
            <a:ext cx="2543706" cy="253916"/>
          </a:xfrm>
          <a:prstGeom prst="rect">
            <a:avLst/>
          </a:prstGeom>
          <a:noFill/>
        </p:spPr>
        <p:txBody>
          <a:bodyPr wrap="square" rtlCol="0">
            <a:spAutoFit/>
          </a:bodyPr>
          <a:lstStyle/>
          <a:p>
            <a:r>
              <a:rPr lang="zh-CN" altLang="en-US" sz="1050" dirty="0">
                <a:latin typeface="+mj-ea"/>
                <a:ea typeface="+mj-ea"/>
              </a:rPr>
              <a:t>资料来源：银华基金，</a:t>
            </a:r>
            <a:r>
              <a:rPr lang="en-US" altLang="zh-CN" sz="1050" dirty="0">
                <a:highlight>
                  <a:srgbClr val="FFFF00"/>
                </a:highlight>
                <a:latin typeface="+mj-ea"/>
                <a:ea typeface="+mj-ea"/>
              </a:rPr>
              <a:t>2026.3.31</a:t>
            </a:r>
            <a:endParaRPr lang="zh-CN" altLang="en-US" sz="1050" dirty="0">
              <a:highlight>
                <a:srgbClr val="FFFF00"/>
              </a:highlight>
              <a:latin typeface="+mj-ea"/>
              <a:ea typeface="+mj-ea"/>
            </a:endParaRPr>
          </a:p>
        </p:txBody>
      </p:sp>
      <p:sp>
        <p:nvSpPr>
          <p:cNvPr id="4" name="文本框 3"/>
          <p:cNvSpPr txBox="1"/>
          <p:nvPr/>
        </p:nvSpPr>
        <p:spPr>
          <a:xfrm>
            <a:off x="325939" y="6367990"/>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25629" y="332202"/>
            <a:ext cx="370488" cy="461920"/>
            <a:chOff x="7409" y="353"/>
            <a:chExt cx="1374" cy="1582"/>
          </a:xfrm>
          <a:solidFill>
            <a:srgbClr val="C43635"/>
          </a:solidFill>
        </p:grpSpPr>
        <p:sp>
          <p:nvSpPr>
            <p:cNvPr id="10" name="平行四边形 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sp>
          <p:nvSpPr>
            <p:cNvPr id="11" name="平行四边形 1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grpSp>
      <p:sp>
        <p:nvSpPr>
          <p:cNvPr id="12" name="文本框 11"/>
          <p:cNvSpPr txBox="1"/>
          <p:nvPr/>
        </p:nvSpPr>
        <p:spPr>
          <a:xfrm>
            <a:off x="782767" y="328874"/>
            <a:ext cx="4036836" cy="430439"/>
          </a:xfrm>
          <a:prstGeom prst="rect">
            <a:avLst/>
          </a:prstGeom>
          <a:noFill/>
        </p:spPr>
        <p:txBody>
          <a:bodyPr wrap="square" rtlCol="0">
            <a:spAutoFit/>
          </a:bodyPr>
          <a:lstStyle/>
          <a:p>
            <a:r>
              <a:rPr lang="zh-CN" altLang="en-US" sz="2195" b="1" dirty="0">
                <a:solidFill>
                  <a:srgbClr val="9F1620"/>
                </a:solidFill>
                <a:latin typeface="微软雅黑" panose="020B0503020204020204" pitchFamily="34" charset="-122"/>
                <a:ea typeface="微软雅黑" panose="020B0503020204020204" pitchFamily="34" charset="-122"/>
                <a:cs typeface="+mn-ea"/>
              </a:rPr>
              <a:t>投资经理简介</a:t>
            </a:r>
            <a:endParaRPr lang="zh-CN" altLang="en-US" sz="2195" b="1" dirty="0">
              <a:latin typeface="微软雅黑" panose="020B0503020204020204" pitchFamily="34" charset="-122"/>
              <a:ea typeface="微软雅黑" panose="020B0503020204020204" pitchFamily="34" charset="-122"/>
              <a:cs typeface="+mn-ea"/>
            </a:endParaRPr>
          </a:p>
        </p:txBody>
      </p:sp>
      <p:sp>
        <p:nvSpPr>
          <p:cNvPr id="2" name="灯片编号占位符 1"/>
          <p:cNvSpPr>
            <a:spLocks noGrp="1"/>
          </p:cNvSpPr>
          <p:nvPr>
            <p:ph type="sldNum" sz="quarter" idx="4294967295"/>
          </p:nvPr>
        </p:nvSpPr>
        <p:spPr>
          <a:xfrm>
            <a:off x="8736162" y="6639853"/>
            <a:ext cx="2841171" cy="476345"/>
          </a:xfrm>
        </p:spPr>
        <p:txBody>
          <a:bodyPr/>
          <a:lstStyle/>
          <a:p>
            <a:fld id="{01A33459-9038-4A08-9739-D099B456C693}" type="slidenum">
              <a:rPr lang="zh-CN" altLang="en-US" smtClean="0"/>
              <a:t>5</a:t>
            </a:fld>
            <a:endParaRPr lang="zh-CN" altLang="en-US" dirty="0"/>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2955" y="1800860"/>
            <a:ext cx="2979420" cy="3567430"/>
          </a:xfrm>
          <a:prstGeom prst="rect">
            <a:avLst/>
          </a:prstGeom>
        </p:spPr>
      </p:pic>
      <p:sp>
        <p:nvSpPr>
          <p:cNvPr id="23" name="文本框 22"/>
          <p:cNvSpPr txBox="1"/>
          <p:nvPr/>
        </p:nvSpPr>
        <p:spPr>
          <a:xfrm>
            <a:off x="4266447" y="1693332"/>
            <a:ext cx="7406264" cy="4354654"/>
          </a:xfrm>
          <a:prstGeom prst="rect">
            <a:avLst/>
          </a:prstGeom>
          <a:noFill/>
        </p:spPr>
        <p:txBody>
          <a:bodyPr wrap="square" rtlCol="0">
            <a:spAutoFit/>
          </a:bodyPr>
          <a:lstStyle/>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mn-ea"/>
              </a:rPr>
              <a:t>吴致超，</a:t>
            </a:r>
            <a:r>
              <a:rPr lang="en-US" altLang="zh-CN" dirty="0">
                <a:latin typeface="微软雅黑" panose="020B0503020204020204" pitchFamily="34" charset="-122"/>
                <a:ea typeface="微软雅黑" panose="020B0503020204020204" pitchFamily="34" charset="-122"/>
                <a:sym typeface="+mn-ea"/>
              </a:rPr>
              <a:t>FOF</a:t>
            </a:r>
            <a:r>
              <a:rPr lang="zh-CN" altLang="en-US" dirty="0">
                <a:latin typeface="微软雅黑" panose="020B0503020204020204" pitchFamily="34" charset="-122"/>
                <a:ea typeface="微软雅黑" panose="020B0503020204020204" pitchFamily="34" charset="-122"/>
                <a:sym typeface="+mn-ea"/>
              </a:rPr>
              <a:t>投资经理，</a:t>
            </a:r>
            <a:r>
              <a:rPr lang="en-US" altLang="zh-CN" dirty="0">
                <a:latin typeface="微软雅黑" panose="020B0503020204020204" pitchFamily="34" charset="-122"/>
                <a:ea typeface="微软雅黑" panose="020B0503020204020204" pitchFamily="34" charset="-122"/>
                <a:sym typeface="+mn-ea"/>
              </a:rPr>
              <a:t>6</a:t>
            </a:r>
            <a:r>
              <a:rPr lang="zh-CN" altLang="en-US" dirty="0">
                <a:latin typeface="微软雅黑" panose="020B0503020204020204" pitchFamily="34" charset="-122"/>
                <a:ea typeface="微软雅黑" panose="020B0503020204020204" pitchFamily="34" charset="-122"/>
                <a:sym typeface="+mn-ea"/>
              </a:rPr>
              <a:t>年投研年限。本科毕业于武汉大学软件工程专业，计算机和金融双硕士，特许金融分析师（</a:t>
            </a:r>
            <a:r>
              <a:rPr lang="en-US" altLang="zh-CN" dirty="0">
                <a:latin typeface="微软雅黑" panose="020B0503020204020204" pitchFamily="34" charset="-122"/>
                <a:ea typeface="微软雅黑" panose="020B0503020204020204" pitchFamily="34" charset="-122"/>
                <a:sym typeface="+mn-ea"/>
              </a:rPr>
              <a:t>CFA</a:t>
            </a:r>
            <a:r>
              <a:rPr lang="zh-CN" altLang="en-US" dirty="0">
                <a:latin typeface="微软雅黑" panose="020B0503020204020204" pitchFamily="34" charset="-122"/>
                <a:ea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sym typeface="+mn-ea"/>
              </a:rPr>
              <a:t>7</a:t>
            </a:r>
            <a:r>
              <a:rPr lang="zh-CN" altLang="en-US" dirty="0">
                <a:latin typeface="微软雅黑" panose="020B0503020204020204" pitchFamily="34" charset="-122"/>
                <a:ea typeface="微软雅黑" panose="020B0503020204020204" pitchFamily="34" charset="-122"/>
                <a:sym typeface="+mn-ea"/>
              </a:rPr>
              <a:t>年证券从业经验。</a:t>
            </a:r>
            <a:endParaRPr lang="en-US" altLang="zh-CN" dirty="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mn-ea"/>
              </a:rPr>
              <a:t>曾就职于（伦敦）花旗银行、瑞士银行、法国农业信贷银行、（北京）汤森路透，有丰富的海外工作经验</a:t>
            </a:r>
            <a:endParaRPr lang="en-US" altLang="zh-CN" dirty="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sym typeface="+mn-ea"/>
              </a:rPr>
              <a:t>2019</a:t>
            </a:r>
            <a:r>
              <a:rPr lang="zh-CN" altLang="en-US" dirty="0">
                <a:latin typeface="微软雅黑" panose="020B0503020204020204" pitchFamily="34" charset="-122"/>
                <a:ea typeface="微软雅黑" panose="020B0503020204020204" pitchFamily="34" charset="-122"/>
                <a:sym typeface="+mn-ea"/>
              </a:rPr>
              <a:t>年</a:t>
            </a:r>
            <a:r>
              <a:rPr lang="en-US" altLang="zh-CN" dirty="0">
                <a:latin typeface="微软雅黑" panose="020B0503020204020204" pitchFamily="34" charset="-122"/>
                <a:ea typeface="微软雅黑" panose="020B0503020204020204" pitchFamily="34" charset="-122"/>
                <a:sym typeface="+mn-ea"/>
              </a:rPr>
              <a:t>5</a:t>
            </a:r>
            <a:r>
              <a:rPr lang="zh-CN" altLang="en-US" dirty="0">
                <a:latin typeface="微软雅黑" panose="020B0503020204020204" pitchFamily="34" charset="-122"/>
                <a:ea typeface="微软雅黑" panose="020B0503020204020204" pitchFamily="34" charset="-122"/>
                <a:sym typeface="+mn-ea"/>
              </a:rPr>
              <a:t>月加入银华基金，历任策略分析师、</a:t>
            </a:r>
            <a:r>
              <a:rPr lang="en-US" altLang="zh-CN" dirty="0">
                <a:latin typeface="微软雅黑" panose="020B0503020204020204" pitchFamily="34" charset="-122"/>
                <a:ea typeface="微软雅黑" panose="020B0503020204020204" pitchFamily="34" charset="-122"/>
                <a:sym typeface="+mn-ea"/>
              </a:rPr>
              <a:t>FOF</a:t>
            </a:r>
            <a:r>
              <a:rPr lang="zh-CN" altLang="en-US" dirty="0">
                <a:latin typeface="微软雅黑" panose="020B0503020204020204" pitchFamily="34" charset="-122"/>
                <a:ea typeface="微软雅黑" panose="020B0503020204020204" pitchFamily="34" charset="-122"/>
                <a:sym typeface="+mn-ea"/>
              </a:rPr>
              <a:t>研究员、</a:t>
            </a:r>
            <a:r>
              <a:rPr lang="en-US" altLang="zh-CN" dirty="0">
                <a:latin typeface="微软雅黑" panose="020B0503020204020204" pitchFamily="34" charset="-122"/>
                <a:ea typeface="微软雅黑" panose="020B0503020204020204" pitchFamily="34" charset="-122"/>
                <a:sym typeface="+mn-ea"/>
              </a:rPr>
              <a:t>FOF</a:t>
            </a:r>
            <a:r>
              <a:rPr lang="zh-CN" altLang="en-US" dirty="0">
                <a:latin typeface="微软雅黑" panose="020B0503020204020204" pitchFamily="34" charset="-122"/>
                <a:ea typeface="微软雅黑" panose="020B0503020204020204" pitchFamily="34" charset="-122"/>
                <a:sym typeface="+mn-ea"/>
              </a:rPr>
              <a:t>基金经历助理，主要从事基金产品研究、大类资产配置和组合投资工作。</a:t>
            </a:r>
            <a:endParaRPr lang="en-US" altLang="zh-CN" dirty="0">
              <a:latin typeface="微软雅黑" panose="020B0503020204020204" pitchFamily="34" charset="-122"/>
              <a:ea typeface="微软雅黑" panose="020B0503020204020204" pitchFamily="34" charset="-122"/>
              <a:sym typeface="+mn-ea"/>
            </a:endParaRPr>
          </a:p>
          <a:p>
            <a:pPr marL="171450" indent="-171450">
              <a:lnSpc>
                <a:spcPct val="180000"/>
              </a:lnSpc>
              <a:spcBef>
                <a:spcPct val="20000"/>
              </a:spcBef>
              <a:spcAft>
                <a:spcPts val="600"/>
              </a:spcAft>
              <a:buClr>
                <a:schemeClr val="accent1">
                  <a:lumMod val="75000"/>
                </a:schemeClr>
              </a:buClr>
              <a:buSzPct val="145000"/>
              <a:buFont typeface="Arial" panose="020B0604020202020204" pitchFamily="34" charset="0"/>
              <a:buChar char="•"/>
            </a:pPr>
            <a:endParaRPr lang="zh-CN" altLang="zh-CN" sz="1600" dirty="0">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25629" y="332202"/>
            <a:ext cx="370488" cy="461920"/>
            <a:chOff x="7409" y="353"/>
            <a:chExt cx="1374" cy="1582"/>
          </a:xfrm>
          <a:solidFill>
            <a:srgbClr val="C43635"/>
          </a:solidFill>
        </p:grpSpPr>
        <p:sp>
          <p:nvSpPr>
            <p:cNvPr id="10" name="平行四边形 9"/>
            <p:cNvSpPr/>
            <p:nvPr/>
          </p:nvSpPr>
          <p:spPr>
            <a:xfrm>
              <a:off x="7409" y="353"/>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sp>
          <p:nvSpPr>
            <p:cNvPr id="11" name="平行四边形 10"/>
            <p:cNvSpPr/>
            <p:nvPr/>
          </p:nvSpPr>
          <p:spPr>
            <a:xfrm>
              <a:off x="7995" y="955"/>
              <a:ext cx="788" cy="981"/>
            </a:xfrm>
            <a:prstGeom prst="parallelogram">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15"/>
            </a:p>
          </p:txBody>
        </p:sp>
      </p:grpSp>
      <p:sp>
        <p:nvSpPr>
          <p:cNvPr id="12" name="文本框 11"/>
          <p:cNvSpPr txBox="1"/>
          <p:nvPr/>
        </p:nvSpPr>
        <p:spPr>
          <a:xfrm>
            <a:off x="782766" y="328874"/>
            <a:ext cx="4911977" cy="430439"/>
          </a:xfrm>
          <a:prstGeom prst="rect">
            <a:avLst/>
          </a:prstGeom>
          <a:noFill/>
        </p:spPr>
        <p:txBody>
          <a:bodyPr wrap="square" rtlCol="0">
            <a:spAutoFit/>
          </a:bodyPr>
          <a:lstStyle/>
          <a:p>
            <a:r>
              <a:rPr lang="zh-CN" altLang="en-US" sz="2195" b="1" dirty="0">
                <a:solidFill>
                  <a:srgbClr val="9F1620"/>
                </a:solidFill>
                <a:latin typeface="微软雅黑" panose="020B0503020204020204" pitchFamily="34" charset="-122"/>
                <a:ea typeface="微软雅黑" panose="020B0503020204020204" pitchFamily="34" charset="-122"/>
                <a:cs typeface="+mn-ea"/>
              </a:rPr>
              <a:t>银华基金</a:t>
            </a:r>
            <a:r>
              <a:rPr lang="en-US" altLang="zh-CN" sz="2195" b="1" dirty="0">
                <a:solidFill>
                  <a:srgbClr val="9F1620"/>
                </a:solidFill>
                <a:latin typeface="微软雅黑" panose="020B0503020204020204" pitchFamily="34" charset="-122"/>
                <a:ea typeface="微软雅黑" panose="020B0503020204020204" pitchFamily="34" charset="-122"/>
                <a:cs typeface="+mn-ea"/>
              </a:rPr>
              <a:t>FOF</a:t>
            </a:r>
            <a:r>
              <a:rPr lang="zh-CN" altLang="en-US" sz="2195" b="1" dirty="0">
                <a:solidFill>
                  <a:srgbClr val="9F1620"/>
                </a:solidFill>
                <a:latin typeface="微软雅黑" panose="020B0503020204020204" pitchFamily="34" charset="-122"/>
                <a:ea typeface="微软雅黑" panose="020B0503020204020204" pitchFamily="34" charset="-122"/>
                <a:cs typeface="+mn-ea"/>
              </a:rPr>
              <a:t>投资管理及支持团队</a:t>
            </a:r>
            <a:endParaRPr lang="zh-CN" altLang="en-US" sz="2195" b="1" dirty="0">
              <a:latin typeface="微软雅黑" panose="020B0503020204020204" pitchFamily="34" charset="-122"/>
              <a:ea typeface="微软雅黑" panose="020B0503020204020204" pitchFamily="34" charset="-122"/>
              <a:cs typeface="+mn-ea"/>
            </a:endParaRPr>
          </a:p>
        </p:txBody>
      </p:sp>
      <p:sp>
        <p:nvSpPr>
          <p:cNvPr id="17" name="object 6"/>
          <p:cNvSpPr txBox="1">
            <a:spLocks noChangeArrowheads="1"/>
          </p:cNvSpPr>
          <p:nvPr/>
        </p:nvSpPr>
        <p:spPr bwMode="auto">
          <a:xfrm>
            <a:off x="2881377" y="2636117"/>
            <a:ext cx="1329348"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投资管理人员</a:t>
            </a:r>
          </a:p>
        </p:txBody>
      </p:sp>
      <p:sp>
        <p:nvSpPr>
          <p:cNvPr id="18" name="object 7"/>
          <p:cNvSpPr txBox="1">
            <a:spLocks noChangeArrowheads="1"/>
          </p:cNvSpPr>
          <p:nvPr/>
        </p:nvSpPr>
        <p:spPr bwMode="auto">
          <a:xfrm>
            <a:off x="6730735" y="2636116"/>
            <a:ext cx="132054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专职基金交易员</a:t>
            </a:r>
          </a:p>
        </p:txBody>
      </p:sp>
      <p:sp>
        <p:nvSpPr>
          <p:cNvPr id="19" name="object 8"/>
          <p:cNvSpPr txBox="1">
            <a:spLocks noChangeArrowheads="1"/>
          </p:cNvSpPr>
          <p:nvPr/>
        </p:nvSpPr>
        <p:spPr bwMode="auto">
          <a:xfrm>
            <a:off x="5417057" y="2636116"/>
            <a:ext cx="137116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专职风控人员</a:t>
            </a:r>
          </a:p>
        </p:txBody>
      </p:sp>
      <p:sp>
        <p:nvSpPr>
          <p:cNvPr id="22" name="object 19"/>
          <p:cNvSpPr/>
          <p:nvPr/>
        </p:nvSpPr>
        <p:spPr>
          <a:xfrm>
            <a:off x="2916972" y="1160235"/>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lIns="0" tIns="0" rIns="0" bIns="0" anchor="ctr"/>
          <a:lstStyle/>
          <a:p>
            <a:pPr marL="12700" algn="ctr">
              <a:lnSpc>
                <a:spcPts val="2500"/>
              </a:lnSpc>
              <a:defRPr/>
            </a:pPr>
            <a:r>
              <a:rPr lang="en-US" altLang="zh-CN" sz="1915" spc="15" dirty="0">
                <a:solidFill>
                  <a:schemeClr val="tx2"/>
                </a:solidFill>
                <a:latin typeface="+mn-ea"/>
                <a:cs typeface="Times New Roman" panose="02020603050405020304" pitchFamily="18" charset="0"/>
              </a:rPr>
              <a:t>10</a:t>
            </a:r>
            <a:r>
              <a:rPr lang="zh-CN" altLang="en-US" sz="1915" spc="15"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4" name="object 19"/>
          <p:cNvSpPr/>
          <p:nvPr/>
        </p:nvSpPr>
        <p:spPr>
          <a:xfrm>
            <a:off x="4199736" y="1167496"/>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wrap="square" lIns="0" tIns="0" rIns="0" bIns="0" anchor="ctr"/>
          <a:lstStyle/>
          <a:p>
            <a:pPr algn="ctr">
              <a:lnSpc>
                <a:spcPts val="2500"/>
              </a:lnSpc>
              <a:defRPr/>
            </a:pPr>
            <a:r>
              <a:rPr lang="en-US" altLang="zh-CN" sz="1915" spc="-69" dirty="0">
                <a:solidFill>
                  <a:schemeClr val="tx2"/>
                </a:solidFill>
                <a:latin typeface="+mn-ea"/>
                <a:cs typeface="Times New Roman" panose="02020603050405020304" pitchFamily="18" charset="0"/>
              </a:rPr>
              <a:t>67</a:t>
            </a:r>
            <a:r>
              <a:rPr lang="zh-CN" altLang="en-US" sz="1915" spc="-69"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5" name="object 19"/>
          <p:cNvSpPr/>
          <p:nvPr/>
        </p:nvSpPr>
        <p:spPr>
          <a:xfrm>
            <a:off x="5479679" y="1177308"/>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lIns="0" tIns="0" rIns="0" bIns="0" anchor="ctr"/>
          <a:lstStyle/>
          <a:p>
            <a:pPr marL="12700" algn="ctr">
              <a:lnSpc>
                <a:spcPts val="2500"/>
              </a:lnSpc>
              <a:defRPr/>
            </a:pPr>
            <a:r>
              <a:rPr lang="en-US" altLang="zh-CN" sz="1915" spc="-69" dirty="0">
                <a:solidFill>
                  <a:schemeClr val="tx2"/>
                </a:solidFill>
                <a:latin typeface="+mn-ea"/>
                <a:cs typeface="Times New Roman" panose="02020603050405020304" pitchFamily="18" charset="0"/>
              </a:rPr>
              <a:t>4</a:t>
            </a:r>
            <a:r>
              <a:rPr lang="zh-CN" altLang="en-US" sz="1915" spc="-69"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6" name="object 19"/>
          <p:cNvSpPr/>
          <p:nvPr/>
        </p:nvSpPr>
        <p:spPr>
          <a:xfrm>
            <a:off x="6756804" y="1165431"/>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lIns="0" tIns="0" rIns="0" bIns="0" anchor="ctr"/>
          <a:lstStyle/>
          <a:p>
            <a:pPr marL="12700" algn="ctr">
              <a:lnSpc>
                <a:spcPts val="2500"/>
              </a:lnSpc>
              <a:defRPr/>
            </a:pPr>
            <a:r>
              <a:rPr lang="en-US" altLang="zh-CN" sz="1915" spc="-69" dirty="0">
                <a:solidFill>
                  <a:schemeClr val="tx2"/>
                </a:solidFill>
                <a:latin typeface="+mn-ea"/>
                <a:cs typeface="Times New Roman" panose="02020603050405020304" pitchFamily="18" charset="0"/>
              </a:rPr>
              <a:t>3</a:t>
            </a:r>
            <a:r>
              <a:rPr lang="zh-CN" altLang="en-US" sz="1915" spc="-69"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8" name="object 19"/>
          <p:cNvSpPr/>
          <p:nvPr/>
        </p:nvSpPr>
        <p:spPr>
          <a:xfrm>
            <a:off x="8043480" y="1167496"/>
            <a:ext cx="1247759" cy="1433723"/>
          </a:xfrm>
          <a:custGeom>
            <a:avLst/>
            <a:gdLst/>
            <a:ahLst/>
            <a:cxnLst/>
            <a:rect l="l" t="t" r="r" b="b"/>
            <a:pathLst>
              <a:path w="1060450" h="1060450">
                <a:moveTo>
                  <a:pt x="1059853" y="529932"/>
                </a:moveTo>
                <a:lnTo>
                  <a:pt x="1058096" y="573395"/>
                </a:lnTo>
                <a:lnTo>
                  <a:pt x="1052917" y="615890"/>
                </a:lnTo>
                <a:lnTo>
                  <a:pt x="1044451" y="657281"/>
                </a:lnTo>
                <a:lnTo>
                  <a:pt x="1032836" y="697431"/>
                </a:lnTo>
                <a:lnTo>
                  <a:pt x="1018208" y="736205"/>
                </a:lnTo>
                <a:lnTo>
                  <a:pt x="1000702" y="773466"/>
                </a:lnTo>
                <a:lnTo>
                  <a:pt x="980456" y="809077"/>
                </a:lnTo>
                <a:lnTo>
                  <a:pt x="957606" y="842903"/>
                </a:lnTo>
                <a:lnTo>
                  <a:pt x="932287" y="874806"/>
                </a:lnTo>
                <a:lnTo>
                  <a:pt x="904638" y="904651"/>
                </a:lnTo>
                <a:lnTo>
                  <a:pt x="874793" y="932300"/>
                </a:lnTo>
                <a:lnTo>
                  <a:pt x="842890" y="957618"/>
                </a:lnTo>
                <a:lnTo>
                  <a:pt x="809065" y="980469"/>
                </a:lnTo>
                <a:lnTo>
                  <a:pt x="773453" y="1000715"/>
                </a:lnTo>
                <a:lnTo>
                  <a:pt x="736193" y="1018220"/>
                </a:lnTo>
                <a:lnTo>
                  <a:pt x="697419" y="1032849"/>
                </a:lnTo>
                <a:lnTo>
                  <a:pt x="657268" y="1044464"/>
                </a:lnTo>
                <a:lnTo>
                  <a:pt x="615877" y="1052929"/>
                </a:lnTo>
                <a:lnTo>
                  <a:pt x="573382" y="1058109"/>
                </a:lnTo>
                <a:lnTo>
                  <a:pt x="529920" y="1059865"/>
                </a:lnTo>
                <a:lnTo>
                  <a:pt x="486459" y="1058109"/>
                </a:lnTo>
                <a:lnTo>
                  <a:pt x="443966" y="1052929"/>
                </a:lnTo>
                <a:lnTo>
                  <a:pt x="402576" y="1044464"/>
                </a:lnTo>
                <a:lnTo>
                  <a:pt x="362427" y="1032849"/>
                </a:lnTo>
                <a:lnTo>
                  <a:pt x="323654" y="1018220"/>
                </a:lnTo>
                <a:lnTo>
                  <a:pt x="286394" y="1000715"/>
                </a:lnTo>
                <a:lnTo>
                  <a:pt x="250784" y="980469"/>
                </a:lnTo>
                <a:lnTo>
                  <a:pt x="216959" y="957618"/>
                </a:lnTo>
                <a:lnTo>
                  <a:pt x="185057" y="932300"/>
                </a:lnTo>
                <a:lnTo>
                  <a:pt x="155213" y="904651"/>
                </a:lnTo>
                <a:lnTo>
                  <a:pt x="127563" y="874806"/>
                </a:lnTo>
                <a:lnTo>
                  <a:pt x="102246" y="842903"/>
                </a:lnTo>
                <a:lnTo>
                  <a:pt x="79396" y="809077"/>
                </a:lnTo>
                <a:lnTo>
                  <a:pt x="59150" y="773466"/>
                </a:lnTo>
                <a:lnTo>
                  <a:pt x="41644" y="736205"/>
                </a:lnTo>
                <a:lnTo>
                  <a:pt x="27016" y="697431"/>
                </a:lnTo>
                <a:lnTo>
                  <a:pt x="15401" y="657281"/>
                </a:lnTo>
                <a:lnTo>
                  <a:pt x="6935" y="615890"/>
                </a:lnTo>
                <a:lnTo>
                  <a:pt x="1756" y="573395"/>
                </a:lnTo>
                <a:lnTo>
                  <a:pt x="0" y="529932"/>
                </a:lnTo>
                <a:lnTo>
                  <a:pt x="1756" y="486470"/>
                </a:lnTo>
                <a:lnTo>
                  <a:pt x="6935" y="443975"/>
                </a:lnTo>
                <a:lnTo>
                  <a:pt x="15401" y="402584"/>
                </a:lnTo>
                <a:lnTo>
                  <a:pt x="27016" y="362434"/>
                </a:lnTo>
                <a:lnTo>
                  <a:pt x="41644" y="323660"/>
                </a:lnTo>
                <a:lnTo>
                  <a:pt x="59150" y="286399"/>
                </a:lnTo>
                <a:lnTo>
                  <a:pt x="79396" y="250787"/>
                </a:lnTo>
                <a:lnTo>
                  <a:pt x="102246" y="216962"/>
                </a:lnTo>
                <a:lnTo>
                  <a:pt x="127563" y="185059"/>
                </a:lnTo>
                <a:lnTo>
                  <a:pt x="155213" y="155214"/>
                </a:lnTo>
                <a:lnTo>
                  <a:pt x="185057" y="127565"/>
                </a:lnTo>
                <a:lnTo>
                  <a:pt x="216959" y="102246"/>
                </a:lnTo>
                <a:lnTo>
                  <a:pt x="250784" y="79396"/>
                </a:lnTo>
                <a:lnTo>
                  <a:pt x="286394" y="59150"/>
                </a:lnTo>
                <a:lnTo>
                  <a:pt x="323654" y="41645"/>
                </a:lnTo>
                <a:lnTo>
                  <a:pt x="362427" y="27016"/>
                </a:lnTo>
                <a:lnTo>
                  <a:pt x="402576" y="15401"/>
                </a:lnTo>
                <a:lnTo>
                  <a:pt x="443966" y="6935"/>
                </a:lnTo>
                <a:lnTo>
                  <a:pt x="486459" y="1756"/>
                </a:lnTo>
                <a:lnTo>
                  <a:pt x="529920" y="0"/>
                </a:lnTo>
                <a:lnTo>
                  <a:pt x="573382" y="1756"/>
                </a:lnTo>
                <a:lnTo>
                  <a:pt x="615877" y="6935"/>
                </a:lnTo>
                <a:lnTo>
                  <a:pt x="657268" y="15401"/>
                </a:lnTo>
                <a:lnTo>
                  <a:pt x="697419" y="27016"/>
                </a:lnTo>
                <a:lnTo>
                  <a:pt x="736193" y="41645"/>
                </a:lnTo>
                <a:lnTo>
                  <a:pt x="773453" y="59150"/>
                </a:lnTo>
                <a:lnTo>
                  <a:pt x="809065" y="79396"/>
                </a:lnTo>
                <a:lnTo>
                  <a:pt x="842890" y="102246"/>
                </a:lnTo>
                <a:lnTo>
                  <a:pt x="874793" y="127565"/>
                </a:lnTo>
                <a:lnTo>
                  <a:pt x="904638" y="155214"/>
                </a:lnTo>
                <a:lnTo>
                  <a:pt x="932287" y="185059"/>
                </a:lnTo>
                <a:lnTo>
                  <a:pt x="957606" y="216962"/>
                </a:lnTo>
                <a:lnTo>
                  <a:pt x="980456" y="250787"/>
                </a:lnTo>
                <a:lnTo>
                  <a:pt x="1000702" y="286399"/>
                </a:lnTo>
                <a:lnTo>
                  <a:pt x="1018208" y="323660"/>
                </a:lnTo>
                <a:lnTo>
                  <a:pt x="1032836" y="362434"/>
                </a:lnTo>
                <a:lnTo>
                  <a:pt x="1044451" y="402584"/>
                </a:lnTo>
                <a:lnTo>
                  <a:pt x="1052917" y="443975"/>
                </a:lnTo>
                <a:lnTo>
                  <a:pt x="1058096" y="486470"/>
                </a:lnTo>
                <a:lnTo>
                  <a:pt x="1059853" y="529932"/>
                </a:lnTo>
                <a:close/>
              </a:path>
            </a:pathLst>
          </a:custGeom>
          <a:ln w="6349">
            <a:solidFill>
              <a:schemeClr val="tx2"/>
            </a:solidFill>
          </a:ln>
        </p:spPr>
        <p:txBody>
          <a:bodyPr lIns="0" tIns="0" rIns="0" bIns="0" anchor="ctr"/>
          <a:lstStyle/>
          <a:p>
            <a:pPr marL="12700" algn="ctr">
              <a:lnSpc>
                <a:spcPts val="2500"/>
              </a:lnSpc>
              <a:defRPr/>
            </a:pPr>
            <a:r>
              <a:rPr lang="en-US" altLang="zh-CN" sz="1915" spc="-69" dirty="0">
                <a:solidFill>
                  <a:schemeClr val="tx2"/>
                </a:solidFill>
                <a:latin typeface="+mn-ea"/>
                <a:cs typeface="Times New Roman" panose="02020603050405020304" pitchFamily="18" charset="0"/>
              </a:rPr>
              <a:t>2</a:t>
            </a:r>
            <a:r>
              <a:rPr lang="zh-CN" altLang="en-US" sz="1915" spc="-69" dirty="0">
                <a:solidFill>
                  <a:schemeClr val="tx2"/>
                </a:solidFill>
                <a:latin typeface="+mn-ea"/>
                <a:cs typeface="Times New Roman" panose="02020603050405020304" pitchFamily="18" charset="0"/>
              </a:rPr>
              <a:t>人</a:t>
            </a:r>
            <a:endParaRPr lang="zh-CN" altLang="en-US" sz="1915" dirty="0">
              <a:solidFill>
                <a:schemeClr val="tx2"/>
              </a:solidFill>
              <a:latin typeface="+mn-ea"/>
              <a:cs typeface="Times New Roman" panose="02020603050405020304" pitchFamily="18" charset="0"/>
            </a:endParaRPr>
          </a:p>
        </p:txBody>
      </p:sp>
      <p:sp>
        <p:nvSpPr>
          <p:cNvPr id="29" name="object 7"/>
          <p:cNvSpPr txBox="1">
            <a:spLocks noChangeArrowheads="1"/>
          </p:cNvSpPr>
          <p:nvPr/>
        </p:nvSpPr>
        <p:spPr bwMode="auto">
          <a:xfrm>
            <a:off x="4221557" y="2636117"/>
            <a:ext cx="1115859"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固收与权益研究员</a:t>
            </a:r>
          </a:p>
        </p:txBody>
      </p:sp>
      <p:sp>
        <p:nvSpPr>
          <p:cNvPr id="30" name="object 9"/>
          <p:cNvSpPr txBox="1">
            <a:spLocks noChangeArrowheads="1"/>
          </p:cNvSpPr>
          <p:nvPr/>
        </p:nvSpPr>
        <p:spPr bwMode="auto">
          <a:xfrm>
            <a:off x="8161343" y="2624185"/>
            <a:ext cx="110705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143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dirty="0">
                <a:latin typeface="+mn-ea"/>
                <a:ea typeface="+mn-ea"/>
                <a:cs typeface="Times New Roman" panose="02020603050405020304" pitchFamily="18" charset="0"/>
              </a:rPr>
              <a:t>专职对口销售人员</a:t>
            </a:r>
          </a:p>
        </p:txBody>
      </p:sp>
      <p:sp>
        <p:nvSpPr>
          <p:cNvPr id="2" name="灯片编号占位符 1"/>
          <p:cNvSpPr>
            <a:spLocks noGrp="1"/>
          </p:cNvSpPr>
          <p:nvPr>
            <p:ph type="sldNum" sz="quarter" idx="4294967295"/>
          </p:nvPr>
        </p:nvSpPr>
        <p:spPr>
          <a:xfrm>
            <a:off x="8736162" y="6639853"/>
            <a:ext cx="2841171" cy="476345"/>
          </a:xfrm>
        </p:spPr>
        <p:txBody>
          <a:bodyPr/>
          <a:lstStyle/>
          <a:p>
            <a:fld id="{01A33459-9038-4A08-9739-D099B456C693}" type="slidenum">
              <a:rPr lang="zh-CN" altLang="en-US" smtClean="0"/>
              <a:t>6</a:t>
            </a:fld>
            <a:endParaRPr lang="zh-CN" altLang="en-US" dirty="0"/>
          </a:p>
        </p:txBody>
      </p:sp>
      <p:grpSp>
        <p:nvGrpSpPr>
          <p:cNvPr id="23" name="组合 22"/>
          <p:cNvGrpSpPr/>
          <p:nvPr/>
        </p:nvGrpSpPr>
        <p:grpSpPr>
          <a:xfrm>
            <a:off x="782767" y="3521316"/>
            <a:ext cx="2687320" cy="3164205"/>
            <a:chOff x="503" y="5118"/>
            <a:chExt cx="4232" cy="5134"/>
          </a:xfrm>
        </p:grpSpPr>
        <p:sp>
          <p:nvSpPr>
            <p:cNvPr id="31" name="圆角矩形 30"/>
            <p:cNvSpPr/>
            <p:nvPr/>
          </p:nvSpPr>
          <p:spPr>
            <a:xfrm>
              <a:off x="503" y="5118"/>
              <a:ext cx="4230" cy="5134"/>
            </a:xfrm>
            <a:prstGeom prst="roundRect">
              <a:avLst>
                <a:gd name="adj" fmla="val 9689"/>
              </a:avLst>
            </a:prstGeom>
            <a:gradFill>
              <a:gsLst>
                <a:gs pos="0">
                  <a:srgbClr val="FAFAFA"/>
                </a:gs>
                <a:gs pos="100000">
                  <a:schemeClr val="bg1"/>
                </a:gs>
              </a:gsLst>
              <a:lin ang="5400000" scaled="0"/>
            </a:gradFill>
            <a:ln>
              <a:solidFill>
                <a:schemeClr val="bg1"/>
              </a:solidFill>
            </a:ln>
            <a:effectLst>
              <a:outerShdw blurRad="381000" dist="63500" dir="5400000" algn="t"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 name="文本框 31"/>
            <p:cNvSpPr txBox="1"/>
            <p:nvPr/>
          </p:nvSpPr>
          <p:spPr>
            <a:xfrm>
              <a:off x="744" y="5969"/>
              <a:ext cx="3748" cy="3517"/>
            </a:xfrm>
            <a:prstGeom prst="rect">
              <a:avLst/>
            </a:prstGeom>
            <a:noFill/>
          </p:spPr>
          <p:txBody>
            <a:bodyPr wrap="square" rtlCol="0">
              <a:noAutofit/>
            </a:bodyPr>
            <a:lstStyle/>
            <a:p>
              <a:pPr indent="0" algn="just" fontAlgn="auto">
                <a:lnSpc>
                  <a:spcPct val="150000"/>
                </a:lnSpc>
              </a:pPr>
              <a:r>
                <a:rPr lang="zh-CN" altLang="en-US" sz="1400" dirty="0">
                  <a:solidFill>
                    <a:schemeClr val="dk1"/>
                  </a:solidFill>
                  <a:latin typeface="+mj-ea"/>
                  <a:ea typeface="+mj-ea"/>
                  <a:cs typeface="微软雅黑" panose="020B0503020204020204" pitchFamily="34" charset="-122"/>
                  <a:sym typeface="+mn-ea"/>
                </a:rPr>
                <a:t>公司领导高度重视</a:t>
              </a:r>
              <a:r>
                <a:rPr lang="en-US" altLang="zh-CN" sz="1400" dirty="0">
                  <a:solidFill>
                    <a:schemeClr val="dk1"/>
                  </a:solidFill>
                  <a:latin typeface="+mj-ea"/>
                  <a:ea typeface="+mj-ea"/>
                  <a:cs typeface="微软雅黑" panose="020B0503020204020204" pitchFamily="34" charset="-122"/>
                  <a:sym typeface="+mn-ea"/>
                </a:rPr>
                <a:t>FOF</a:t>
              </a:r>
              <a:r>
                <a:rPr lang="zh-CN" altLang="en-US" sz="1400" dirty="0">
                  <a:solidFill>
                    <a:schemeClr val="dk1"/>
                  </a:solidFill>
                  <a:latin typeface="+mj-ea"/>
                  <a:ea typeface="+mj-ea"/>
                  <a:cs typeface="微软雅黑" panose="020B0503020204020204" pitchFamily="34" charset="-122"/>
                  <a:sym typeface="+mn-ea"/>
                </a:rPr>
                <a:t>业务，</a:t>
              </a:r>
              <a:r>
                <a:rPr lang="zh-CN" altLang="en-US" sz="1400" b="1" dirty="0">
                  <a:solidFill>
                    <a:schemeClr val="dk1"/>
                  </a:solidFill>
                  <a:latin typeface="+mj-ea"/>
                  <a:ea typeface="+mj-ea"/>
                  <a:cs typeface="微软雅黑" panose="020B0503020204020204" pitchFamily="34" charset="-122"/>
                  <a:sym typeface="+mn-ea"/>
                </a:rPr>
                <a:t>在投研人员和内部资源上给与充分支持；</a:t>
              </a:r>
              <a:r>
                <a:rPr lang="en-US" altLang="zh-CN" sz="1400" dirty="0">
                  <a:solidFill>
                    <a:schemeClr val="dk1"/>
                  </a:solidFill>
                  <a:latin typeface="+mj-ea"/>
                  <a:ea typeface="+mj-ea"/>
                  <a:cs typeface="微软雅黑" panose="020B0503020204020204" pitchFamily="34" charset="-122"/>
                  <a:sym typeface="+mn-ea"/>
                </a:rPr>
                <a:t>FOF</a:t>
              </a:r>
              <a:r>
                <a:rPr lang="zh-CN" altLang="en-US" sz="1400" dirty="0">
                  <a:solidFill>
                    <a:schemeClr val="dk1"/>
                  </a:solidFill>
                  <a:latin typeface="+mj-ea"/>
                  <a:ea typeface="+mj-ea"/>
                  <a:cs typeface="微软雅黑" panose="020B0503020204020204" pitchFamily="34" charset="-122"/>
                  <a:sym typeface="+mn-ea"/>
                </a:rPr>
                <a:t>投资总监同时担任公司投委会、股票投委会、固定收益投委会委员，</a:t>
              </a:r>
              <a:r>
                <a:rPr lang="zh-CN" altLang="en-US" sz="1400" b="1" dirty="0">
                  <a:solidFill>
                    <a:schemeClr val="dk1"/>
                  </a:solidFill>
                  <a:latin typeface="+mj-ea"/>
                  <a:ea typeface="+mj-ea"/>
                  <a:cs typeface="微软雅黑" panose="020B0503020204020204" pitchFamily="34" charset="-122"/>
                  <a:sym typeface="+mn-ea"/>
                </a:rPr>
                <a:t>能够充分统筹和借力公司的整体投研实力；</a:t>
              </a:r>
              <a:endParaRPr lang="zh-CN" altLang="en-US" sz="1400" dirty="0">
                <a:solidFill>
                  <a:schemeClr val="dk1"/>
                </a:solidFill>
                <a:latin typeface="+mj-ea"/>
                <a:ea typeface="+mj-ea"/>
                <a:cs typeface="微软雅黑" panose="020B0503020204020204" pitchFamily="34" charset="-122"/>
                <a:sym typeface="+mn-ea"/>
              </a:endParaRPr>
            </a:p>
            <a:p>
              <a:pPr indent="0" algn="just" fontAlgn="auto">
                <a:lnSpc>
                  <a:spcPct val="150000"/>
                </a:lnSpc>
              </a:pPr>
              <a:endParaRPr lang="zh-CN" altLang="en-US" sz="1400" dirty="0"/>
            </a:p>
          </p:txBody>
        </p:sp>
        <p:sp>
          <p:nvSpPr>
            <p:cNvPr id="33" name="文本框 32"/>
            <p:cNvSpPr txBox="1"/>
            <p:nvPr/>
          </p:nvSpPr>
          <p:spPr>
            <a:xfrm>
              <a:off x="537" y="5230"/>
              <a:ext cx="4198" cy="580"/>
            </a:xfrm>
            <a:prstGeom prst="rect">
              <a:avLst/>
            </a:prstGeom>
            <a:noFill/>
          </p:spPr>
          <p:txBody>
            <a:bodyPr wrap="square" rtlCol="0">
              <a:spAutoFit/>
            </a:bodyPr>
            <a:lstStyle/>
            <a:p>
              <a:pPr algn="ct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投研支撑</a:t>
              </a:r>
              <a:r>
                <a:rPr lang="en-US" altLang="zh-CN"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资源统筹</a:t>
              </a:r>
            </a:p>
          </p:txBody>
        </p:sp>
      </p:grpSp>
      <p:grpSp>
        <p:nvGrpSpPr>
          <p:cNvPr id="34" name="组合 33"/>
          <p:cNvGrpSpPr/>
          <p:nvPr/>
        </p:nvGrpSpPr>
        <p:grpSpPr>
          <a:xfrm>
            <a:off x="4436556" y="3556241"/>
            <a:ext cx="3020786" cy="3092450"/>
            <a:chOff x="503" y="5382"/>
            <a:chExt cx="4262" cy="4870"/>
          </a:xfrm>
        </p:grpSpPr>
        <p:sp>
          <p:nvSpPr>
            <p:cNvPr id="35" name="圆角矩形 34"/>
            <p:cNvSpPr/>
            <p:nvPr/>
          </p:nvSpPr>
          <p:spPr>
            <a:xfrm>
              <a:off x="503" y="5382"/>
              <a:ext cx="4230" cy="4870"/>
            </a:xfrm>
            <a:prstGeom prst="roundRect">
              <a:avLst>
                <a:gd name="adj" fmla="val 9689"/>
              </a:avLst>
            </a:prstGeom>
            <a:gradFill>
              <a:gsLst>
                <a:gs pos="0">
                  <a:srgbClr val="FAFAFA"/>
                </a:gs>
                <a:gs pos="100000">
                  <a:schemeClr val="bg1"/>
                </a:gs>
              </a:gsLst>
              <a:lin ang="5400000" scaled="0"/>
            </a:gradFill>
            <a:ln>
              <a:solidFill>
                <a:schemeClr val="bg1"/>
              </a:solidFill>
            </a:ln>
            <a:effectLst>
              <a:outerShdw blurRad="381000" dist="63500" dir="5400000" algn="t"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6" name="文本框 35"/>
            <p:cNvSpPr txBox="1"/>
            <p:nvPr/>
          </p:nvSpPr>
          <p:spPr>
            <a:xfrm>
              <a:off x="733" y="6177"/>
              <a:ext cx="4021" cy="3518"/>
            </a:xfrm>
            <a:prstGeom prst="rect">
              <a:avLst/>
            </a:prstGeom>
            <a:noFill/>
          </p:spPr>
          <p:txBody>
            <a:bodyPr wrap="square" rtlCol="0">
              <a:noAutofit/>
            </a:bodyPr>
            <a:lstStyle/>
            <a:p>
              <a:pPr indent="0" algn="just" fontAlgn="auto">
                <a:lnSpc>
                  <a:spcPct val="150000"/>
                </a:lnSpc>
              </a:pPr>
              <a:r>
                <a:rPr lang="zh-CN" altLang="en-US" sz="1400" dirty="0">
                  <a:solidFill>
                    <a:schemeClr val="dk1"/>
                  </a:solidFill>
                  <a:latin typeface="+mj-ea"/>
                  <a:ea typeface="+mj-ea"/>
                  <a:cs typeface="微软雅黑" panose="020B0503020204020204" pitchFamily="34" charset="-122"/>
                  <a:sym typeface="+mn-ea"/>
                </a:rPr>
                <a:t>强调</a:t>
              </a:r>
              <a:r>
                <a:rPr lang="zh-CN" altLang="en-US" sz="1400" b="1" dirty="0">
                  <a:solidFill>
                    <a:schemeClr val="dk1"/>
                  </a:solidFill>
                  <a:latin typeface="+mj-ea"/>
                  <a:ea typeface="+mj-ea"/>
                  <a:cs typeface="微软雅黑" panose="020B0503020204020204" pitchFamily="34" charset="-122"/>
                  <a:sym typeface="+mn-ea"/>
                </a:rPr>
                <a:t>内部投研成果和策略的共享</a:t>
              </a:r>
              <a:r>
                <a:rPr lang="zh-CN" altLang="en-US" sz="1400" dirty="0">
                  <a:solidFill>
                    <a:schemeClr val="dk1"/>
                  </a:solidFill>
                  <a:latin typeface="+mj-ea"/>
                  <a:ea typeface="+mj-ea"/>
                  <a:cs typeface="微软雅黑" panose="020B0503020204020204" pitchFamily="34" charset="-122"/>
                  <a:sym typeface="+mn-ea"/>
                </a:rPr>
                <a:t>，</a:t>
              </a:r>
              <a:r>
                <a:rPr lang="zh-CN" altLang="en-US" sz="1400" dirty="0">
                  <a:latin typeface="+mj-ea"/>
                  <a:ea typeface="+mj-ea"/>
                  <a:sym typeface="+mn-ea"/>
                </a:rPr>
                <a:t>将公司年金投资团队和“固收+”投资团队在跨地域、跨类别、跨周期的资产配置中所积累的成熟的系统化、体系化投研方法，逐步在FOF中落地应用</a:t>
              </a:r>
              <a:r>
                <a:rPr lang="zh-CN" altLang="en-US" sz="1400" dirty="0">
                  <a:solidFill>
                    <a:prstClr val="black"/>
                  </a:solidFill>
                  <a:latin typeface="+mj-ea"/>
                  <a:ea typeface="+mj-ea"/>
                  <a:cs typeface="微软雅黑" panose="020B0503020204020204" pitchFamily="34" charset="-122"/>
                  <a:sym typeface="+mn-lt"/>
                </a:rPr>
                <a:t>，提升高胜率投资决策的业绩转化效果</a:t>
              </a:r>
              <a:r>
                <a:rPr lang="zh-CN" altLang="en-US" sz="1400" dirty="0">
                  <a:solidFill>
                    <a:schemeClr val="dk1"/>
                  </a:solidFill>
                  <a:latin typeface="+mj-ea"/>
                  <a:ea typeface="+mj-ea"/>
                  <a:cs typeface="微软雅黑" panose="020B0503020204020204" pitchFamily="34" charset="-122"/>
                  <a:sym typeface="+mn-ea"/>
                </a:rPr>
                <a:t>；</a:t>
              </a:r>
              <a:endParaRPr lang="en-US" altLang="zh-CN" sz="1400" dirty="0">
                <a:solidFill>
                  <a:srgbClr val="C00000"/>
                </a:solidFill>
                <a:latin typeface="+mj-ea"/>
                <a:ea typeface="+mj-ea"/>
                <a:cs typeface="微软雅黑" panose="020B0503020204020204" pitchFamily="34" charset="-122"/>
                <a:sym typeface="+mn-ea"/>
              </a:endParaRPr>
            </a:p>
            <a:p>
              <a:pPr indent="0" algn="just" fontAlgn="auto">
                <a:lnSpc>
                  <a:spcPct val="150000"/>
                </a:lnSpc>
              </a:pPr>
              <a:endParaRPr lang="zh-CN" altLang="en-US" sz="1400" dirty="0"/>
            </a:p>
          </p:txBody>
        </p:sp>
        <p:sp>
          <p:nvSpPr>
            <p:cNvPr id="37" name="文本框 36"/>
            <p:cNvSpPr txBox="1"/>
            <p:nvPr/>
          </p:nvSpPr>
          <p:spPr>
            <a:xfrm>
              <a:off x="567" y="5490"/>
              <a:ext cx="4198" cy="580"/>
            </a:xfrm>
            <a:prstGeom prst="rect">
              <a:avLst/>
            </a:prstGeom>
            <a:noFill/>
          </p:spPr>
          <p:txBody>
            <a:bodyPr wrap="square" rtlCol="0">
              <a:spAutoFit/>
            </a:bodyPr>
            <a:lstStyle/>
            <a:p>
              <a:pPr algn="ct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rPr>
                <a:t>资源共享</a:t>
              </a:r>
              <a:r>
                <a:rPr lang="en-US" altLang="zh-CN"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rPr>
                <a:t>赋能投资</a:t>
              </a:r>
            </a:p>
          </p:txBody>
        </p:sp>
      </p:grpSp>
      <p:grpSp>
        <p:nvGrpSpPr>
          <p:cNvPr id="38" name="组合 37"/>
          <p:cNvGrpSpPr/>
          <p:nvPr/>
        </p:nvGrpSpPr>
        <p:grpSpPr>
          <a:xfrm>
            <a:off x="8311327" y="3592436"/>
            <a:ext cx="2715260" cy="3093085"/>
            <a:chOff x="503" y="5381"/>
            <a:chExt cx="4276" cy="4871"/>
          </a:xfrm>
        </p:grpSpPr>
        <p:sp>
          <p:nvSpPr>
            <p:cNvPr id="39" name="圆角矩形 38"/>
            <p:cNvSpPr/>
            <p:nvPr/>
          </p:nvSpPr>
          <p:spPr>
            <a:xfrm>
              <a:off x="503" y="5382"/>
              <a:ext cx="4230" cy="4870"/>
            </a:xfrm>
            <a:prstGeom prst="roundRect">
              <a:avLst>
                <a:gd name="adj" fmla="val 9689"/>
              </a:avLst>
            </a:prstGeom>
            <a:gradFill>
              <a:gsLst>
                <a:gs pos="0">
                  <a:srgbClr val="FAFAFA"/>
                </a:gs>
                <a:gs pos="100000">
                  <a:schemeClr val="bg1"/>
                </a:gs>
              </a:gsLst>
              <a:lin ang="5400000" scaled="0"/>
            </a:gradFill>
            <a:ln>
              <a:solidFill>
                <a:schemeClr val="bg1"/>
              </a:solidFill>
            </a:ln>
            <a:effectLst>
              <a:outerShdw blurRad="381000" dist="63500" dir="5400000" algn="t"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文本框 39"/>
            <p:cNvSpPr txBox="1"/>
            <p:nvPr/>
          </p:nvSpPr>
          <p:spPr>
            <a:xfrm>
              <a:off x="628" y="6217"/>
              <a:ext cx="3962" cy="3708"/>
            </a:xfrm>
            <a:prstGeom prst="rect">
              <a:avLst/>
            </a:prstGeom>
            <a:noFill/>
          </p:spPr>
          <p:txBody>
            <a:bodyPr wrap="square" rtlCol="0">
              <a:spAutoFit/>
            </a:bodyPr>
            <a:lstStyle/>
            <a:p>
              <a:pPr marL="0" lvl="1" indent="0" algn="just" fontAlgn="auto">
                <a:lnSpc>
                  <a:spcPct val="150000"/>
                </a:lnSpc>
              </a:pPr>
              <a:r>
                <a:rPr lang="zh-CN" altLang="en-US" sz="1400" b="1" dirty="0">
                  <a:solidFill>
                    <a:schemeClr val="dk1"/>
                  </a:solidFill>
                  <a:latin typeface="+mj-ea"/>
                  <a:ea typeface="+mj-ea"/>
                  <a:cs typeface="微软雅黑" panose="020B0503020204020204" pitchFamily="34" charset="-122"/>
                  <a:sym typeface="+mn-ea"/>
                </a:rPr>
                <a:t>将银华的投研优势与养老金投资管理方法有机结合</a:t>
              </a:r>
              <a:r>
                <a:rPr lang="zh-CN" altLang="en-US" sz="1400" dirty="0">
                  <a:solidFill>
                    <a:schemeClr val="dk1"/>
                  </a:solidFill>
                  <a:latin typeface="+mj-ea"/>
                  <a:ea typeface="+mj-ea"/>
                  <a:cs typeface="微软雅黑" panose="020B0503020204020204" pitchFamily="34" charset="-122"/>
                  <a:sym typeface="+mn-ea"/>
                </a:rPr>
                <a:t>，</a:t>
              </a:r>
              <a:r>
                <a:rPr lang="zh-CN" altLang="en-US" sz="1400" dirty="0">
                  <a:latin typeface="+mj-ea"/>
                  <a:ea typeface="+mj-ea"/>
                  <a:sym typeface="+mn-ea"/>
                </a:rPr>
                <a:t>既借力公募擅长的投资锐度，又充分结合公司在养老金管理上长期积累的回撤控制经验、资产配置实践、管理方法和投资纪律</a:t>
              </a:r>
              <a:r>
                <a:rPr lang="zh-CN" altLang="en-US" sz="1400" dirty="0">
                  <a:sym typeface="+mn-ea"/>
                </a:rPr>
                <a:t>。</a:t>
              </a:r>
              <a:endParaRPr lang="en-US" altLang="zh-CN" sz="14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0" lvl="1" indent="0" algn="just" fontAlgn="auto">
                <a:lnSpc>
                  <a:spcPct val="150000"/>
                </a:lnSpc>
              </a:pPr>
              <a:endParaRPr lang="zh-CN" altLang="en-US" sz="1400" dirty="0"/>
            </a:p>
          </p:txBody>
        </p:sp>
        <p:sp>
          <p:nvSpPr>
            <p:cNvPr id="41" name="文本框 40"/>
            <p:cNvSpPr txBox="1"/>
            <p:nvPr/>
          </p:nvSpPr>
          <p:spPr>
            <a:xfrm>
              <a:off x="581" y="5381"/>
              <a:ext cx="4198" cy="580"/>
            </a:xfrm>
            <a:prstGeom prst="rect">
              <a:avLst/>
            </a:prstGeom>
            <a:noFill/>
          </p:spPr>
          <p:txBody>
            <a:bodyPr wrap="square" rtlCol="0">
              <a:spAutoFit/>
            </a:bodyPr>
            <a:lstStyle/>
            <a:p>
              <a:pPr marL="0" lvl="1" indent="0" algn="ctr" fontAlgn="t">
                <a:lnSpc>
                  <a:spcPct val="100000"/>
                </a:lnSpc>
                <a:spcBef>
                  <a:spcPts val="600"/>
                </a:spcBef>
                <a:spcAft>
                  <a:spcPts val="600"/>
                </a:spcAft>
                <a:buClr>
                  <a:srgbClr val="C00000"/>
                </a:buClr>
                <a:buFont typeface="Wingdings" panose="05000000000000000000" pitchFamily="2" charset="2"/>
                <a:buNone/>
              </a:pP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严控回撤</a:t>
              </a:r>
              <a:r>
                <a:rPr lang="en-US" altLang="zh-CN"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solidFill>
                    <a:srgbClr val="D12920"/>
                  </a:solidFill>
                  <a:latin typeface="微软雅黑" panose="020B0503020204020204" pitchFamily="34" charset="-122"/>
                  <a:ea typeface="微软雅黑" panose="020B0503020204020204" pitchFamily="34" charset="-122"/>
                  <a:cs typeface="微软雅黑" panose="020B0503020204020204" pitchFamily="34" charset="-122"/>
                  <a:sym typeface="+mn-ea"/>
                </a:rPr>
                <a:t>力争长远</a:t>
              </a:r>
            </a:p>
          </p:txBody>
        </p:sp>
      </p:grpSp>
      <p:sp>
        <p:nvSpPr>
          <p:cNvPr id="42" name="文本框 41"/>
          <p:cNvSpPr txBox="1"/>
          <p:nvPr/>
        </p:nvSpPr>
        <p:spPr>
          <a:xfrm>
            <a:off x="782767" y="2980338"/>
            <a:ext cx="11400790" cy="398780"/>
          </a:xfrm>
          <a:prstGeom prst="rect">
            <a:avLst/>
          </a:prstGeom>
          <a:noFill/>
        </p:spPr>
        <p:txBody>
          <a:bodyPr wrap="square" rtlCol="0">
            <a:spAutoFit/>
          </a:bodyPr>
          <a:lstStyle/>
          <a:p>
            <a:pPr marL="285750" indent="-285750" algn="just" defTabSz="914400">
              <a:lnSpc>
                <a:spcPct val="125000"/>
              </a:lnSpc>
              <a:spcAft>
                <a:spcPts val="600"/>
              </a:spcAft>
              <a:buClr>
                <a:srgbClr val="C00000"/>
              </a:buClr>
              <a:buSzTx/>
              <a:buFont typeface="Wingdings" panose="05000000000000000000" pitchFamily="2" charset="2"/>
              <a:buChar char="p"/>
              <a:tabLst>
                <a:tab pos="903605" algn="l"/>
              </a:tabLst>
            </a:pPr>
            <a:r>
              <a:rPr lang="zh-CN" altLang="en-US" sz="1600" dirty="0">
                <a:latin typeface="+mj-ea"/>
                <a:ea typeface="+mj-ea"/>
              </a:rPr>
              <a:t>FOF投资团队依托公司的投研生态和整体投研实力，通过日常观点分享及沟通交流，更好地赋能FOF产品管理。</a:t>
            </a:r>
          </a:p>
        </p:txBody>
      </p:sp>
      <p:sp>
        <p:nvSpPr>
          <p:cNvPr id="3" name="文本框 2"/>
          <p:cNvSpPr txBox="1"/>
          <p:nvPr/>
        </p:nvSpPr>
        <p:spPr>
          <a:xfrm>
            <a:off x="215653" y="6627591"/>
            <a:ext cx="2543706" cy="253916"/>
          </a:xfrm>
          <a:prstGeom prst="rect">
            <a:avLst/>
          </a:prstGeom>
          <a:noFill/>
        </p:spPr>
        <p:txBody>
          <a:bodyPr wrap="square" rtlCol="0">
            <a:spAutoFit/>
          </a:bodyPr>
          <a:lstStyle/>
          <a:p>
            <a:r>
              <a:rPr lang="zh-CN" altLang="en-US" sz="1050" dirty="0">
                <a:latin typeface="+mj-ea"/>
                <a:ea typeface="+mj-ea"/>
              </a:rPr>
              <a:t>资料来源：银华基金</a:t>
            </a:r>
          </a:p>
        </p:txBody>
      </p:sp>
      <p:sp>
        <p:nvSpPr>
          <p:cNvPr id="4" name="文本框 3"/>
          <p:cNvSpPr txBox="1"/>
          <p:nvPr/>
        </p:nvSpPr>
        <p:spPr>
          <a:xfrm>
            <a:off x="5337359" y="662262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45655" y="1836420"/>
            <a:ext cx="5045710" cy="3185795"/>
          </a:xfrm>
          <a:prstGeom prst="rect">
            <a:avLst/>
          </a:prstGeom>
          <a:blipFill rotWithShape="1">
            <a:blip r:embed="rId2" cstate="screen">
              <a:grayscl/>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      </a:t>
            </a:r>
            <a:endParaRPr lang="zh-CN" altLang="en-US" dirty="0"/>
          </a:p>
        </p:txBody>
      </p:sp>
      <p:sp>
        <p:nvSpPr>
          <p:cNvPr id="3" name="矩形 2"/>
          <p:cNvSpPr/>
          <p:nvPr/>
        </p:nvSpPr>
        <p:spPr>
          <a:xfrm>
            <a:off x="0" y="1836420"/>
            <a:ext cx="7026910" cy="3185795"/>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5"/>
          <p:cNvCxnSpPr/>
          <p:nvPr/>
        </p:nvCxnSpPr>
        <p:spPr>
          <a:xfrm>
            <a:off x="0" y="1719552"/>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5139027"/>
            <a:ext cx="12192000" cy="0"/>
          </a:xfrm>
          <a:prstGeom prst="line">
            <a:avLst/>
          </a:prstGeom>
          <a:ln w="12700">
            <a:solidFill>
              <a:schemeClr val="bg1">
                <a:lumMod val="85000"/>
              </a:schemeClr>
            </a:solidFill>
          </a:ln>
          <a:effectLst>
            <a:outerShdw blurRad="6350" dist="254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439940" y="2742004"/>
            <a:ext cx="3785870" cy="662489"/>
          </a:xfrm>
          <a:prstGeom prst="rect">
            <a:avLst/>
          </a:prstGeom>
          <a:noFill/>
        </p:spPr>
        <p:txBody>
          <a:bodyPr wrap="square" rtlCol="0">
            <a:spAutoFit/>
          </a:bodyPr>
          <a:lstStyle/>
          <a:p>
            <a:pPr>
              <a:lnSpc>
                <a:spcPct val="150000"/>
              </a:lnSpc>
            </a:pPr>
            <a:r>
              <a:rPr lang="zh-CN" altLang="en-US" sz="2800" b="1" dirty="0">
                <a:solidFill>
                  <a:schemeClr val="bg1"/>
                </a:solidFill>
                <a:latin typeface="微软雅黑" panose="020B0503020204020204" pitchFamily="34" charset="-122"/>
                <a:ea typeface="微软雅黑" panose="020B0503020204020204" pitchFamily="34" charset="-122"/>
                <a:sym typeface="+mn-ea"/>
              </a:rPr>
              <a:t>投资体系</a:t>
            </a:r>
          </a:p>
        </p:txBody>
      </p:sp>
      <p:sp>
        <p:nvSpPr>
          <p:cNvPr id="8" name="文本框 7"/>
          <p:cNvSpPr txBox="1"/>
          <p:nvPr/>
        </p:nvSpPr>
        <p:spPr>
          <a:xfrm>
            <a:off x="231775" y="2459990"/>
            <a:ext cx="2075180" cy="1938020"/>
          </a:xfrm>
          <a:prstGeom prst="rect">
            <a:avLst/>
          </a:prstGeom>
          <a:noFill/>
        </p:spPr>
        <p:txBody>
          <a:bodyPr wrap="square" rtlCol="0">
            <a:spAutoFit/>
          </a:bodyPr>
          <a:lstStyle/>
          <a:p>
            <a:pPr algn="r"/>
            <a:r>
              <a:rPr lang="en-US" altLang="zh-CN" sz="12000" b="1" dirty="0">
                <a:solidFill>
                  <a:schemeClr val="bg1"/>
                </a:solidFill>
                <a:latin typeface="Arial" panose="020B0604020202020204" pitchFamily="34" charset="0"/>
              </a:rPr>
              <a:t>02</a:t>
            </a:r>
          </a:p>
        </p:txBody>
      </p:sp>
      <p:sp>
        <p:nvSpPr>
          <p:cNvPr id="7" name="文本框 6"/>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par>
                          <p:cTn id="18" fill="hold">
                            <p:stCondLst>
                              <p:cond delay="1500"/>
                            </p:stCondLst>
                            <p:childTnLst>
                              <p:par>
                                <p:cTn id="19" presetID="29"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ppt_x</p:attrName>
                                        </p:attrNameLst>
                                      </p:cBhvr>
                                      <p:tavLst>
                                        <p:tav tm="0">
                                          <p:val>
                                            <p:strVal val="#ppt_x-.2"/>
                                          </p:val>
                                        </p:tav>
                                        <p:tav tm="100000">
                                          <p:val>
                                            <p:strVal val="#ppt_x"/>
                                          </p:val>
                                        </p:tav>
                                      </p:tavLst>
                                    </p:anim>
                                    <p:anim calcmode="lin" valueType="num">
                                      <p:cBhvr>
                                        <p:cTn id="22" dur="5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23" dur="500"/>
                                        <p:tgtEl>
                                          <p:spTgt spid="6"/>
                                        </p:tgtEl>
                                      </p:cBhvr>
                                    </p:animEffect>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anim calcmode="lin" valueType="num">
                                      <p:cBhvr>
                                        <p:cTn id="28" dur="500" fill="hold"/>
                                        <p:tgtEl>
                                          <p:spTgt spid="2"/>
                                        </p:tgtEl>
                                        <p:attrNameLst>
                                          <p:attrName>ppt_x</p:attrName>
                                        </p:attrNameLst>
                                      </p:cBhvr>
                                      <p:tavLst>
                                        <p:tav tm="0">
                                          <p:val>
                                            <p:strVal val="#ppt_x"/>
                                          </p:val>
                                        </p:tav>
                                        <p:tav tm="100000">
                                          <p:val>
                                            <p:strVal val="#ppt_x"/>
                                          </p:val>
                                        </p:tav>
                                      </p:tavLst>
                                    </p:anim>
                                    <p:anim calcmode="lin" valueType="num">
                                      <p:cBhvr>
                                        <p:cTn id="29" dur="500" fill="hold"/>
                                        <p:tgtEl>
                                          <p:spTgt spid="2"/>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067300" y="2735199"/>
            <a:ext cx="506095" cy="435610"/>
            <a:chOff x="3787022" y="1797643"/>
            <a:chExt cx="550817" cy="473832"/>
          </a:xfrm>
          <a:solidFill>
            <a:schemeClr val="bg1"/>
          </a:solidFill>
        </p:grpSpPr>
        <p:sp>
          <p:nvSpPr>
            <p:cNvPr id="12" name="Oval 217"/>
            <p:cNvSpPr>
              <a:spLocks noChangeArrowheads="1"/>
            </p:cNvSpPr>
            <p:nvPr/>
          </p:nvSpPr>
          <p:spPr bwMode="auto">
            <a:xfrm>
              <a:off x="4007132" y="1931010"/>
              <a:ext cx="108428" cy="13553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3"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4"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5"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6"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7"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8"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19"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0"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grpSp>
      <p:grpSp>
        <p:nvGrpSpPr>
          <p:cNvPr id="21" name="组合 20"/>
          <p:cNvGrpSpPr/>
          <p:nvPr/>
        </p:nvGrpSpPr>
        <p:grpSpPr>
          <a:xfrm>
            <a:off x="6682740" y="3699764"/>
            <a:ext cx="492125" cy="319405"/>
            <a:chOff x="7058307" y="1859447"/>
            <a:chExt cx="535637" cy="348055"/>
          </a:xfrm>
          <a:solidFill>
            <a:schemeClr val="bg1"/>
          </a:solidFill>
        </p:grpSpPr>
        <p:sp>
          <p:nvSpPr>
            <p:cNvPr id="22" name="Rectangle 240"/>
            <p:cNvSpPr>
              <a:spLocks noChangeArrowheads="1"/>
            </p:cNvSpPr>
            <p:nvPr/>
          </p:nvSpPr>
          <p:spPr bwMode="auto">
            <a:xfrm>
              <a:off x="7112521" y="1997151"/>
              <a:ext cx="127945" cy="108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3" name="Rectangle 241"/>
            <p:cNvSpPr>
              <a:spLocks noChangeArrowheads="1"/>
            </p:cNvSpPr>
            <p:nvPr/>
          </p:nvSpPr>
          <p:spPr bwMode="auto">
            <a:xfrm>
              <a:off x="7112521" y="2038354"/>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4" name="Rectangle 242"/>
            <p:cNvSpPr>
              <a:spLocks noChangeArrowheads="1"/>
            </p:cNvSpPr>
            <p:nvPr/>
          </p:nvSpPr>
          <p:spPr bwMode="auto">
            <a:xfrm>
              <a:off x="7112521" y="2079556"/>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5" name="Rectangle 243"/>
            <p:cNvSpPr>
              <a:spLocks noChangeArrowheads="1"/>
            </p:cNvSpPr>
            <p:nvPr/>
          </p:nvSpPr>
          <p:spPr bwMode="auto">
            <a:xfrm>
              <a:off x="7112521" y="2120759"/>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6" name="Freeform 244"/>
            <p:cNvSpPr/>
            <p:nvPr/>
          </p:nvSpPr>
          <p:spPr bwMode="auto">
            <a:xfrm>
              <a:off x="7428047" y="2038354"/>
              <a:ext cx="24939" cy="71563"/>
            </a:xfrm>
            <a:custGeom>
              <a:avLst/>
              <a:gdLst>
                <a:gd name="T0" fmla="*/ 4 w 10"/>
                <a:gd name="T1" fmla="*/ 28 h 28"/>
                <a:gd name="T2" fmla="*/ 10 w 10"/>
                <a:gd name="T3" fmla="*/ 25 h 28"/>
                <a:gd name="T4" fmla="*/ 10 w 10"/>
                <a:gd name="T5" fmla="*/ 3 h 28"/>
                <a:gd name="T6" fmla="*/ 1 w 10"/>
                <a:gd name="T7" fmla="*/ 0 h 28"/>
                <a:gd name="T8" fmla="*/ 0 w 10"/>
                <a:gd name="T9" fmla="*/ 0 h 28"/>
                <a:gd name="T10" fmla="*/ 0 w 10"/>
                <a:gd name="T11" fmla="*/ 28 h 28"/>
                <a:gd name="T12" fmla="*/ 1 w 10"/>
                <a:gd name="T13" fmla="*/ 28 h 28"/>
                <a:gd name="T14" fmla="*/ 4 w 10"/>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8">
                  <a:moveTo>
                    <a:pt x="4" y="28"/>
                  </a:moveTo>
                  <a:cubicBezTo>
                    <a:pt x="6" y="27"/>
                    <a:pt x="8" y="26"/>
                    <a:pt x="10" y="25"/>
                  </a:cubicBezTo>
                  <a:cubicBezTo>
                    <a:pt x="10" y="3"/>
                    <a:pt x="10" y="3"/>
                    <a:pt x="10" y="3"/>
                  </a:cubicBezTo>
                  <a:cubicBezTo>
                    <a:pt x="7" y="1"/>
                    <a:pt x="4" y="0"/>
                    <a:pt x="1" y="0"/>
                  </a:cubicBezTo>
                  <a:cubicBezTo>
                    <a:pt x="0" y="0"/>
                    <a:pt x="0" y="0"/>
                    <a:pt x="0" y="0"/>
                  </a:cubicBezTo>
                  <a:cubicBezTo>
                    <a:pt x="0" y="28"/>
                    <a:pt x="0" y="28"/>
                    <a:pt x="0" y="28"/>
                  </a:cubicBezTo>
                  <a:cubicBezTo>
                    <a:pt x="0" y="28"/>
                    <a:pt x="0" y="28"/>
                    <a:pt x="1" y="28"/>
                  </a:cubicBezTo>
                  <a:cubicBezTo>
                    <a:pt x="2" y="28"/>
                    <a:pt x="3" y="28"/>
                    <a:pt x="4"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7" name="Freeform 245"/>
            <p:cNvSpPr>
              <a:spLocks noEditPoints="1"/>
            </p:cNvSpPr>
            <p:nvPr/>
          </p:nvSpPr>
          <p:spPr bwMode="auto">
            <a:xfrm>
              <a:off x="7058307" y="1859447"/>
              <a:ext cx="394679" cy="348055"/>
            </a:xfrm>
            <a:custGeom>
              <a:avLst/>
              <a:gdLst>
                <a:gd name="T0" fmla="*/ 145 w 154"/>
                <a:gd name="T1" fmla="*/ 125 h 136"/>
                <a:gd name="T2" fmla="*/ 144 w 154"/>
                <a:gd name="T3" fmla="*/ 125 h 136"/>
                <a:gd name="T4" fmla="*/ 144 w 154"/>
                <a:gd name="T5" fmla="*/ 127 h 136"/>
                <a:gd name="T6" fmla="*/ 10 w 154"/>
                <a:gd name="T7" fmla="*/ 127 h 136"/>
                <a:gd name="T8" fmla="*/ 10 w 154"/>
                <a:gd name="T9" fmla="*/ 34 h 136"/>
                <a:gd name="T10" fmla="*/ 144 w 154"/>
                <a:gd name="T11" fmla="*/ 34 h 136"/>
                <a:gd name="T12" fmla="*/ 144 w 154"/>
                <a:gd name="T13" fmla="*/ 43 h 136"/>
                <a:gd name="T14" fmla="*/ 145 w 154"/>
                <a:gd name="T15" fmla="*/ 43 h 136"/>
                <a:gd name="T16" fmla="*/ 154 w 154"/>
                <a:gd name="T17" fmla="*/ 44 h 136"/>
                <a:gd name="T18" fmla="*/ 154 w 154"/>
                <a:gd name="T19" fmla="*/ 5 h 136"/>
                <a:gd name="T20" fmla="*/ 149 w 154"/>
                <a:gd name="T21" fmla="*/ 0 h 136"/>
                <a:gd name="T22" fmla="*/ 5 w 154"/>
                <a:gd name="T23" fmla="*/ 0 h 136"/>
                <a:gd name="T24" fmla="*/ 0 w 154"/>
                <a:gd name="T25" fmla="*/ 5 h 136"/>
                <a:gd name="T26" fmla="*/ 0 w 154"/>
                <a:gd name="T27" fmla="*/ 132 h 136"/>
                <a:gd name="T28" fmla="*/ 5 w 154"/>
                <a:gd name="T29" fmla="*/ 136 h 136"/>
                <a:gd name="T30" fmla="*/ 149 w 154"/>
                <a:gd name="T31" fmla="*/ 136 h 136"/>
                <a:gd name="T32" fmla="*/ 154 w 154"/>
                <a:gd name="T33" fmla="*/ 132 h 136"/>
                <a:gd name="T34" fmla="*/ 154 w 154"/>
                <a:gd name="T35" fmla="*/ 124 h 136"/>
                <a:gd name="T36" fmla="*/ 145 w 154"/>
                <a:gd name="T37" fmla="*/ 125 h 136"/>
                <a:gd name="T38" fmla="*/ 137 w 154"/>
                <a:gd name="T39" fmla="*/ 10 h 136"/>
                <a:gd name="T40" fmla="*/ 144 w 154"/>
                <a:gd name="T41" fmla="*/ 17 h 136"/>
                <a:gd name="T42" fmla="*/ 137 w 154"/>
                <a:gd name="T43" fmla="*/ 23 h 136"/>
                <a:gd name="T44" fmla="*/ 131 w 154"/>
                <a:gd name="T45" fmla="*/ 17 h 136"/>
                <a:gd name="T46" fmla="*/ 137 w 154"/>
                <a:gd name="T47" fmla="*/ 10 h 136"/>
                <a:gd name="T48" fmla="*/ 118 w 154"/>
                <a:gd name="T49" fmla="*/ 10 h 136"/>
                <a:gd name="T50" fmla="*/ 125 w 154"/>
                <a:gd name="T51" fmla="*/ 17 h 136"/>
                <a:gd name="T52" fmla="*/ 118 w 154"/>
                <a:gd name="T53" fmla="*/ 23 h 136"/>
                <a:gd name="T54" fmla="*/ 112 w 154"/>
                <a:gd name="T55" fmla="*/ 17 h 136"/>
                <a:gd name="T56" fmla="*/ 118 w 154"/>
                <a:gd name="T57" fmla="*/ 10 h 136"/>
                <a:gd name="T58" fmla="*/ 99 w 154"/>
                <a:gd name="T59" fmla="*/ 10 h 136"/>
                <a:gd name="T60" fmla="*/ 106 w 154"/>
                <a:gd name="T61" fmla="*/ 17 h 136"/>
                <a:gd name="T62" fmla="*/ 99 w 154"/>
                <a:gd name="T63" fmla="*/ 23 h 136"/>
                <a:gd name="T64" fmla="*/ 93 w 154"/>
                <a:gd name="T65" fmla="*/ 17 h 136"/>
                <a:gd name="T66" fmla="*/ 99 w 154"/>
                <a:gd name="T67" fmla="*/ 1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4" h="136">
                  <a:moveTo>
                    <a:pt x="145" y="125"/>
                  </a:moveTo>
                  <a:cubicBezTo>
                    <a:pt x="144" y="125"/>
                    <a:pt x="144" y="125"/>
                    <a:pt x="144" y="125"/>
                  </a:cubicBezTo>
                  <a:cubicBezTo>
                    <a:pt x="144" y="127"/>
                    <a:pt x="144" y="127"/>
                    <a:pt x="144" y="127"/>
                  </a:cubicBezTo>
                  <a:cubicBezTo>
                    <a:pt x="10" y="127"/>
                    <a:pt x="10" y="127"/>
                    <a:pt x="10" y="127"/>
                  </a:cubicBezTo>
                  <a:cubicBezTo>
                    <a:pt x="10" y="34"/>
                    <a:pt x="10" y="34"/>
                    <a:pt x="10" y="34"/>
                  </a:cubicBezTo>
                  <a:cubicBezTo>
                    <a:pt x="144" y="34"/>
                    <a:pt x="144" y="34"/>
                    <a:pt x="144" y="34"/>
                  </a:cubicBezTo>
                  <a:cubicBezTo>
                    <a:pt x="144" y="43"/>
                    <a:pt x="144" y="43"/>
                    <a:pt x="144" y="43"/>
                  </a:cubicBezTo>
                  <a:cubicBezTo>
                    <a:pt x="144" y="43"/>
                    <a:pt x="144" y="43"/>
                    <a:pt x="145" y="43"/>
                  </a:cubicBezTo>
                  <a:cubicBezTo>
                    <a:pt x="148" y="43"/>
                    <a:pt x="151" y="43"/>
                    <a:pt x="154" y="44"/>
                  </a:cubicBezTo>
                  <a:cubicBezTo>
                    <a:pt x="154" y="5"/>
                    <a:pt x="154" y="5"/>
                    <a:pt x="154" y="5"/>
                  </a:cubicBezTo>
                  <a:cubicBezTo>
                    <a:pt x="154" y="2"/>
                    <a:pt x="152" y="0"/>
                    <a:pt x="149" y="0"/>
                  </a:cubicBezTo>
                  <a:cubicBezTo>
                    <a:pt x="5" y="0"/>
                    <a:pt x="5" y="0"/>
                    <a:pt x="5" y="0"/>
                  </a:cubicBezTo>
                  <a:cubicBezTo>
                    <a:pt x="2" y="0"/>
                    <a:pt x="0" y="2"/>
                    <a:pt x="0" y="5"/>
                  </a:cubicBezTo>
                  <a:cubicBezTo>
                    <a:pt x="0" y="132"/>
                    <a:pt x="0" y="132"/>
                    <a:pt x="0" y="132"/>
                  </a:cubicBezTo>
                  <a:cubicBezTo>
                    <a:pt x="0" y="134"/>
                    <a:pt x="2" y="136"/>
                    <a:pt x="5" y="136"/>
                  </a:cubicBezTo>
                  <a:cubicBezTo>
                    <a:pt x="149" y="136"/>
                    <a:pt x="149" y="136"/>
                    <a:pt x="149" y="136"/>
                  </a:cubicBezTo>
                  <a:cubicBezTo>
                    <a:pt x="152" y="136"/>
                    <a:pt x="154" y="134"/>
                    <a:pt x="154" y="132"/>
                  </a:cubicBezTo>
                  <a:cubicBezTo>
                    <a:pt x="154" y="124"/>
                    <a:pt x="154" y="124"/>
                    <a:pt x="154" y="124"/>
                  </a:cubicBezTo>
                  <a:cubicBezTo>
                    <a:pt x="151" y="124"/>
                    <a:pt x="148" y="125"/>
                    <a:pt x="145" y="125"/>
                  </a:cubicBezTo>
                  <a:close/>
                  <a:moveTo>
                    <a:pt x="137" y="10"/>
                  </a:moveTo>
                  <a:cubicBezTo>
                    <a:pt x="141" y="10"/>
                    <a:pt x="144" y="13"/>
                    <a:pt x="144" y="17"/>
                  </a:cubicBezTo>
                  <a:cubicBezTo>
                    <a:pt x="144" y="20"/>
                    <a:pt x="141" y="23"/>
                    <a:pt x="137" y="23"/>
                  </a:cubicBezTo>
                  <a:cubicBezTo>
                    <a:pt x="134" y="23"/>
                    <a:pt x="131" y="20"/>
                    <a:pt x="131" y="17"/>
                  </a:cubicBezTo>
                  <a:cubicBezTo>
                    <a:pt x="131" y="13"/>
                    <a:pt x="134" y="10"/>
                    <a:pt x="137" y="10"/>
                  </a:cubicBezTo>
                  <a:close/>
                  <a:moveTo>
                    <a:pt x="118" y="10"/>
                  </a:moveTo>
                  <a:cubicBezTo>
                    <a:pt x="122" y="10"/>
                    <a:pt x="125" y="13"/>
                    <a:pt x="125" y="17"/>
                  </a:cubicBezTo>
                  <a:cubicBezTo>
                    <a:pt x="125" y="20"/>
                    <a:pt x="122" y="23"/>
                    <a:pt x="118" y="23"/>
                  </a:cubicBezTo>
                  <a:cubicBezTo>
                    <a:pt x="115" y="23"/>
                    <a:pt x="112" y="20"/>
                    <a:pt x="112" y="17"/>
                  </a:cubicBezTo>
                  <a:cubicBezTo>
                    <a:pt x="112" y="13"/>
                    <a:pt x="115" y="10"/>
                    <a:pt x="118" y="10"/>
                  </a:cubicBezTo>
                  <a:close/>
                  <a:moveTo>
                    <a:pt x="99" y="10"/>
                  </a:moveTo>
                  <a:cubicBezTo>
                    <a:pt x="103" y="10"/>
                    <a:pt x="106" y="13"/>
                    <a:pt x="106" y="17"/>
                  </a:cubicBezTo>
                  <a:cubicBezTo>
                    <a:pt x="106" y="20"/>
                    <a:pt x="103" y="23"/>
                    <a:pt x="99" y="23"/>
                  </a:cubicBezTo>
                  <a:cubicBezTo>
                    <a:pt x="96" y="23"/>
                    <a:pt x="93" y="20"/>
                    <a:pt x="93" y="17"/>
                  </a:cubicBezTo>
                  <a:cubicBezTo>
                    <a:pt x="93" y="13"/>
                    <a:pt x="96" y="10"/>
                    <a:pt x="9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28" name="Freeform 246"/>
            <p:cNvSpPr>
              <a:spLocks noEditPoints="1"/>
            </p:cNvSpPr>
            <p:nvPr/>
          </p:nvSpPr>
          <p:spPr bwMode="auto">
            <a:xfrm>
              <a:off x="7335884" y="1979802"/>
              <a:ext cx="258060" cy="210351"/>
            </a:xfrm>
            <a:custGeom>
              <a:avLst/>
              <a:gdLst>
                <a:gd name="T0" fmla="*/ 96 w 101"/>
                <a:gd name="T1" fmla="*/ 68 h 82"/>
                <a:gd name="T2" fmla="*/ 77 w 101"/>
                <a:gd name="T3" fmla="*/ 55 h 82"/>
                <a:gd name="T4" fmla="*/ 71 w 101"/>
                <a:gd name="T5" fmla="*/ 54 h 82"/>
                <a:gd name="T6" fmla="*/ 69 w 101"/>
                <a:gd name="T7" fmla="*/ 55 h 82"/>
                <a:gd name="T8" fmla="*/ 66 w 101"/>
                <a:gd name="T9" fmla="*/ 53 h 82"/>
                <a:gd name="T10" fmla="*/ 69 w 101"/>
                <a:gd name="T11" fmla="*/ 29 h 82"/>
                <a:gd name="T12" fmla="*/ 29 w 101"/>
                <a:gd name="T13" fmla="*/ 4 h 82"/>
                <a:gd name="T14" fmla="*/ 4 w 101"/>
                <a:gd name="T15" fmla="*/ 45 h 82"/>
                <a:gd name="T16" fmla="*/ 45 w 101"/>
                <a:gd name="T17" fmla="*/ 70 h 82"/>
                <a:gd name="T18" fmla="*/ 62 w 101"/>
                <a:gd name="T19" fmla="*/ 59 h 82"/>
                <a:gd name="T20" fmla="*/ 66 w 101"/>
                <a:gd name="T21" fmla="*/ 61 h 82"/>
                <a:gd name="T22" fmla="*/ 69 w 101"/>
                <a:gd name="T23" fmla="*/ 68 h 82"/>
                <a:gd name="T24" fmla="*/ 88 w 101"/>
                <a:gd name="T25" fmla="*/ 80 h 82"/>
                <a:gd name="T26" fmla="*/ 94 w 101"/>
                <a:gd name="T27" fmla="*/ 81 h 82"/>
                <a:gd name="T28" fmla="*/ 99 w 101"/>
                <a:gd name="T29" fmla="*/ 78 h 82"/>
                <a:gd name="T30" fmla="*/ 96 w 101"/>
                <a:gd name="T31" fmla="*/ 68 h 82"/>
                <a:gd name="T32" fmla="*/ 42 w 101"/>
                <a:gd name="T33" fmla="*/ 58 h 82"/>
                <a:gd name="T34" fmla="*/ 16 w 101"/>
                <a:gd name="T35" fmla="*/ 42 h 82"/>
                <a:gd name="T36" fmla="*/ 32 w 101"/>
                <a:gd name="T37" fmla="*/ 16 h 82"/>
                <a:gd name="T38" fmla="*/ 58 w 101"/>
                <a:gd name="T39" fmla="*/ 32 h 82"/>
                <a:gd name="T40" fmla="*/ 42 w 101"/>
                <a:gd name="T41" fmla="*/ 5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 h="82">
                  <a:moveTo>
                    <a:pt x="96" y="68"/>
                  </a:moveTo>
                  <a:cubicBezTo>
                    <a:pt x="77" y="55"/>
                    <a:pt x="77" y="55"/>
                    <a:pt x="77" y="55"/>
                  </a:cubicBezTo>
                  <a:cubicBezTo>
                    <a:pt x="75" y="54"/>
                    <a:pt x="73" y="54"/>
                    <a:pt x="71" y="54"/>
                  </a:cubicBezTo>
                  <a:cubicBezTo>
                    <a:pt x="71" y="54"/>
                    <a:pt x="70" y="55"/>
                    <a:pt x="69" y="55"/>
                  </a:cubicBezTo>
                  <a:cubicBezTo>
                    <a:pt x="66" y="53"/>
                    <a:pt x="66" y="53"/>
                    <a:pt x="66" y="53"/>
                  </a:cubicBezTo>
                  <a:cubicBezTo>
                    <a:pt x="70" y="46"/>
                    <a:pt x="71" y="37"/>
                    <a:pt x="69" y="29"/>
                  </a:cubicBezTo>
                  <a:cubicBezTo>
                    <a:pt x="65" y="11"/>
                    <a:pt x="47" y="0"/>
                    <a:pt x="29" y="4"/>
                  </a:cubicBezTo>
                  <a:cubicBezTo>
                    <a:pt x="11" y="9"/>
                    <a:pt x="0" y="27"/>
                    <a:pt x="4" y="45"/>
                  </a:cubicBezTo>
                  <a:cubicBezTo>
                    <a:pt x="8" y="63"/>
                    <a:pt x="27" y="74"/>
                    <a:pt x="45" y="70"/>
                  </a:cubicBezTo>
                  <a:cubicBezTo>
                    <a:pt x="52" y="68"/>
                    <a:pt x="58" y="64"/>
                    <a:pt x="62" y="59"/>
                  </a:cubicBezTo>
                  <a:cubicBezTo>
                    <a:pt x="66" y="61"/>
                    <a:pt x="66" y="61"/>
                    <a:pt x="66" y="61"/>
                  </a:cubicBezTo>
                  <a:cubicBezTo>
                    <a:pt x="65" y="63"/>
                    <a:pt x="67" y="66"/>
                    <a:pt x="69" y="68"/>
                  </a:cubicBezTo>
                  <a:cubicBezTo>
                    <a:pt x="88" y="80"/>
                    <a:pt x="88" y="80"/>
                    <a:pt x="88" y="80"/>
                  </a:cubicBezTo>
                  <a:cubicBezTo>
                    <a:pt x="90" y="81"/>
                    <a:pt x="92" y="82"/>
                    <a:pt x="94" y="81"/>
                  </a:cubicBezTo>
                  <a:cubicBezTo>
                    <a:pt x="96" y="81"/>
                    <a:pt x="98" y="80"/>
                    <a:pt x="99" y="78"/>
                  </a:cubicBezTo>
                  <a:cubicBezTo>
                    <a:pt x="101" y="75"/>
                    <a:pt x="100" y="70"/>
                    <a:pt x="96" y="68"/>
                  </a:cubicBezTo>
                  <a:close/>
                  <a:moveTo>
                    <a:pt x="42" y="58"/>
                  </a:moveTo>
                  <a:cubicBezTo>
                    <a:pt x="30" y="61"/>
                    <a:pt x="19" y="54"/>
                    <a:pt x="16" y="42"/>
                  </a:cubicBezTo>
                  <a:cubicBezTo>
                    <a:pt x="13" y="30"/>
                    <a:pt x="20" y="19"/>
                    <a:pt x="32" y="16"/>
                  </a:cubicBezTo>
                  <a:cubicBezTo>
                    <a:pt x="43" y="13"/>
                    <a:pt x="55" y="20"/>
                    <a:pt x="58" y="32"/>
                  </a:cubicBezTo>
                  <a:cubicBezTo>
                    <a:pt x="60" y="43"/>
                    <a:pt x="53" y="55"/>
                    <a:pt x="42"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grpSp>
      <p:grpSp>
        <p:nvGrpSpPr>
          <p:cNvPr id="29" name="组合 28"/>
          <p:cNvGrpSpPr/>
          <p:nvPr/>
        </p:nvGrpSpPr>
        <p:grpSpPr>
          <a:xfrm>
            <a:off x="5153660" y="4571619"/>
            <a:ext cx="492125" cy="362585"/>
            <a:chOff x="5958843" y="1820413"/>
            <a:chExt cx="535637" cy="394680"/>
          </a:xfrm>
          <a:solidFill>
            <a:schemeClr val="bg1"/>
          </a:solidFill>
        </p:grpSpPr>
        <p:sp>
          <p:nvSpPr>
            <p:cNvPr id="30" name="Freeform 248"/>
            <p:cNvSpPr/>
            <p:nvPr/>
          </p:nvSpPr>
          <p:spPr bwMode="auto">
            <a:xfrm>
              <a:off x="5958843" y="1820413"/>
              <a:ext cx="376247" cy="358898"/>
            </a:xfrm>
            <a:custGeom>
              <a:avLst/>
              <a:gdLst>
                <a:gd name="T0" fmla="*/ 61 w 147"/>
                <a:gd name="T1" fmla="*/ 105 h 140"/>
                <a:gd name="T2" fmla="*/ 54 w 147"/>
                <a:gd name="T3" fmla="*/ 103 h 140"/>
                <a:gd name="T4" fmla="*/ 53 w 147"/>
                <a:gd name="T5" fmla="*/ 103 h 140"/>
                <a:gd name="T6" fmla="*/ 52 w 147"/>
                <a:gd name="T7" fmla="*/ 103 h 140"/>
                <a:gd name="T8" fmla="*/ 33 w 147"/>
                <a:gd name="T9" fmla="*/ 111 h 140"/>
                <a:gd name="T10" fmla="*/ 38 w 147"/>
                <a:gd name="T11" fmla="*/ 97 h 140"/>
                <a:gd name="T12" fmla="*/ 34 w 147"/>
                <a:gd name="T13" fmla="*/ 94 h 140"/>
                <a:gd name="T14" fmla="*/ 13 w 147"/>
                <a:gd name="T15" fmla="*/ 60 h 140"/>
                <a:gd name="T16" fmla="*/ 79 w 147"/>
                <a:gd name="T17" fmla="*/ 13 h 140"/>
                <a:gd name="T18" fmla="*/ 128 w 147"/>
                <a:gd name="T19" fmla="*/ 29 h 140"/>
                <a:gd name="T20" fmla="*/ 137 w 147"/>
                <a:gd name="T21" fmla="*/ 29 h 140"/>
                <a:gd name="T22" fmla="*/ 147 w 147"/>
                <a:gd name="T23" fmla="*/ 29 h 140"/>
                <a:gd name="T24" fmla="*/ 79 w 147"/>
                <a:gd name="T25" fmla="*/ 0 h 140"/>
                <a:gd name="T26" fmla="*/ 0 w 147"/>
                <a:gd name="T27" fmla="*/ 60 h 140"/>
                <a:gd name="T28" fmla="*/ 22 w 147"/>
                <a:gd name="T29" fmla="*/ 102 h 140"/>
                <a:gd name="T30" fmla="*/ 9 w 147"/>
                <a:gd name="T31" fmla="*/ 140 h 140"/>
                <a:gd name="T32" fmla="*/ 24 w 147"/>
                <a:gd name="T33" fmla="*/ 131 h 140"/>
                <a:gd name="T34" fmla="*/ 51 w 147"/>
                <a:gd name="T35" fmla="*/ 117 h 140"/>
                <a:gd name="T36" fmla="*/ 70 w 147"/>
                <a:gd name="T37" fmla="*/ 120 h 140"/>
                <a:gd name="T38" fmla="*/ 61 w 147"/>
                <a:gd name="T39" fmla="*/ 10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40">
                  <a:moveTo>
                    <a:pt x="61" y="105"/>
                  </a:moveTo>
                  <a:cubicBezTo>
                    <a:pt x="59" y="105"/>
                    <a:pt x="56" y="104"/>
                    <a:pt x="54" y="103"/>
                  </a:cubicBezTo>
                  <a:cubicBezTo>
                    <a:pt x="53" y="103"/>
                    <a:pt x="53" y="103"/>
                    <a:pt x="53" y="103"/>
                  </a:cubicBezTo>
                  <a:cubicBezTo>
                    <a:pt x="52" y="103"/>
                    <a:pt x="52" y="103"/>
                    <a:pt x="52" y="103"/>
                  </a:cubicBezTo>
                  <a:cubicBezTo>
                    <a:pt x="50" y="103"/>
                    <a:pt x="48" y="103"/>
                    <a:pt x="33" y="111"/>
                  </a:cubicBezTo>
                  <a:cubicBezTo>
                    <a:pt x="38" y="97"/>
                    <a:pt x="38" y="97"/>
                    <a:pt x="38" y="97"/>
                  </a:cubicBezTo>
                  <a:cubicBezTo>
                    <a:pt x="34" y="94"/>
                    <a:pt x="34" y="94"/>
                    <a:pt x="34" y="94"/>
                  </a:cubicBezTo>
                  <a:cubicBezTo>
                    <a:pt x="21" y="85"/>
                    <a:pt x="13" y="73"/>
                    <a:pt x="13" y="60"/>
                  </a:cubicBezTo>
                  <a:cubicBezTo>
                    <a:pt x="13" y="34"/>
                    <a:pt x="43" y="13"/>
                    <a:pt x="79" y="13"/>
                  </a:cubicBezTo>
                  <a:cubicBezTo>
                    <a:pt x="99" y="13"/>
                    <a:pt x="116" y="19"/>
                    <a:pt x="128" y="29"/>
                  </a:cubicBezTo>
                  <a:cubicBezTo>
                    <a:pt x="131" y="29"/>
                    <a:pt x="134" y="29"/>
                    <a:pt x="137" y="29"/>
                  </a:cubicBezTo>
                  <a:cubicBezTo>
                    <a:pt x="140" y="29"/>
                    <a:pt x="143" y="29"/>
                    <a:pt x="147" y="29"/>
                  </a:cubicBezTo>
                  <a:cubicBezTo>
                    <a:pt x="133" y="12"/>
                    <a:pt x="108" y="0"/>
                    <a:pt x="79" y="0"/>
                  </a:cubicBezTo>
                  <a:cubicBezTo>
                    <a:pt x="35" y="0"/>
                    <a:pt x="0" y="27"/>
                    <a:pt x="0" y="60"/>
                  </a:cubicBezTo>
                  <a:cubicBezTo>
                    <a:pt x="0" y="76"/>
                    <a:pt x="8" y="91"/>
                    <a:pt x="22" y="102"/>
                  </a:cubicBezTo>
                  <a:cubicBezTo>
                    <a:pt x="9" y="140"/>
                    <a:pt x="9" y="140"/>
                    <a:pt x="9" y="140"/>
                  </a:cubicBezTo>
                  <a:cubicBezTo>
                    <a:pt x="24" y="131"/>
                    <a:pt x="24" y="131"/>
                    <a:pt x="24" y="131"/>
                  </a:cubicBezTo>
                  <a:cubicBezTo>
                    <a:pt x="35" y="125"/>
                    <a:pt x="47" y="118"/>
                    <a:pt x="51" y="117"/>
                  </a:cubicBezTo>
                  <a:cubicBezTo>
                    <a:pt x="57" y="118"/>
                    <a:pt x="63" y="119"/>
                    <a:pt x="70" y="120"/>
                  </a:cubicBezTo>
                  <a:cubicBezTo>
                    <a:pt x="66" y="115"/>
                    <a:pt x="63" y="110"/>
                    <a:pt x="61"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sp>
          <p:nvSpPr>
            <p:cNvPr id="31" name="Freeform 249"/>
            <p:cNvSpPr>
              <a:spLocks noEditPoints="1"/>
            </p:cNvSpPr>
            <p:nvPr/>
          </p:nvSpPr>
          <p:spPr bwMode="auto">
            <a:xfrm>
              <a:off x="6125823" y="1912577"/>
              <a:ext cx="368657" cy="302516"/>
            </a:xfrm>
            <a:custGeom>
              <a:avLst/>
              <a:gdLst>
                <a:gd name="T0" fmla="*/ 144 w 144"/>
                <a:gd name="T1" fmla="*/ 53 h 118"/>
                <a:gd name="T2" fmla="*/ 72 w 144"/>
                <a:gd name="T3" fmla="*/ 0 h 118"/>
                <a:gd name="T4" fmla="*/ 0 w 144"/>
                <a:gd name="T5" fmla="*/ 53 h 118"/>
                <a:gd name="T6" fmla="*/ 72 w 144"/>
                <a:gd name="T7" fmla="*/ 107 h 118"/>
                <a:gd name="T8" fmla="*/ 99 w 144"/>
                <a:gd name="T9" fmla="*/ 103 h 118"/>
                <a:gd name="T10" fmla="*/ 130 w 144"/>
                <a:gd name="T11" fmla="*/ 118 h 118"/>
                <a:gd name="T12" fmla="*/ 121 w 144"/>
                <a:gd name="T13" fmla="*/ 93 h 118"/>
                <a:gd name="T14" fmla="*/ 144 w 144"/>
                <a:gd name="T15" fmla="*/ 53 h 118"/>
                <a:gd name="T16" fmla="*/ 44 w 144"/>
                <a:gd name="T17" fmla="*/ 61 h 118"/>
                <a:gd name="T18" fmla="*/ 38 w 144"/>
                <a:gd name="T19" fmla="*/ 57 h 118"/>
                <a:gd name="T20" fmla="*/ 31 w 144"/>
                <a:gd name="T21" fmla="*/ 61 h 118"/>
                <a:gd name="T22" fmla="*/ 33 w 144"/>
                <a:gd name="T23" fmla="*/ 53 h 118"/>
                <a:gd name="T24" fmla="*/ 27 w 144"/>
                <a:gd name="T25" fmla="*/ 48 h 118"/>
                <a:gd name="T26" fmla="*/ 35 w 144"/>
                <a:gd name="T27" fmla="*/ 47 h 118"/>
                <a:gd name="T28" fmla="*/ 38 w 144"/>
                <a:gd name="T29" fmla="*/ 41 h 118"/>
                <a:gd name="T30" fmla="*/ 41 w 144"/>
                <a:gd name="T31" fmla="*/ 47 h 118"/>
                <a:gd name="T32" fmla="*/ 48 w 144"/>
                <a:gd name="T33" fmla="*/ 48 h 118"/>
                <a:gd name="T34" fmla="*/ 43 w 144"/>
                <a:gd name="T35" fmla="*/ 53 h 118"/>
                <a:gd name="T36" fmla="*/ 44 w 144"/>
                <a:gd name="T37" fmla="*/ 61 h 118"/>
                <a:gd name="T38" fmla="*/ 82 w 144"/>
                <a:gd name="T39" fmla="*/ 64 h 118"/>
                <a:gd name="T40" fmla="*/ 72 w 144"/>
                <a:gd name="T41" fmla="*/ 58 h 118"/>
                <a:gd name="T42" fmla="*/ 62 w 144"/>
                <a:gd name="T43" fmla="*/ 64 h 118"/>
                <a:gd name="T44" fmla="*/ 64 w 144"/>
                <a:gd name="T45" fmla="*/ 52 h 118"/>
                <a:gd name="T46" fmla="*/ 56 w 144"/>
                <a:gd name="T47" fmla="*/ 44 h 118"/>
                <a:gd name="T48" fmla="*/ 67 w 144"/>
                <a:gd name="T49" fmla="*/ 43 h 118"/>
                <a:gd name="T50" fmla="*/ 72 w 144"/>
                <a:gd name="T51" fmla="*/ 33 h 118"/>
                <a:gd name="T52" fmla="*/ 77 w 144"/>
                <a:gd name="T53" fmla="*/ 43 h 118"/>
                <a:gd name="T54" fmla="*/ 88 w 144"/>
                <a:gd name="T55" fmla="*/ 44 h 118"/>
                <a:gd name="T56" fmla="*/ 80 w 144"/>
                <a:gd name="T57" fmla="*/ 52 h 118"/>
                <a:gd name="T58" fmla="*/ 82 w 144"/>
                <a:gd name="T59" fmla="*/ 64 h 118"/>
                <a:gd name="T60" fmla="*/ 112 w 144"/>
                <a:gd name="T61" fmla="*/ 61 h 118"/>
                <a:gd name="T62" fmla="*/ 106 w 144"/>
                <a:gd name="T63" fmla="*/ 57 h 118"/>
                <a:gd name="T64" fmla="*/ 99 w 144"/>
                <a:gd name="T65" fmla="*/ 61 h 118"/>
                <a:gd name="T66" fmla="*/ 101 w 144"/>
                <a:gd name="T67" fmla="*/ 53 h 118"/>
                <a:gd name="T68" fmla="*/ 95 w 144"/>
                <a:gd name="T69" fmla="*/ 48 h 118"/>
                <a:gd name="T70" fmla="*/ 103 w 144"/>
                <a:gd name="T71" fmla="*/ 47 h 118"/>
                <a:gd name="T72" fmla="*/ 106 w 144"/>
                <a:gd name="T73" fmla="*/ 41 h 118"/>
                <a:gd name="T74" fmla="*/ 109 w 144"/>
                <a:gd name="T75" fmla="*/ 47 h 118"/>
                <a:gd name="T76" fmla="*/ 116 w 144"/>
                <a:gd name="T77" fmla="*/ 48 h 118"/>
                <a:gd name="T78" fmla="*/ 111 w 144"/>
                <a:gd name="T79" fmla="*/ 53 h 118"/>
                <a:gd name="T80" fmla="*/ 112 w 144"/>
                <a:gd name="T81" fmla="*/ 6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4" h="118">
                  <a:moveTo>
                    <a:pt x="144" y="53"/>
                  </a:moveTo>
                  <a:cubicBezTo>
                    <a:pt x="144" y="24"/>
                    <a:pt x="112" y="0"/>
                    <a:pt x="72" y="0"/>
                  </a:cubicBezTo>
                  <a:cubicBezTo>
                    <a:pt x="32" y="0"/>
                    <a:pt x="0" y="24"/>
                    <a:pt x="0" y="53"/>
                  </a:cubicBezTo>
                  <a:cubicBezTo>
                    <a:pt x="0" y="83"/>
                    <a:pt x="32" y="107"/>
                    <a:pt x="72" y="107"/>
                  </a:cubicBezTo>
                  <a:cubicBezTo>
                    <a:pt x="82" y="107"/>
                    <a:pt x="91" y="105"/>
                    <a:pt x="99" y="103"/>
                  </a:cubicBezTo>
                  <a:cubicBezTo>
                    <a:pt x="102" y="102"/>
                    <a:pt x="130" y="118"/>
                    <a:pt x="130" y="118"/>
                  </a:cubicBezTo>
                  <a:cubicBezTo>
                    <a:pt x="121" y="93"/>
                    <a:pt x="121" y="93"/>
                    <a:pt x="121" y="93"/>
                  </a:cubicBezTo>
                  <a:cubicBezTo>
                    <a:pt x="135" y="83"/>
                    <a:pt x="144" y="69"/>
                    <a:pt x="144" y="53"/>
                  </a:cubicBezTo>
                  <a:close/>
                  <a:moveTo>
                    <a:pt x="44" y="61"/>
                  </a:moveTo>
                  <a:cubicBezTo>
                    <a:pt x="38" y="57"/>
                    <a:pt x="38" y="57"/>
                    <a:pt x="38" y="57"/>
                  </a:cubicBezTo>
                  <a:cubicBezTo>
                    <a:pt x="31" y="61"/>
                    <a:pt x="31" y="61"/>
                    <a:pt x="31" y="61"/>
                  </a:cubicBezTo>
                  <a:cubicBezTo>
                    <a:pt x="33" y="53"/>
                    <a:pt x="33" y="53"/>
                    <a:pt x="33" y="53"/>
                  </a:cubicBezTo>
                  <a:cubicBezTo>
                    <a:pt x="27" y="48"/>
                    <a:pt x="27" y="48"/>
                    <a:pt x="27" y="48"/>
                  </a:cubicBezTo>
                  <a:cubicBezTo>
                    <a:pt x="35" y="47"/>
                    <a:pt x="35" y="47"/>
                    <a:pt x="35" y="47"/>
                  </a:cubicBezTo>
                  <a:cubicBezTo>
                    <a:pt x="38" y="41"/>
                    <a:pt x="38" y="41"/>
                    <a:pt x="38" y="41"/>
                  </a:cubicBezTo>
                  <a:cubicBezTo>
                    <a:pt x="41" y="47"/>
                    <a:pt x="41" y="47"/>
                    <a:pt x="41" y="47"/>
                  </a:cubicBezTo>
                  <a:cubicBezTo>
                    <a:pt x="48" y="48"/>
                    <a:pt x="48" y="48"/>
                    <a:pt x="48" y="48"/>
                  </a:cubicBezTo>
                  <a:cubicBezTo>
                    <a:pt x="43" y="53"/>
                    <a:pt x="43" y="53"/>
                    <a:pt x="43" y="53"/>
                  </a:cubicBezTo>
                  <a:lnTo>
                    <a:pt x="44" y="61"/>
                  </a:lnTo>
                  <a:close/>
                  <a:moveTo>
                    <a:pt x="82" y="64"/>
                  </a:moveTo>
                  <a:cubicBezTo>
                    <a:pt x="72" y="58"/>
                    <a:pt x="72" y="58"/>
                    <a:pt x="72" y="58"/>
                  </a:cubicBezTo>
                  <a:cubicBezTo>
                    <a:pt x="62" y="64"/>
                    <a:pt x="62" y="64"/>
                    <a:pt x="62" y="64"/>
                  </a:cubicBezTo>
                  <a:cubicBezTo>
                    <a:pt x="64" y="52"/>
                    <a:pt x="64" y="52"/>
                    <a:pt x="64" y="52"/>
                  </a:cubicBezTo>
                  <a:cubicBezTo>
                    <a:pt x="56" y="44"/>
                    <a:pt x="56" y="44"/>
                    <a:pt x="56" y="44"/>
                  </a:cubicBezTo>
                  <a:cubicBezTo>
                    <a:pt x="67" y="43"/>
                    <a:pt x="67" y="43"/>
                    <a:pt x="67" y="43"/>
                  </a:cubicBezTo>
                  <a:cubicBezTo>
                    <a:pt x="72" y="33"/>
                    <a:pt x="72" y="33"/>
                    <a:pt x="72" y="33"/>
                  </a:cubicBezTo>
                  <a:cubicBezTo>
                    <a:pt x="77" y="43"/>
                    <a:pt x="77" y="43"/>
                    <a:pt x="77" y="43"/>
                  </a:cubicBezTo>
                  <a:cubicBezTo>
                    <a:pt x="88" y="44"/>
                    <a:pt x="88" y="44"/>
                    <a:pt x="88" y="44"/>
                  </a:cubicBezTo>
                  <a:cubicBezTo>
                    <a:pt x="80" y="52"/>
                    <a:pt x="80" y="52"/>
                    <a:pt x="80" y="52"/>
                  </a:cubicBezTo>
                  <a:lnTo>
                    <a:pt x="82" y="64"/>
                  </a:lnTo>
                  <a:close/>
                  <a:moveTo>
                    <a:pt x="112" y="61"/>
                  </a:moveTo>
                  <a:cubicBezTo>
                    <a:pt x="106" y="57"/>
                    <a:pt x="106" y="57"/>
                    <a:pt x="106" y="57"/>
                  </a:cubicBezTo>
                  <a:cubicBezTo>
                    <a:pt x="99" y="61"/>
                    <a:pt x="99" y="61"/>
                    <a:pt x="99" y="61"/>
                  </a:cubicBezTo>
                  <a:cubicBezTo>
                    <a:pt x="101" y="53"/>
                    <a:pt x="101" y="53"/>
                    <a:pt x="101" y="53"/>
                  </a:cubicBezTo>
                  <a:cubicBezTo>
                    <a:pt x="95" y="48"/>
                    <a:pt x="95" y="48"/>
                    <a:pt x="95" y="48"/>
                  </a:cubicBezTo>
                  <a:cubicBezTo>
                    <a:pt x="103" y="47"/>
                    <a:pt x="103" y="47"/>
                    <a:pt x="103" y="47"/>
                  </a:cubicBezTo>
                  <a:cubicBezTo>
                    <a:pt x="106" y="41"/>
                    <a:pt x="106" y="41"/>
                    <a:pt x="106" y="41"/>
                  </a:cubicBezTo>
                  <a:cubicBezTo>
                    <a:pt x="109" y="47"/>
                    <a:pt x="109" y="47"/>
                    <a:pt x="109" y="47"/>
                  </a:cubicBezTo>
                  <a:cubicBezTo>
                    <a:pt x="116" y="48"/>
                    <a:pt x="116" y="48"/>
                    <a:pt x="116" y="48"/>
                  </a:cubicBezTo>
                  <a:cubicBezTo>
                    <a:pt x="111" y="53"/>
                    <a:pt x="111" y="53"/>
                    <a:pt x="111" y="53"/>
                  </a:cubicBezTo>
                  <a:lnTo>
                    <a:pt x="112" y="6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5024" tIns="32512" rIns="65024" bIns="32512" numCol="1" anchor="t" anchorCtr="0" compatLnSpc="1"/>
            <a:lstStyle/>
            <a:p>
              <a:endParaRPr lang="zh-CN" altLang="en-US" sz="1280">
                <a:solidFill>
                  <a:srgbClr val="000000"/>
                </a:solidFill>
              </a:endParaRPr>
            </a:p>
          </p:txBody>
        </p:sp>
      </p:grpSp>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05942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投资文化：</a:t>
            </a:r>
            <a:r>
              <a:rPr lang="zh-CN" altLang="en-US" sz="2200" b="1" dirty="0">
                <a:latin typeface="微软雅黑" panose="020B0503020204020204" pitchFamily="34" charset="-122"/>
                <a:ea typeface="微软雅黑" panose="020B0503020204020204" pitchFamily="34" charset="-122"/>
                <a:sym typeface="+mn-ea"/>
              </a:rPr>
              <a:t>建立以分享协作作为核心的投研机制</a:t>
            </a:r>
          </a:p>
        </p:txBody>
      </p:sp>
      <p:pic>
        <p:nvPicPr>
          <p:cNvPr id="45" name="图片 11" descr="007"/>
          <p:cNvPicPr>
            <a:picLocks noChangeAspect="1" noChangeArrowheads="1"/>
          </p:cNvPicPr>
          <p:nvPr/>
        </p:nvPicPr>
        <p:blipFill>
          <a:blip r:embed="rId50"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图片 45" descr="六边形"/>
          <p:cNvPicPr>
            <a:picLocks noChangeAspect="1"/>
          </p:cNvPicPr>
          <p:nvPr>
            <p:custDataLst>
              <p:tags r:id="rId1"/>
            </p:custDataLst>
          </p:nvPr>
        </p:nvPicPr>
        <p:blipFill>
          <a:blip r:embed="rId51"/>
          <a:stretch>
            <a:fillRect/>
          </a:stretch>
        </p:blipFill>
        <p:spPr>
          <a:xfrm>
            <a:off x="1299845" y="1349375"/>
            <a:ext cx="1757680" cy="1880870"/>
          </a:xfrm>
          <a:prstGeom prst="rect">
            <a:avLst/>
          </a:prstGeom>
        </p:spPr>
      </p:pic>
      <p:pic>
        <p:nvPicPr>
          <p:cNvPr id="48" name="图片 47" descr="六边形"/>
          <p:cNvPicPr>
            <a:picLocks noChangeAspect="1"/>
          </p:cNvPicPr>
          <p:nvPr>
            <p:custDataLst>
              <p:tags r:id="rId2"/>
            </p:custDataLst>
          </p:nvPr>
        </p:nvPicPr>
        <p:blipFill>
          <a:blip r:embed="rId51"/>
          <a:stretch>
            <a:fillRect/>
          </a:stretch>
        </p:blipFill>
        <p:spPr>
          <a:xfrm>
            <a:off x="2941320" y="1349375"/>
            <a:ext cx="1757680" cy="1880870"/>
          </a:xfrm>
          <a:prstGeom prst="rect">
            <a:avLst/>
          </a:prstGeom>
        </p:spPr>
      </p:pic>
      <p:pic>
        <p:nvPicPr>
          <p:cNvPr id="51" name="图片 50" descr="六边形"/>
          <p:cNvPicPr>
            <a:picLocks noChangeAspect="1"/>
          </p:cNvPicPr>
          <p:nvPr>
            <p:custDataLst>
              <p:tags r:id="rId3"/>
            </p:custDataLst>
          </p:nvPr>
        </p:nvPicPr>
        <p:blipFill>
          <a:blip r:embed="rId51"/>
          <a:stretch>
            <a:fillRect/>
          </a:stretch>
        </p:blipFill>
        <p:spPr>
          <a:xfrm>
            <a:off x="3730625" y="2755265"/>
            <a:ext cx="1757680" cy="1880870"/>
          </a:xfrm>
          <a:prstGeom prst="rect">
            <a:avLst/>
          </a:prstGeom>
        </p:spPr>
      </p:pic>
      <p:pic>
        <p:nvPicPr>
          <p:cNvPr id="52" name="图片 51" descr="六边形"/>
          <p:cNvPicPr>
            <a:picLocks noChangeAspect="1"/>
          </p:cNvPicPr>
          <p:nvPr>
            <p:custDataLst>
              <p:tags r:id="rId4"/>
            </p:custDataLst>
          </p:nvPr>
        </p:nvPicPr>
        <p:blipFill>
          <a:blip r:embed="rId51">
            <a:alphaModFix amt="19000"/>
          </a:blip>
          <a:stretch>
            <a:fillRect/>
          </a:stretch>
        </p:blipFill>
        <p:spPr>
          <a:xfrm>
            <a:off x="2105025" y="2755265"/>
            <a:ext cx="1757680" cy="1880870"/>
          </a:xfrm>
          <a:prstGeom prst="rect">
            <a:avLst/>
          </a:prstGeom>
        </p:spPr>
      </p:pic>
      <p:pic>
        <p:nvPicPr>
          <p:cNvPr id="53" name="图片 52" descr="六边形"/>
          <p:cNvPicPr>
            <a:picLocks noChangeAspect="1"/>
          </p:cNvPicPr>
          <p:nvPr>
            <p:custDataLst>
              <p:tags r:id="rId5"/>
            </p:custDataLst>
          </p:nvPr>
        </p:nvPicPr>
        <p:blipFill>
          <a:blip r:embed="rId51"/>
          <a:stretch>
            <a:fillRect/>
          </a:stretch>
        </p:blipFill>
        <p:spPr>
          <a:xfrm>
            <a:off x="479425" y="2755265"/>
            <a:ext cx="1757680" cy="1880870"/>
          </a:xfrm>
          <a:prstGeom prst="rect">
            <a:avLst/>
          </a:prstGeom>
        </p:spPr>
      </p:pic>
      <p:sp>
        <p:nvSpPr>
          <p:cNvPr id="54" name="文本框 53"/>
          <p:cNvSpPr txBox="1"/>
          <p:nvPr>
            <p:custDataLst>
              <p:tags r:id="rId6"/>
            </p:custDataLst>
          </p:nvPr>
        </p:nvSpPr>
        <p:spPr>
          <a:xfrm>
            <a:off x="1503045" y="2313940"/>
            <a:ext cx="1356360" cy="368300"/>
          </a:xfrm>
          <a:prstGeom prst="rect">
            <a:avLst/>
          </a:prstGeom>
          <a:noFill/>
        </p:spPr>
        <p:txBody>
          <a:bodyPr wrap="square" rtlCol="0">
            <a:spAutoFit/>
          </a:bodyPr>
          <a:lstStyle/>
          <a:p>
            <a:pPr algn="ctr"/>
            <a:r>
              <a:rPr lang="zh-CN" altLang="en-US" b="1">
                <a:solidFill>
                  <a:schemeClr val="bg1"/>
                </a:solidFill>
              </a:rPr>
              <a:t>定期分享</a:t>
            </a:r>
          </a:p>
        </p:txBody>
      </p:sp>
      <p:sp>
        <p:nvSpPr>
          <p:cNvPr id="56" name="文本框 55"/>
          <p:cNvSpPr txBox="1"/>
          <p:nvPr>
            <p:custDataLst>
              <p:tags r:id="rId7"/>
            </p:custDataLst>
          </p:nvPr>
        </p:nvSpPr>
        <p:spPr>
          <a:xfrm>
            <a:off x="3133725" y="2313940"/>
            <a:ext cx="1356360" cy="368300"/>
          </a:xfrm>
          <a:prstGeom prst="rect">
            <a:avLst/>
          </a:prstGeom>
          <a:noFill/>
        </p:spPr>
        <p:txBody>
          <a:bodyPr wrap="square" rtlCol="0">
            <a:spAutoFit/>
          </a:bodyPr>
          <a:lstStyle/>
          <a:p>
            <a:pPr algn="ctr"/>
            <a:r>
              <a:rPr lang="zh-CN" altLang="en-US" b="1">
                <a:solidFill>
                  <a:schemeClr val="bg1"/>
                </a:solidFill>
              </a:rPr>
              <a:t>专家引领</a:t>
            </a:r>
          </a:p>
        </p:txBody>
      </p:sp>
      <p:sp>
        <p:nvSpPr>
          <p:cNvPr id="57" name="文本框 56"/>
          <p:cNvSpPr txBox="1"/>
          <p:nvPr>
            <p:custDataLst>
              <p:tags r:id="rId8"/>
            </p:custDataLst>
          </p:nvPr>
        </p:nvSpPr>
        <p:spPr>
          <a:xfrm>
            <a:off x="3923030" y="3729355"/>
            <a:ext cx="1356360" cy="368300"/>
          </a:xfrm>
          <a:prstGeom prst="rect">
            <a:avLst/>
          </a:prstGeom>
          <a:noFill/>
        </p:spPr>
        <p:txBody>
          <a:bodyPr wrap="square" rtlCol="0">
            <a:spAutoFit/>
          </a:bodyPr>
          <a:lstStyle/>
          <a:p>
            <a:pPr algn="ctr"/>
            <a:r>
              <a:rPr lang="zh-CN" altLang="en-US" b="1">
                <a:solidFill>
                  <a:schemeClr val="bg1"/>
                </a:solidFill>
              </a:rPr>
              <a:t>战略研究</a:t>
            </a:r>
          </a:p>
        </p:txBody>
      </p:sp>
      <p:sp>
        <p:nvSpPr>
          <p:cNvPr id="58" name="文本框 57"/>
          <p:cNvSpPr txBox="1"/>
          <p:nvPr>
            <p:custDataLst>
              <p:tags r:id="rId9"/>
            </p:custDataLst>
          </p:nvPr>
        </p:nvSpPr>
        <p:spPr>
          <a:xfrm>
            <a:off x="3141980" y="5144770"/>
            <a:ext cx="1356360" cy="368300"/>
          </a:xfrm>
          <a:prstGeom prst="rect">
            <a:avLst/>
          </a:prstGeom>
          <a:noFill/>
        </p:spPr>
        <p:txBody>
          <a:bodyPr wrap="square" rtlCol="0">
            <a:spAutoFit/>
          </a:bodyPr>
          <a:lstStyle/>
          <a:p>
            <a:pPr algn="ctr"/>
            <a:r>
              <a:rPr lang="zh-CN" altLang="en-US" b="1">
                <a:solidFill>
                  <a:schemeClr val="bg1"/>
                </a:solidFill>
              </a:rPr>
              <a:t>人才选拔</a:t>
            </a:r>
          </a:p>
        </p:txBody>
      </p:sp>
      <p:sp>
        <p:nvSpPr>
          <p:cNvPr id="59" name="文本框 58"/>
          <p:cNvSpPr txBox="1"/>
          <p:nvPr>
            <p:custDataLst>
              <p:tags r:id="rId10"/>
            </p:custDataLst>
          </p:nvPr>
        </p:nvSpPr>
        <p:spPr>
          <a:xfrm>
            <a:off x="1503045" y="5144770"/>
            <a:ext cx="1356360" cy="368300"/>
          </a:xfrm>
          <a:prstGeom prst="rect">
            <a:avLst/>
          </a:prstGeom>
          <a:noFill/>
        </p:spPr>
        <p:txBody>
          <a:bodyPr wrap="square" rtlCol="0">
            <a:spAutoFit/>
          </a:bodyPr>
          <a:lstStyle/>
          <a:p>
            <a:pPr algn="ctr"/>
            <a:r>
              <a:rPr lang="zh-CN" altLang="en-US" b="1">
                <a:solidFill>
                  <a:schemeClr val="bg1"/>
                </a:solidFill>
              </a:rPr>
              <a:t>小组研究</a:t>
            </a:r>
          </a:p>
        </p:txBody>
      </p:sp>
      <p:sp>
        <p:nvSpPr>
          <p:cNvPr id="60" name="文本框 59"/>
          <p:cNvSpPr txBox="1"/>
          <p:nvPr>
            <p:custDataLst>
              <p:tags r:id="rId11"/>
            </p:custDataLst>
          </p:nvPr>
        </p:nvSpPr>
        <p:spPr>
          <a:xfrm>
            <a:off x="688340" y="3729355"/>
            <a:ext cx="1356360" cy="368300"/>
          </a:xfrm>
          <a:prstGeom prst="rect">
            <a:avLst/>
          </a:prstGeom>
          <a:noFill/>
        </p:spPr>
        <p:txBody>
          <a:bodyPr wrap="square" rtlCol="0">
            <a:spAutoFit/>
          </a:bodyPr>
          <a:lstStyle/>
          <a:p>
            <a:pPr algn="ctr"/>
            <a:r>
              <a:rPr lang="zh-CN" altLang="en-US" b="1">
                <a:solidFill>
                  <a:schemeClr val="bg1"/>
                </a:solidFill>
              </a:rPr>
              <a:t>投研举手</a:t>
            </a:r>
          </a:p>
        </p:txBody>
      </p:sp>
      <p:pic>
        <p:nvPicPr>
          <p:cNvPr id="61" name="图片 60" descr="1"/>
          <p:cNvPicPr>
            <a:picLocks noChangeAspect="1"/>
          </p:cNvPicPr>
          <p:nvPr>
            <p:custDataLst>
              <p:tags r:id="rId12"/>
            </p:custDataLst>
          </p:nvPr>
        </p:nvPicPr>
        <p:blipFill>
          <a:blip r:embed="rId52"/>
          <a:stretch>
            <a:fillRect/>
          </a:stretch>
        </p:blipFill>
        <p:spPr>
          <a:xfrm>
            <a:off x="1953260" y="1796415"/>
            <a:ext cx="450215" cy="450215"/>
          </a:xfrm>
          <a:prstGeom prst="rect">
            <a:avLst/>
          </a:prstGeom>
        </p:spPr>
      </p:pic>
      <p:pic>
        <p:nvPicPr>
          <p:cNvPr id="62" name="图片 61" descr="2"/>
          <p:cNvPicPr>
            <a:picLocks noChangeAspect="1"/>
          </p:cNvPicPr>
          <p:nvPr>
            <p:custDataLst>
              <p:tags r:id="rId13"/>
            </p:custDataLst>
          </p:nvPr>
        </p:nvPicPr>
        <p:blipFill>
          <a:blip r:embed="rId53"/>
          <a:stretch>
            <a:fillRect/>
          </a:stretch>
        </p:blipFill>
        <p:spPr>
          <a:xfrm>
            <a:off x="3597275" y="1804670"/>
            <a:ext cx="441960" cy="441960"/>
          </a:xfrm>
          <a:prstGeom prst="rect">
            <a:avLst/>
          </a:prstGeom>
        </p:spPr>
      </p:pic>
      <p:pic>
        <p:nvPicPr>
          <p:cNvPr id="63" name="图片 62" descr="3"/>
          <p:cNvPicPr>
            <a:picLocks noChangeAspect="1"/>
          </p:cNvPicPr>
          <p:nvPr>
            <p:custDataLst>
              <p:tags r:id="rId14"/>
            </p:custDataLst>
          </p:nvPr>
        </p:nvPicPr>
        <p:blipFill>
          <a:blip r:embed="rId54"/>
          <a:stretch>
            <a:fillRect/>
          </a:stretch>
        </p:blipFill>
        <p:spPr>
          <a:xfrm>
            <a:off x="4378960" y="3195320"/>
            <a:ext cx="461645" cy="461645"/>
          </a:xfrm>
          <a:prstGeom prst="rect">
            <a:avLst/>
          </a:prstGeom>
        </p:spPr>
      </p:pic>
      <p:pic>
        <p:nvPicPr>
          <p:cNvPr id="64" name="图片 63" descr="4"/>
          <p:cNvPicPr>
            <a:picLocks noChangeAspect="1"/>
          </p:cNvPicPr>
          <p:nvPr>
            <p:custDataLst>
              <p:tags r:id="rId15"/>
            </p:custDataLst>
          </p:nvPr>
        </p:nvPicPr>
        <p:blipFill>
          <a:blip r:embed="rId55"/>
          <a:stretch>
            <a:fillRect/>
          </a:stretch>
        </p:blipFill>
        <p:spPr>
          <a:xfrm>
            <a:off x="3580765" y="4613275"/>
            <a:ext cx="499110" cy="499110"/>
          </a:xfrm>
          <a:prstGeom prst="rect">
            <a:avLst/>
          </a:prstGeom>
        </p:spPr>
      </p:pic>
      <p:pic>
        <p:nvPicPr>
          <p:cNvPr id="65" name="图片 64" descr="5"/>
          <p:cNvPicPr>
            <a:picLocks noChangeAspect="1"/>
          </p:cNvPicPr>
          <p:nvPr>
            <p:custDataLst>
              <p:tags r:id="rId16"/>
            </p:custDataLst>
          </p:nvPr>
        </p:nvPicPr>
        <p:blipFill>
          <a:blip r:embed="rId56"/>
          <a:stretch>
            <a:fillRect/>
          </a:stretch>
        </p:blipFill>
        <p:spPr>
          <a:xfrm>
            <a:off x="1933575" y="4596765"/>
            <a:ext cx="469900" cy="469900"/>
          </a:xfrm>
          <a:prstGeom prst="rect">
            <a:avLst/>
          </a:prstGeom>
        </p:spPr>
      </p:pic>
      <p:pic>
        <p:nvPicPr>
          <p:cNvPr id="66" name="图片 65" descr="6"/>
          <p:cNvPicPr>
            <a:picLocks noChangeAspect="1"/>
          </p:cNvPicPr>
          <p:nvPr>
            <p:custDataLst>
              <p:tags r:id="rId17"/>
            </p:custDataLst>
          </p:nvPr>
        </p:nvPicPr>
        <p:blipFill>
          <a:blip r:embed="rId57"/>
          <a:stretch>
            <a:fillRect/>
          </a:stretch>
        </p:blipFill>
        <p:spPr>
          <a:xfrm>
            <a:off x="1095375" y="3114675"/>
            <a:ext cx="542290" cy="542290"/>
          </a:xfrm>
          <a:prstGeom prst="rect">
            <a:avLst/>
          </a:prstGeom>
        </p:spPr>
      </p:pic>
      <p:grpSp>
        <p:nvGrpSpPr>
          <p:cNvPr id="67" name="图形 3"/>
          <p:cNvGrpSpPr/>
          <p:nvPr>
            <p:custDataLst>
              <p:tags r:id="rId18"/>
            </p:custDataLst>
          </p:nvPr>
        </p:nvGrpSpPr>
        <p:grpSpPr>
          <a:xfrm>
            <a:off x="6603415" y="1389430"/>
            <a:ext cx="5250815" cy="747395"/>
            <a:chOff x="730300" y="1687880"/>
            <a:chExt cx="5250815" cy="747395"/>
          </a:xfrm>
        </p:grpSpPr>
        <p:grpSp>
          <p:nvGrpSpPr>
            <p:cNvPr id="68" name="图形 3"/>
            <p:cNvGrpSpPr/>
            <p:nvPr/>
          </p:nvGrpSpPr>
          <p:grpSpPr>
            <a:xfrm>
              <a:off x="819150" y="1687880"/>
              <a:ext cx="1116330" cy="350520"/>
              <a:chOff x="819150" y="1687880"/>
              <a:chExt cx="1116330" cy="350520"/>
            </a:xfrm>
          </p:grpSpPr>
          <p:sp>
            <p:nvSpPr>
              <p:cNvPr id="70" name="任意多边形: 形状 18"/>
              <p:cNvSpPr/>
              <p:nvPr>
                <p:custDataLst>
                  <p:tags r:id="rId46"/>
                </p:custDataLst>
              </p:nvPr>
            </p:nvSpPr>
            <p:spPr>
              <a:xfrm>
                <a:off x="819150" y="1687880"/>
                <a:ext cx="1116330" cy="350520"/>
              </a:xfrm>
              <a:custGeom>
                <a:avLst/>
                <a:gdLst>
                  <a:gd name="connsiteX0" fmla="*/ -4210 w 1151700"/>
                  <a:gd name="connsiteY0" fmla="*/ -1652 h 330200"/>
                  <a:gd name="connsiteX1" fmla="*/ 1071290 w 1151700"/>
                  <a:gd name="connsiteY1" fmla="*/ -1652 h 330200"/>
                  <a:gd name="connsiteX2" fmla="*/ 1147490 w 1151700"/>
                  <a:gd name="connsiteY2" fmla="*/ 72961 h 330200"/>
                  <a:gd name="connsiteX3" fmla="*/ 1147490 w 1151700"/>
                  <a:gd name="connsiteY3" fmla="*/ 328548 h 330200"/>
                  <a:gd name="connsiteX4" fmla="*/ -4210 w 1151700"/>
                  <a:gd name="connsiteY4" fmla="*/ 328548 h 330200"/>
                  <a:gd name="connsiteX5" fmla="*/ -4210 w 1151700"/>
                  <a:gd name="connsiteY5" fmla="*/ -1652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700" h="330200">
                    <a:moveTo>
                      <a:pt x="-4210" y="-1652"/>
                    </a:moveTo>
                    <a:lnTo>
                      <a:pt x="1071290" y="-1652"/>
                    </a:lnTo>
                    <a:lnTo>
                      <a:pt x="1147490" y="72961"/>
                    </a:lnTo>
                    <a:lnTo>
                      <a:pt x="1147490" y="328548"/>
                    </a:lnTo>
                    <a:lnTo>
                      <a:pt x="-4210" y="328548"/>
                    </a:lnTo>
                    <a:lnTo>
                      <a:pt x="-4210" y="-1652"/>
                    </a:lnTo>
                    <a:close/>
                  </a:path>
                </a:pathLst>
              </a:custGeom>
              <a:solidFill>
                <a:srgbClr val="D51008"/>
              </a:solidFill>
              <a:ln w="6350" cap="flat">
                <a:noFill/>
                <a:prstDash val="solid"/>
                <a:miter/>
              </a:ln>
            </p:spPr>
            <p:txBody>
              <a:bodyPr rtlCol="0" anchor="ctr"/>
              <a:lstStyle/>
              <a:p>
                <a:endParaRPr lang="zh-CN" altLang="en-US">
                  <a:solidFill>
                    <a:srgbClr val="D12920"/>
                  </a:solidFill>
                </a:endParaRPr>
              </a:p>
            </p:txBody>
          </p:sp>
          <p:sp>
            <p:nvSpPr>
              <p:cNvPr id="71" name="文本框 70"/>
              <p:cNvSpPr txBox="1"/>
              <p:nvPr>
                <p:custDataLst>
                  <p:tags r:id="rId47"/>
                </p:custDataLst>
              </p:nvPr>
            </p:nvSpPr>
            <p:spPr>
              <a:xfrm>
                <a:off x="876369" y="1694230"/>
                <a:ext cx="995680" cy="337185"/>
              </a:xfrm>
              <a:prstGeom prst="rect">
                <a:avLst/>
              </a:prstGeom>
              <a:noFill/>
            </p:spPr>
            <p:txBody>
              <a:bodyPr wrap="none" rtlCol="0">
                <a:spAutoFit/>
              </a:bodyPr>
              <a:lstStyle/>
              <a:p>
                <a:pPr lvl="0" algn="l">
                  <a:buClrTx/>
                  <a:buSzTx/>
                  <a:buFontTx/>
                </a:pPr>
                <a:r>
                  <a:rPr kumimoji="1" lang="zh-CN" altLang="en-US" sz="1600" b="1" dirty="0">
                    <a:solidFill>
                      <a:schemeClr val="bg1"/>
                    </a:solidFill>
                    <a:latin typeface="微软雅黑" panose="020B0503020204020204" pitchFamily="34" charset="-122"/>
                    <a:ea typeface="微软雅黑" panose="020B0503020204020204" pitchFamily="34" charset="-122"/>
                    <a:sym typeface="+mn-ea"/>
                  </a:rPr>
                  <a:t>日常协调</a:t>
                </a:r>
              </a:p>
            </p:txBody>
          </p:sp>
        </p:grpSp>
        <p:sp>
          <p:nvSpPr>
            <p:cNvPr id="69" name="文本框 68"/>
            <p:cNvSpPr txBox="1"/>
            <p:nvPr>
              <p:custDataLst>
                <p:tags r:id="rId45"/>
              </p:custDataLst>
            </p:nvPr>
          </p:nvSpPr>
          <p:spPr>
            <a:xfrm>
              <a:off x="730300" y="2128570"/>
              <a:ext cx="5250815" cy="306705"/>
            </a:xfrm>
            <a:prstGeom prst="rect">
              <a:avLst/>
            </a:prstGeom>
            <a:noFill/>
          </p:spPr>
          <p:txBody>
            <a:bodyPr wrap="square" rtlCol="0">
              <a:spAutoFit/>
            </a:bodyPr>
            <a:lstStyle/>
            <a:p>
              <a:pPr marL="285750" indent="-285750">
                <a:buClr>
                  <a:srgbClr val="C00000"/>
                </a:buClr>
                <a:buFont typeface="Wingdings" panose="05000000000000000000" pitchFamily="2" charset="2"/>
                <a:buChar char="p"/>
              </a:pPr>
              <a:r>
                <a:rPr kumimoji="1" lang="zh-CN" altLang="en-US" sz="1400" dirty="0">
                  <a:latin typeface="微软雅黑" panose="020B0503020204020204" pitchFamily="34" charset="-122"/>
                  <a:ea typeface="微软雅黑" panose="020B0503020204020204" pitchFamily="34" charset="-122"/>
                  <a:sym typeface="+mn-ea"/>
                </a:rPr>
                <a:t>晨会、即时沟通、</a:t>
              </a:r>
              <a:r>
                <a:rPr kumimoji="1" lang="en-US" altLang="zh-CN" sz="1400" dirty="0">
                  <a:latin typeface="微软雅黑" panose="020B0503020204020204" pitchFamily="34" charset="-122"/>
                  <a:ea typeface="微软雅黑" panose="020B0503020204020204" pitchFamily="34" charset="-122"/>
                  <a:sym typeface="+mn-ea"/>
                </a:rPr>
                <a:t>AI</a:t>
              </a:r>
              <a:r>
                <a:rPr kumimoji="1" lang="zh-CN" altLang="en-US" sz="1400" dirty="0">
                  <a:latin typeface="微软雅黑" panose="020B0503020204020204" pitchFamily="34" charset="-122"/>
                  <a:ea typeface="微软雅黑" panose="020B0503020204020204" pitchFamily="34" charset="-122"/>
                  <a:sym typeface="+mn-ea"/>
                </a:rPr>
                <a:t>赋能市场信息发现和挖掘</a:t>
              </a:r>
              <a:endParaRPr lang="zh-CN" altLang="en-US" sz="1400" spc="0" baseline="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p:txBody>
        </p:sp>
      </p:grpSp>
      <p:grpSp>
        <p:nvGrpSpPr>
          <p:cNvPr id="72" name="图形 3"/>
          <p:cNvGrpSpPr/>
          <p:nvPr>
            <p:custDataLst>
              <p:tags r:id="rId19"/>
            </p:custDataLst>
          </p:nvPr>
        </p:nvGrpSpPr>
        <p:grpSpPr>
          <a:xfrm>
            <a:off x="6603415" y="2411780"/>
            <a:ext cx="5250815" cy="747395"/>
            <a:chOff x="730300" y="1687880"/>
            <a:chExt cx="5250815" cy="747395"/>
          </a:xfrm>
        </p:grpSpPr>
        <p:grpSp>
          <p:nvGrpSpPr>
            <p:cNvPr id="73" name="图形 3"/>
            <p:cNvGrpSpPr/>
            <p:nvPr/>
          </p:nvGrpSpPr>
          <p:grpSpPr>
            <a:xfrm>
              <a:off x="819150" y="1687880"/>
              <a:ext cx="1116330" cy="350520"/>
              <a:chOff x="819150" y="1687880"/>
              <a:chExt cx="1116330" cy="350520"/>
            </a:xfrm>
          </p:grpSpPr>
          <p:sp>
            <p:nvSpPr>
              <p:cNvPr id="75" name="任意多边形: 形状 18"/>
              <p:cNvSpPr/>
              <p:nvPr>
                <p:custDataLst>
                  <p:tags r:id="rId43"/>
                </p:custDataLst>
              </p:nvPr>
            </p:nvSpPr>
            <p:spPr>
              <a:xfrm>
                <a:off x="819150" y="1687880"/>
                <a:ext cx="1116330" cy="350520"/>
              </a:xfrm>
              <a:custGeom>
                <a:avLst/>
                <a:gdLst>
                  <a:gd name="connsiteX0" fmla="*/ -4210 w 1151700"/>
                  <a:gd name="connsiteY0" fmla="*/ -1652 h 330200"/>
                  <a:gd name="connsiteX1" fmla="*/ 1071290 w 1151700"/>
                  <a:gd name="connsiteY1" fmla="*/ -1652 h 330200"/>
                  <a:gd name="connsiteX2" fmla="*/ 1147490 w 1151700"/>
                  <a:gd name="connsiteY2" fmla="*/ 72961 h 330200"/>
                  <a:gd name="connsiteX3" fmla="*/ 1147490 w 1151700"/>
                  <a:gd name="connsiteY3" fmla="*/ 328548 h 330200"/>
                  <a:gd name="connsiteX4" fmla="*/ -4210 w 1151700"/>
                  <a:gd name="connsiteY4" fmla="*/ 328548 h 330200"/>
                  <a:gd name="connsiteX5" fmla="*/ -4210 w 1151700"/>
                  <a:gd name="connsiteY5" fmla="*/ -1652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700" h="330200">
                    <a:moveTo>
                      <a:pt x="-4210" y="-1652"/>
                    </a:moveTo>
                    <a:lnTo>
                      <a:pt x="1071290" y="-1652"/>
                    </a:lnTo>
                    <a:lnTo>
                      <a:pt x="1147490" y="72961"/>
                    </a:lnTo>
                    <a:lnTo>
                      <a:pt x="1147490" y="328548"/>
                    </a:lnTo>
                    <a:lnTo>
                      <a:pt x="-4210" y="328548"/>
                    </a:lnTo>
                    <a:lnTo>
                      <a:pt x="-4210" y="-1652"/>
                    </a:lnTo>
                    <a:close/>
                  </a:path>
                </a:pathLst>
              </a:custGeom>
              <a:solidFill>
                <a:srgbClr val="D51008"/>
              </a:solidFill>
              <a:ln w="6350" cap="flat">
                <a:noFill/>
                <a:prstDash val="solid"/>
                <a:miter/>
              </a:ln>
            </p:spPr>
            <p:txBody>
              <a:bodyPr rtlCol="0" anchor="ctr"/>
              <a:lstStyle/>
              <a:p>
                <a:endParaRPr lang="zh-CN" altLang="en-US"/>
              </a:p>
            </p:txBody>
          </p:sp>
          <p:sp>
            <p:nvSpPr>
              <p:cNvPr id="76" name="文本框 75"/>
              <p:cNvSpPr txBox="1"/>
              <p:nvPr>
                <p:custDataLst>
                  <p:tags r:id="rId44"/>
                </p:custDataLst>
              </p:nvPr>
            </p:nvSpPr>
            <p:spPr>
              <a:xfrm>
                <a:off x="876369" y="1694230"/>
                <a:ext cx="995680" cy="337185"/>
              </a:xfrm>
              <a:prstGeom prst="rect">
                <a:avLst/>
              </a:prstGeom>
              <a:noFill/>
            </p:spPr>
            <p:txBody>
              <a:bodyPr wrap="none" rtlCol="0">
                <a:spAutoFit/>
              </a:bodyPr>
              <a:lstStyle/>
              <a:p>
                <a:pPr lvl="0" algn="l">
                  <a:buClrTx/>
                  <a:buSzTx/>
                  <a:buFontTx/>
                </a:pPr>
                <a:r>
                  <a:rPr kumimoji="1" lang="zh-CN" altLang="en-US" sz="1600" b="1" dirty="0">
                    <a:solidFill>
                      <a:schemeClr val="bg1"/>
                    </a:solidFill>
                    <a:latin typeface="微软雅黑" panose="020B0503020204020204" pitchFamily="34" charset="-122"/>
                    <a:ea typeface="微软雅黑" panose="020B0503020204020204" pitchFamily="34" charset="-122"/>
                    <a:sym typeface="+mn-ea"/>
                  </a:rPr>
                  <a:t>月度总结</a:t>
                </a:r>
              </a:p>
            </p:txBody>
          </p:sp>
        </p:grpSp>
        <p:sp>
          <p:nvSpPr>
            <p:cNvPr id="74" name="文本框 73"/>
            <p:cNvSpPr txBox="1"/>
            <p:nvPr>
              <p:custDataLst>
                <p:tags r:id="rId42"/>
              </p:custDataLst>
            </p:nvPr>
          </p:nvSpPr>
          <p:spPr>
            <a:xfrm>
              <a:off x="730300" y="2128570"/>
              <a:ext cx="5250815" cy="306705"/>
            </a:xfrm>
            <a:prstGeom prst="rect">
              <a:avLst/>
            </a:prstGeom>
            <a:noFill/>
          </p:spPr>
          <p:txBody>
            <a:bodyPr wrap="square" rtlCol="0">
              <a:spAutoFit/>
            </a:bodyPr>
            <a:lstStyle/>
            <a:p>
              <a:pPr marL="285750" indent="-285750">
                <a:buClr>
                  <a:srgbClr val="C00000"/>
                </a:buClr>
                <a:buFont typeface="Wingdings" panose="05000000000000000000" pitchFamily="2" charset="2"/>
                <a:buChar char="p"/>
              </a:pPr>
              <a:r>
                <a:rPr kumimoji="1" lang="en-US" altLang="zh-CN" sz="1400" dirty="0">
                  <a:latin typeface="微软雅黑" panose="020B0503020204020204" pitchFamily="34" charset="-122"/>
                  <a:ea typeface="微软雅黑" panose="020B0503020204020204" pitchFamily="34" charset="-122"/>
                  <a:sym typeface="+mn-ea"/>
                </a:rPr>
                <a:t>FOF</a:t>
              </a:r>
              <a:r>
                <a:rPr kumimoji="1" lang="zh-CN" altLang="en-US" sz="1400" dirty="0">
                  <a:latin typeface="微软雅黑" panose="020B0503020204020204" pitchFamily="34" charset="-122"/>
                  <a:ea typeface="微软雅黑" panose="020B0503020204020204" pitchFamily="34" charset="-122"/>
                  <a:sym typeface="+mn-ea"/>
                </a:rPr>
                <a:t>投委会月度会议：业绩归因、策略调整、组合调整</a:t>
              </a:r>
              <a:endParaRPr lang="zh-CN" altLang="en-US" sz="1400" spc="0" baseline="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p:txBody>
        </p:sp>
      </p:grpSp>
      <p:grpSp>
        <p:nvGrpSpPr>
          <p:cNvPr id="77" name="图形 3"/>
          <p:cNvGrpSpPr/>
          <p:nvPr>
            <p:custDataLst>
              <p:tags r:id="rId20"/>
            </p:custDataLst>
          </p:nvPr>
        </p:nvGrpSpPr>
        <p:grpSpPr>
          <a:xfrm>
            <a:off x="6603415" y="3378885"/>
            <a:ext cx="5250815" cy="699770"/>
            <a:chOff x="730300" y="1687880"/>
            <a:chExt cx="5250815" cy="699770"/>
          </a:xfrm>
        </p:grpSpPr>
        <p:grpSp>
          <p:nvGrpSpPr>
            <p:cNvPr id="78" name="图形 3"/>
            <p:cNvGrpSpPr/>
            <p:nvPr/>
          </p:nvGrpSpPr>
          <p:grpSpPr>
            <a:xfrm>
              <a:off x="819150" y="1687880"/>
              <a:ext cx="1116330" cy="350520"/>
              <a:chOff x="819150" y="1687880"/>
              <a:chExt cx="1116330" cy="350520"/>
            </a:xfrm>
          </p:grpSpPr>
          <p:sp>
            <p:nvSpPr>
              <p:cNvPr id="80" name="任意多边形: 形状 18"/>
              <p:cNvSpPr/>
              <p:nvPr>
                <p:custDataLst>
                  <p:tags r:id="rId40"/>
                </p:custDataLst>
              </p:nvPr>
            </p:nvSpPr>
            <p:spPr>
              <a:xfrm>
                <a:off x="819150" y="1687880"/>
                <a:ext cx="1116330" cy="350520"/>
              </a:xfrm>
              <a:custGeom>
                <a:avLst/>
                <a:gdLst>
                  <a:gd name="connsiteX0" fmla="*/ -4210 w 1151700"/>
                  <a:gd name="connsiteY0" fmla="*/ -1652 h 330200"/>
                  <a:gd name="connsiteX1" fmla="*/ 1071290 w 1151700"/>
                  <a:gd name="connsiteY1" fmla="*/ -1652 h 330200"/>
                  <a:gd name="connsiteX2" fmla="*/ 1147490 w 1151700"/>
                  <a:gd name="connsiteY2" fmla="*/ 72961 h 330200"/>
                  <a:gd name="connsiteX3" fmla="*/ 1147490 w 1151700"/>
                  <a:gd name="connsiteY3" fmla="*/ 328548 h 330200"/>
                  <a:gd name="connsiteX4" fmla="*/ -4210 w 1151700"/>
                  <a:gd name="connsiteY4" fmla="*/ 328548 h 330200"/>
                  <a:gd name="connsiteX5" fmla="*/ -4210 w 1151700"/>
                  <a:gd name="connsiteY5" fmla="*/ -1652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700" h="330200">
                    <a:moveTo>
                      <a:pt x="-4210" y="-1652"/>
                    </a:moveTo>
                    <a:lnTo>
                      <a:pt x="1071290" y="-1652"/>
                    </a:lnTo>
                    <a:lnTo>
                      <a:pt x="1147490" y="72961"/>
                    </a:lnTo>
                    <a:lnTo>
                      <a:pt x="1147490" y="328548"/>
                    </a:lnTo>
                    <a:lnTo>
                      <a:pt x="-4210" y="328548"/>
                    </a:lnTo>
                    <a:lnTo>
                      <a:pt x="-4210" y="-1652"/>
                    </a:lnTo>
                    <a:close/>
                  </a:path>
                </a:pathLst>
              </a:custGeom>
              <a:solidFill>
                <a:srgbClr val="D51008"/>
              </a:solidFill>
              <a:ln w="6350" cap="flat">
                <a:noFill/>
                <a:prstDash val="solid"/>
                <a:miter/>
              </a:ln>
            </p:spPr>
            <p:txBody>
              <a:bodyPr rtlCol="0" anchor="ctr"/>
              <a:lstStyle/>
              <a:p>
                <a:endParaRPr lang="zh-CN" altLang="en-US"/>
              </a:p>
            </p:txBody>
          </p:sp>
          <p:sp>
            <p:nvSpPr>
              <p:cNvPr id="81" name="文本框 80"/>
              <p:cNvSpPr txBox="1"/>
              <p:nvPr>
                <p:custDataLst>
                  <p:tags r:id="rId41"/>
                </p:custDataLst>
              </p:nvPr>
            </p:nvSpPr>
            <p:spPr>
              <a:xfrm>
                <a:off x="876369" y="1694230"/>
                <a:ext cx="995680" cy="337185"/>
              </a:xfrm>
              <a:prstGeom prst="rect">
                <a:avLst/>
              </a:prstGeom>
              <a:noFill/>
            </p:spPr>
            <p:txBody>
              <a:bodyPr wrap="none" rtlCol="0">
                <a:spAutoFit/>
              </a:bodyPr>
              <a:lstStyle/>
              <a:p>
                <a:pPr lvl="0" algn="l">
                  <a:buClrTx/>
                  <a:buSzTx/>
                  <a:buFontTx/>
                </a:pPr>
                <a:r>
                  <a:rPr kumimoji="1" lang="zh-CN" altLang="en-US" sz="1600" b="1" dirty="0">
                    <a:solidFill>
                      <a:schemeClr val="bg1"/>
                    </a:solidFill>
                    <a:latin typeface="微软雅黑" panose="020B0503020204020204" pitchFamily="34" charset="-122"/>
                    <a:ea typeface="微软雅黑" panose="020B0503020204020204" pitchFamily="34" charset="-122"/>
                    <a:sym typeface="+mn-ea"/>
                  </a:rPr>
                  <a:t>季度规划</a:t>
                </a:r>
              </a:p>
            </p:txBody>
          </p:sp>
        </p:grpSp>
        <p:sp>
          <p:nvSpPr>
            <p:cNvPr id="79" name="文本框 78"/>
            <p:cNvSpPr txBox="1"/>
            <p:nvPr>
              <p:custDataLst>
                <p:tags r:id="rId39"/>
              </p:custDataLst>
            </p:nvPr>
          </p:nvSpPr>
          <p:spPr>
            <a:xfrm>
              <a:off x="730300" y="2080945"/>
              <a:ext cx="5250815" cy="306705"/>
            </a:xfrm>
            <a:prstGeom prst="rect">
              <a:avLst/>
            </a:prstGeom>
            <a:noFill/>
          </p:spPr>
          <p:txBody>
            <a:bodyPr wrap="square" rtlCol="0">
              <a:spAutoFit/>
            </a:bodyPr>
            <a:lstStyle/>
            <a:p>
              <a:pPr marL="285750" indent="-285750">
                <a:buClr>
                  <a:srgbClr val="C00000"/>
                </a:buClr>
                <a:buFont typeface="Wingdings" panose="05000000000000000000" pitchFamily="2" charset="2"/>
                <a:buChar char="p"/>
              </a:pPr>
              <a:r>
                <a:rPr kumimoji="1" lang="zh-CN" altLang="en-US" sz="1400" dirty="0">
                  <a:latin typeface="微软雅黑" panose="020B0503020204020204" pitchFamily="34" charset="-122"/>
                  <a:ea typeface="微软雅黑" panose="020B0503020204020204" pitchFamily="34" charset="-122"/>
                  <a:sym typeface="+mn-ea"/>
                </a:rPr>
                <a:t>部门层面在业务、投资上进行战略复盘、整合资源配置</a:t>
              </a:r>
              <a:endParaRPr lang="zh-CN" altLang="en-US" sz="1400" spc="0" baseline="0" dirty="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p:txBody>
        </p:sp>
      </p:grpSp>
      <p:grpSp>
        <p:nvGrpSpPr>
          <p:cNvPr id="82" name="图形 3"/>
          <p:cNvGrpSpPr/>
          <p:nvPr>
            <p:custDataLst>
              <p:tags r:id="rId21"/>
            </p:custDataLst>
          </p:nvPr>
        </p:nvGrpSpPr>
        <p:grpSpPr>
          <a:xfrm>
            <a:off x="6603415" y="4501565"/>
            <a:ext cx="5250815" cy="924560"/>
            <a:chOff x="730300" y="1687880"/>
            <a:chExt cx="5250815" cy="924560"/>
          </a:xfrm>
        </p:grpSpPr>
        <p:grpSp>
          <p:nvGrpSpPr>
            <p:cNvPr id="83" name="图形 3"/>
            <p:cNvGrpSpPr/>
            <p:nvPr/>
          </p:nvGrpSpPr>
          <p:grpSpPr>
            <a:xfrm>
              <a:off x="819150" y="1687880"/>
              <a:ext cx="3338195" cy="350520"/>
              <a:chOff x="819150" y="1687880"/>
              <a:chExt cx="3338195" cy="350520"/>
            </a:xfrm>
          </p:grpSpPr>
          <p:sp>
            <p:nvSpPr>
              <p:cNvPr id="85" name="任意多边形: 形状 18"/>
              <p:cNvSpPr/>
              <p:nvPr>
                <p:custDataLst>
                  <p:tags r:id="rId37"/>
                </p:custDataLst>
              </p:nvPr>
            </p:nvSpPr>
            <p:spPr>
              <a:xfrm>
                <a:off x="819150" y="1687880"/>
                <a:ext cx="1116330" cy="350520"/>
              </a:xfrm>
              <a:custGeom>
                <a:avLst/>
                <a:gdLst>
                  <a:gd name="connsiteX0" fmla="*/ -4210 w 1151700"/>
                  <a:gd name="connsiteY0" fmla="*/ -1652 h 330200"/>
                  <a:gd name="connsiteX1" fmla="*/ 1071290 w 1151700"/>
                  <a:gd name="connsiteY1" fmla="*/ -1652 h 330200"/>
                  <a:gd name="connsiteX2" fmla="*/ 1147490 w 1151700"/>
                  <a:gd name="connsiteY2" fmla="*/ 72961 h 330200"/>
                  <a:gd name="connsiteX3" fmla="*/ 1147490 w 1151700"/>
                  <a:gd name="connsiteY3" fmla="*/ 328548 h 330200"/>
                  <a:gd name="connsiteX4" fmla="*/ -4210 w 1151700"/>
                  <a:gd name="connsiteY4" fmla="*/ 328548 h 330200"/>
                  <a:gd name="connsiteX5" fmla="*/ -4210 w 1151700"/>
                  <a:gd name="connsiteY5" fmla="*/ -1652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700" h="330200">
                    <a:moveTo>
                      <a:pt x="-4210" y="-1652"/>
                    </a:moveTo>
                    <a:lnTo>
                      <a:pt x="1071290" y="-1652"/>
                    </a:lnTo>
                    <a:lnTo>
                      <a:pt x="1147490" y="72961"/>
                    </a:lnTo>
                    <a:lnTo>
                      <a:pt x="1147490" y="328548"/>
                    </a:lnTo>
                    <a:lnTo>
                      <a:pt x="-4210" y="328548"/>
                    </a:lnTo>
                    <a:lnTo>
                      <a:pt x="-4210" y="-1652"/>
                    </a:lnTo>
                    <a:close/>
                  </a:path>
                </a:pathLst>
              </a:custGeom>
              <a:solidFill>
                <a:srgbClr val="D51008"/>
              </a:solidFill>
              <a:ln w="6350" cap="flat">
                <a:noFill/>
                <a:prstDash val="solid"/>
                <a:miter/>
              </a:ln>
            </p:spPr>
            <p:txBody>
              <a:bodyPr rtlCol="0" anchor="ctr"/>
              <a:lstStyle/>
              <a:p>
                <a:endParaRPr lang="zh-CN" altLang="en-US"/>
              </a:p>
            </p:txBody>
          </p:sp>
          <p:sp>
            <p:nvSpPr>
              <p:cNvPr id="86" name="文本框 85"/>
              <p:cNvSpPr txBox="1"/>
              <p:nvPr>
                <p:custDataLst>
                  <p:tags r:id="rId38"/>
                </p:custDataLst>
              </p:nvPr>
            </p:nvSpPr>
            <p:spPr>
              <a:xfrm>
                <a:off x="876300" y="1694230"/>
                <a:ext cx="3281045" cy="337185"/>
              </a:xfrm>
              <a:prstGeom prst="rect">
                <a:avLst/>
              </a:prstGeom>
              <a:noFill/>
            </p:spPr>
            <p:txBody>
              <a:bodyPr wrap="square" rtlCol="0">
                <a:spAutoFit/>
              </a:bodyPr>
              <a:lstStyle/>
              <a:p>
                <a:pPr lvl="0" algn="l">
                  <a:buClrTx/>
                  <a:buSzTx/>
                  <a:buFontTx/>
                </a:pPr>
                <a:r>
                  <a:rPr kumimoji="1" lang="zh-CN" altLang="en-US" sz="1600" b="1" dirty="0">
                    <a:solidFill>
                      <a:schemeClr val="bg1"/>
                    </a:solidFill>
                    <a:latin typeface="微软雅黑" panose="020B0503020204020204" pitchFamily="34" charset="-122"/>
                    <a:ea typeface="微软雅黑" panose="020B0503020204020204" pitchFamily="34" charset="-122"/>
                    <a:sym typeface="+mn-ea"/>
                  </a:rPr>
                  <a:t>重大决策</a:t>
                </a:r>
              </a:p>
            </p:txBody>
          </p:sp>
        </p:grpSp>
        <p:sp>
          <p:nvSpPr>
            <p:cNvPr id="84" name="文本框 83"/>
            <p:cNvSpPr txBox="1"/>
            <p:nvPr>
              <p:custDataLst>
                <p:tags r:id="rId36"/>
              </p:custDataLst>
            </p:nvPr>
          </p:nvSpPr>
          <p:spPr>
            <a:xfrm>
              <a:off x="730300" y="2090470"/>
              <a:ext cx="5250815" cy="521970"/>
            </a:xfrm>
            <a:prstGeom prst="rect">
              <a:avLst/>
            </a:prstGeom>
            <a:noFill/>
          </p:spPr>
          <p:txBody>
            <a:bodyPr wrap="square" rtlCol="0">
              <a:spAutoFit/>
            </a:bodyPr>
            <a:lstStyle/>
            <a:p>
              <a:pPr marL="285750" indent="-285750">
                <a:buClr>
                  <a:srgbClr val="C00000"/>
                </a:buClr>
                <a:buFont typeface="Wingdings" panose="05000000000000000000" pitchFamily="2" charset="2"/>
                <a:buChar char="p"/>
              </a:pPr>
              <a:r>
                <a:rPr kumimoji="1" lang="zh-CN" altLang="en-US" sz="1400" dirty="0">
                  <a:latin typeface="微软雅黑" panose="020B0503020204020204" pitchFamily="34" charset="-122"/>
                  <a:ea typeface="微软雅黑" panose="020B0503020204020204" pitchFamily="34" charset="-122"/>
                  <a:sym typeface="+mn-ea"/>
                </a:rPr>
                <a:t>建设并充分利用重大投资集体决策机制，突出集体智慧的形成与复用</a:t>
              </a:r>
              <a:endParaRPr lang="zh-CN" altLang="en-US" sz="1400" spc="0" baseline="0" dirty="0">
                <a:solidFill>
                  <a:srgbClr val="3E3A39"/>
                </a:solidFill>
                <a:latin typeface="OPPOSans R" panose="00020600040101010101" charset="-122"/>
                <a:ea typeface="OPPOSans R" panose="00020600040101010101" charset="-122"/>
                <a:cs typeface="Arial" panose="020B0604020202020204"/>
                <a:sym typeface="OPPOSans R" panose="00020600040101010101" charset="-122"/>
                <a:rtl val="0"/>
              </a:endParaRPr>
            </a:p>
          </p:txBody>
        </p:sp>
      </p:grpSp>
      <p:sp>
        <p:nvSpPr>
          <p:cNvPr id="87" name="矩形 86"/>
          <p:cNvSpPr/>
          <p:nvPr>
            <p:custDataLst>
              <p:tags r:id="rId22"/>
            </p:custDataLst>
          </p:nvPr>
        </p:nvSpPr>
        <p:spPr>
          <a:xfrm>
            <a:off x="6196965" y="1388110"/>
            <a:ext cx="349885" cy="349885"/>
          </a:xfrm>
          <a:prstGeom prst="rect">
            <a:avLst/>
          </a:prstGeom>
          <a:solidFill>
            <a:srgbClr val="D5100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8" name="文本框 87"/>
          <p:cNvSpPr txBox="1"/>
          <p:nvPr>
            <p:custDataLst>
              <p:tags r:id="rId23"/>
            </p:custDataLst>
          </p:nvPr>
        </p:nvSpPr>
        <p:spPr>
          <a:xfrm>
            <a:off x="6156960" y="1376045"/>
            <a:ext cx="429895" cy="368300"/>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ea typeface="微软雅黑" panose="020B0503020204020204" pitchFamily="34" charset="-122"/>
              </a:rPr>
              <a:t>1</a:t>
            </a:r>
          </a:p>
        </p:txBody>
      </p:sp>
      <p:sp>
        <p:nvSpPr>
          <p:cNvPr id="89" name="矩形 88"/>
          <p:cNvSpPr/>
          <p:nvPr>
            <p:custDataLst>
              <p:tags r:id="rId24"/>
            </p:custDataLst>
          </p:nvPr>
        </p:nvSpPr>
        <p:spPr>
          <a:xfrm>
            <a:off x="6196965" y="2399030"/>
            <a:ext cx="349885" cy="349885"/>
          </a:xfrm>
          <a:prstGeom prst="rect">
            <a:avLst/>
          </a:prstGeom>
          <a:solidFill>
            <a:srgbClr val="D5100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0" name="文本框 89"/>
          <p:cNvSpPr txBox="1"/>
          <p:nvPr>
            <p:custDataLst>
              <p:tags r:id="rId25"/>
            </p:custDataLst>
          </p:nvPr>
        </p:nvSpPr>
        <p:spPr>
          <a:xfrm>
            <a:off x="6156960" y="2386965"/>
            <a:ext cx="429895" cy="368300"/>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ea typeface="微软雅黑" panose="020B0503020204020204" pitchFamily="34" charset="-122"/>
              </a:rPr>
              <a:t>2</a:t>
            </a:r>
          </a:p>
        </p:txBody>
      </p:sp>
      <p:sp>
        <p:nvSpPr>
          <p:cNvPr id="91" name="矩形 90"/>
          <p:cNvSpPr/>
          <p:nvPr>
            <p:custDataLst>
              <p:tags r:id="rId26"/>
            </p:custDataLst>
          </p:nvPr>
        </p:nvSpPr>
        <p:spPr>
          <a:xfrm>
            <a:off x="6196965" y="3373120"/>
            <a:ext cx="349885" cy="349885"/>
          </a:xfrm>
          <a:prstGeom prst="rect">
            <a:avLst/>
          </a:prstGeom>
          <a:solidFill>
            <a:srgbClr val="D5100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2" name="文本框 91"/>
          <p:cNvSpPr txBox="1"/>
          <p:nvPr>
            <p:custDataLst>
              <p:tags r:id="rId27"/>
            </p:custDataLst>
          </p:nvPr>
        </p:nvSpPr>
        <p:spPr>
          <a:xfrm>
            <a:off x="6156960" y="3361055"/>
            <a:ext cx="429895" cy="368300"/>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ea typeface="微软雅黑" panose="020B0503020204020204" pitchFamily="34" charset="-122"/>
              </a:rPr>
              <a:t>3</a:t>
            </a:r>
          </a:p>
        </p:txBody>
      </p:sp>
      <p:sp>
        <p:nvSpPr>
          <p:cNvPr id="93" name="矩形 92"/>
          <p:cNvSpPr/>
          <p:nvPr>
            <p:custDataLst>
              <p:tags r:id="rId28"/>
            </p:custDataLst>
          </p:nvPr>
        </p:nvSpPr>
        <p:spPr>
          <a:xfrm>
            <a:off x="6196965" y="4495800"/>
            <a:ext cx="349885" cy="349885"/>
          </a:xfrm>
          <a:prstGeom prst="rect">
            <a:avLst/>
          </a:prstGeom>
          <a:solidFill>
            <a:srgbClr val="D5100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4" name="文本框 93"/>
          <p:cNvSpPr txBox="1"/>
          <p:nvPr>
            <p:custDataLst>
              <p:tags r:id="rId29"/>
            </p:custDataLst>
          </p:nvPr>
        </p:nvSpPr>
        <p:spPr>
          <a:xfrm>
            <a:off x="6156960" y="4483735"/>
            <a:ext cx="429895" cy="368300"/>
          </a:xfrm>
          <a:prstGeom prst="rect">
            <a:avLst/>
          </a:prstGeom>
          <a:noFill/>
        </p:spPr>
        <p:txBody>
          <a:bodyPr wrap="square"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4</a:t>
            </a:r>
          </a:p>
        </p:txBody>
      </p:sp>
      <p:pic>
        <p:nvPicPr>
          <p:cNvPr id="95" name="图片 94" descr="六边形"/>
          <p:cNvPicPr>
            <a:picLocks noChangeAspect="1"/>
          </p:cNvPicPr>
          <p:nvPr>
            <p:custDataLst>
              <p:tags r:id="rId30"/>
            </p:custDataLst>
          </p:nvPr>
        </p:nvPicPr>
        <p:blipFill>
          <a:blip r:embed="rId51"/>
          <a:stretch>
            <a:fillRect/>
          </a:stretch>
        </p:blipFill>
        <p:spPr>
          <a:xfrm>
            <a:off x="1452245" y="4322445"/>
            <a:ext cx="1757680" cy="1880870"/>
          </a:xfrm>
          <a:prstGeom prst="rect">
            <a:avLst/>
          </a:prstGeom>
        </p:spPr>
      </p:pic>
      <p:pic>
        <p:nvPicPr>
          <p:cNvPr id="96" name="图片 95" descr="六边形"/>
          <p:cNvPicPr>
            <a:picLocks noChangeAspect="1"/>
          </p:cNvPicPr>
          <p:nvPr>
            <p:custDataLst>
              <p:tags r:id="rId31"/>
            </p:custDataLst>
          </p:nvPr>
        </p:nvPicPr>
        <p:blipFill>
          <a:blip r:embed="rId51"/>
          <a:stretch>
            <a:fillRect/>
          </a:stretch>
        </p:blipFill>
        <p:spPr>
          <a:xfrm>
            <a:off x="3093720" y="4322445"/>
            <a:ext cx="1757680" cy="1880870"/>
          </a:xfrm>
          <a:prstGeom prst="rect">
            <a:avLst/>
          </a:prstGeom>
        </p:spPr>
      </p:pic>
      <p:sp>
        <p:nvSpPr>
          <p:cNvPr id="97" name="文本框 96"/>
          <p:cNvSpPr txBox="1"/>
          <p:nvPr>
            <p:custDataLst>
              <p:tags r:id="rId32"/>
            </p:custDataLst>
          </p:nvPr>
        </p:nvSpPr>
        <p:spPr>
          <a:xfrm>
            <a:off x="3294380" y="5297170"/>
            <a:ext cx="1356360" cy="368300"/>
          </a:xfrm>
          <a:prstGeom prst="rect">
            <a:avLst/>
          </a:prstGeom>
          <a:noFill/>
        </p:spPr>
        <p:txBody>
          <a:bodyPr wrap="square" rtlCol="0">
            <a:spAutoFit/>
          </a:bodyPr>
          <a:lstStyle/>
          <a:p>
            <a:pPr algn="ctr"/>
            <a:r>
              <a:rPr lang="zh-CN" altLang="en-US" b="1">
                <a:solidFill>
                  <a:schemeClr val="bg1"/>
                </a:solidFill>
              </a:rPr>
              <a:t>人才选拔</a:t>
            </a:r>
          </a:p>
        </p:txBody>
      </p:sp>
      <p:sp>
        <p:nvSpPr>
          <p:cNvPr id="98" name="文本框 97"/>
          <p:cNvSpPr txBox="1"/>
          <p:nvPr>
            <p:custDataLst>
              <p:tags r:id="rId33"/>
            </p:custDataLst>
          </p:nvPr>
        </p:nvSpPr>
        <p:spPr>
          <a:xfrm>
            <a:off x="1655445" y="5297170"/>
            <a:ext cx="1356360" cy="368300"/>
          </a:xfrm>
          <a:prstGeom prst="rect">
            <a:avLst/>
          </a:prstGeom>
          <a:noFill/>
        </p:spPr>
        <p:txBody>
          <a:bodyPr wrap="square" rtlCol="0">
            <a:spAutoFit/>
          </a:bodyPr>
          <a:lstStyle/>
          <a:p>
            <a:pPr algn="ctr"/>
            <a:r>
              <a:rPr lang="zh-CN" altLang="en-US" b="1">
                <a:solidFill>
                  <a:schemeClr val="bg1"/>
                </a:solidFill>
              </a:rPr>
              <a:t>小组研究</a:t>
            </a:r>
          </a:p>
        </p:txBody>
      </p:sp>
      <p:pic>
        <p:nvPicPr>
          <p:cNvPr id="99" name="图片 98" descr="4"/>
          <p:cNvPicPr>
            <a:picLocks noChangeAspect="1"/>
          </p:cNvPicPr>
          <p:nvPr>
            <p:custDataLst>
              <p:tags r:id="rId34"/>
            </p:custDataLst>
          </p:nvPr>
        </p:nvPicPr>
        <p:blipFill>
          <a:blip r:embed="rId55"/>
          <a:stretch>
            <a:fillRect/>
          </a:stretch>
        </p:blipFill>
        <p:spPr>
          <a:xfrm>
            <a:off x="3733165" y="4765675"/>
            <a:ext cx="499110" cy="499110"/>
          </a:xfrm>
          <a:prstGeom prst="rect">
            <a:avLst/>
          </a:prstGeom>
        </p:spPr>
      </p:pic>
      <p:pic>
        <p:nvPicPr>
          <p:cNvPr id="100" name="图片 99" descr="5"/>
          <p:cNvPicPr>
            <a:picLocks noChangeAspect="1"/>
          </p:cNvPicPr>
          <p:nvPr>
            <p:custDataLst>
              <p:tags r:id="rId35"/>
            </p:custDataLst>
          </p:nvPr>
        </p:nvPicPr>
        <p:blipFill>
          <a:blip r:embed="rId56"/>
          <a:stretch>
            <a:fillRect/>
          </a:stretch>
        </p:blipFill>
        <p:spPr>
          <a:xfrm>
            <a:off x="2085975" y="4749165"/>
            <a:ext cx="469900" cy="469900"/>
          </a:xfrm>
          <a:prstGeom prst="rect">
            <a:avLst/>
          </a:prstGeom>
        </p:spPr>
      </p:pic>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ppt_w</p:attrName>
                                        </p:attrNameLst>
                                      </p:cBhvr>
                                      <p:tavLst>
                                        <p:tav tm="0">
                                          <p:val>
                                            <p:fltVal val="0"/>
                                          </p:val>
                                        </p:tav>
                                        <p:tav tm="100000">
                                          <p:val>
                                            <p:strVal val="#ppt_w"/>
                                          </p:val>
                                        </p:tav>
                                      </p:tavLst>
                                    </p:anim>
                                    <p:anim calcmode="lin" valueType="num">
                                      <p:cBhvr>
                                        <p:cTn id="20" dur="500" fill="hold"/>
                                        <p:tgtEl>
                                          <p:spTgt spid="29"/>
                                        </p:tgtEl>
                                        <p:attrNameLst>
                                          <p:attrName>ppt_h</p:attrName>
                                        </p:attrNameLst>
                                      </p:cBhvr>
                                      <p:tavLst>
                                        <p:tav tm="0">
                                          <p:val>
                                            <p:fltVal val="0"/>
                                          </p:val>
                                        </p:tav>
                                        <p:tav tm="100000">
                                          <p:val>
                                            <p:strVal val="#ppt_h"/>
                                          </p:val>
                                        </p:tav>
                                      </p:tavLst>
                                    </p:anim>
                                    <p:animEffect transition="in" filter="fade">
                                      <p:cBhvr>
                                        <p:cTn id="21" dur="500"/>
                                        <p:tgtEl>
                                          <p:spTgt spid="29"/>
                                        </p:tgtEl>
                                      </p:cBhvr>
                                    </p:animEffect>
                                  </p:childTnLst>
                                </p:cTn>
                              </p:par>
                            </p:childTnLst>
                          </p:cTn>
                        </p:par>
                        <p:par>
                          <p:cTn id="22" fill="hold">
                            <p:stCondLst>
                              <p:cond delay="1500"/>
                            </p:stCondLst>
                            <p:childTnLst>
                              <p:par>
                                <p:cTn id="23" presetID="2" presetClass="entr" presetSubtype="8" fill="hold" nodeType="after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0-#ppt_w/2"/>
                                          </p:val>
                                        </p:tav>
                                        <p:tav tm="100000">
                                          <p:val>
                                            <p:strVal val="#ppt_x"/>
                                          </p:val>
                                        </p:tav>
                                      </p:tavLst>
                                    </p:anim>
                                    <p:anim calcmode="lin" valueType="num">
                                      <p:cBhvr additive="base">
                                        <p:cTn id="26" dur="500" fill="hold"/>
                                        <p:tgtEl>
                                          <p:spTgt spid="41"/>
                                        </p:tgtEl>
                                        <p:attrNameLst>
                                          <p:attrName>ppt_y</p:attrName>
                                        </p:attrNameLst>
                                      </p:cBhvr>
                                      <p:tavLst>
                                        <p:tav tm="0">
                                          <p:val>
                                            <p:strVal val="#ppt_y"/>
                                          </p:val>
                                        </p:tav>
                                        <p:tav tm="100000">
                                          <p:val>
                                            <p:strVal val="#ppt_y"/>
                                          </p:val>
                                        </p:tav>
                                      </p:tavLst>
                                    </p:anim>
                                  </p:childTnLst>
                                </p:cTn>
                              </p:par>
                            </p:childTnLst>
                          </p:cTn>
                        </p:par>
                        <p:par>
                          <p:cTn id="27" fill="hold">
                            <p:stCondLst>
                              <p:cond delay="2000"/>
                            </p:stCondLst>
                            <p:childTnLst>
                              <p:par>
                                <p:cTn id="28" presetID="29" presetClass="entr" presetSubtype="0" fill="hold" grpId="0" nodeType="after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p:cTn id="30" dur="500" fill="hold"/>
                                        <p:tgtEl>
                                          <p:spTgt spid="44"/>
                                        </p:tgtEl>
                                        <p:attrNameLst>
                                          <p:attrName>ppt_x</p:attrName>
                                        </p:attrNameLst>
                                      </p:cBhvr>
                                      <p:tavLst>
                                        <p:tav tm="0">
                                          <p:val>
                                            <p:strVal val="#ppt_x-.2"/>
                                          </p:val>
                                        </p:tav>
                                        <p:tav tm="100000">
                                          <p:val>
                                            <p:strVal val="#ppt_x"/>
                                          </p:val>
                                        </p:tav>
                                      </p:tavLst>
                                    </p:anim>
                                    <p:anim calcmode="lin" valueType="num">
                                      <p:cBhvr>
                                        <p:cTn id="31"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3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t>全流程定量定性相结合的投资策略池：资产配置</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文本框 45"/>
          <p:cNvSpPr txBox="1"/>
          <p:nvPr/>
        </p:nvSpPr>
        <p:spPr>
          <a:xfrm>
            <a:off x="513430" y="1053783"/>
            <a:ext cx="11621770" cy="933589"/>
          </a:xfrm>
          <a:prstGeom prst="rect">
            <a:avLst/>
          </a:prstGeom>
          <a:noFill/>
        </p:spPr>
        <p:txBody>
          <a:bodyPr wrap="square" rtlCol="0">
            <a:spAutoFit/>
          </a:bodyPr>
          <a:lstStyle/>
          <a:p>
            <a:pPr marL="285750" indent="-285750" defTabSz="1304290">
              <a:lnSpc>
                <a:spcPct val="150000"/>
              </a:lnSpc>
              <a:spcBef>
                <a:spcPts val="360"/>
              </a:spcBef>
              <a:spcAft>
                <a:spcPts val="360"/>
              </a:spcAft>
              <a:buClr>
                <a:srgbClr val="C00000"/>
              </a:buClr>
              <a:buFont typeface="Wingdings" panose="05000000000000000000" pitchFamily="2" charset="2"/>
              <a:buChar char="p"/>
            </a:pPr>
            <a:r>
              <a:rPr sz="1600" dirty="0" err="1">
                <a:latin typeface="微软雅黑" panose="020B0503020204020204" pitchFamily="34" charset="-122"/>
                <a:ea typeface="微软雅黑" panose="020B0503020204020204" pitchFamily="34" charset="-122"/>
                <a:cs typeface="微软雅黑" panose="020B0503020204020204" pitchFamily="34" charset="-122"/>
              </a:rPr>
              <a:t>定量定性相结合</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确定</a:t>
            </a:r>
            <a:r>
              <a:rPr sz="1600" dirty="0" err="1">
                <a:latin typeface="微软雅黑" panose="020B0503020204020204" pitchFamily="34" charset="-122"/>
                <a:ea typeface="微软雅黑" panose="020B0503020204020204" pitchFamily="34" charset="-122"/>
                <a:cs typeface="微软雅黑" panose="020B0503020204020204" pitchFamily="34" charset="-122"/>
              </a:rPr>
              <a:t>投资策略池</a:t>
            </a:r>
            <a:r>
              <a:rPr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主要分为</a:t>
            </a:r>
            <a:r>
              <a:rPr sz="1600" dirty="0" err="1">
                <a:latin typeface="微软雅黑" panose="020B0503020204020204" pitchFamily="34" charset="-122"/>
                <a:ea typeface="微软雅黑" panose="020B0503020204020204" pitchFamily="34" charset="-122"/>
                <a:cs typeface="微软雅黑" panose="020B0503020204020204" pitchFamily="34" charset="-122"/>
              </a:rPr>
              <a:t>资产配置</a:t>
            </a:r>
            <a:r>
              <a:rPr sz="1600" dirty="0" err="1" smtClean="0">
                <a:latin typeface="微软雅黑" panose="020B0503020204020204" pitchFamily="34" charset="-122"/>
                <a:ea typeface="微软雅黑" panose="020B0503020204020204" pitchFamily="34" charset="-122"/>
                <a:cs typeface="微软雅黑" panose="020B0503020204020204" pitchFamily="34" charset="-122"/>
              </a:rPr>
              <a:t>、ETF轮动</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smtClean="0">
                <a:latin typeface="微软雅黑" panose="020B0503020204020204" pitchFamily="34" charset="-122"/>
                <a:ea typeface="微软雅黑" panose="020B0503020204020204" pitchFamily="34" charset="-122"/>
                <a:cs typeface="微软雅黑" panose="020B0503020204020204" pitchFamily="34" charset="-122"/>
              </a:rPr>
              <a:t>ETF</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收益增强</a:t>
            </a:r>
            <a:r>
              <a:rPr sz="1600" dirty="0" err="1" smtClean="0">
                <a:latin typeface="微软雅黑" panose="020B0503020204020204" pitchFamily="34" charset="-122"/>
                <a:ea typeface="微软雅黑" panose="020B0503020204020204" pitchFamily="34" charset="-122"/>
                <a:cs typeface="微软雅黑" panose="020B0503020204020204" pitchFamily="34" charset="-122"/>
              </a:rPr>
              <a:t>三个维度</a:t>
            </a:r>
            <a:r>
              <a:rPr sz="1600" dirty="0">
                <a:latin typeface="微软雅黑" panose="020B0503020204020204" pitchFamily="34" charset="-122"/>
                <a:ea typeface="微软雅黑" panose="020B0503020204020204" pitchFamily="34" charset="-122"/>
                <a:cs typeface="微软雅黑" panose="020B0503020204020204" pitchFamily="34" charset="-122"/>
              </a:rPr>
              <a:t>。</a:t>
            </a:r>
          </a:p>
          <a:p>
            <a:pPr marL="285750" indent="-285750" defTabSz="1304290">
              <a:lnSpc>
                <a:spcPct val="150000"/>
              </a:lnSpc>
              <a:spcBef>
                <a:spcPts val="360"/>
              </a:spcBef>
              <a:spcAft>
                <a:spcPts val="360"/>
              </a:spcAft>
              <a:buClr>
                <a:srgbClr val="C00000"/>
              </a:buClr>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资产配置模型对整体组合资产达成风险预算、回撤控制起到重要作用。</a:t>
            </a:r>
          </a:p>
        </p:txBody>
      </p:sp>
      <p:pic>
        <p:nvPicPr>
          <p:cNvPr id="48" name="图片 47" descr="框"/>
          <p:cNvPicPr>
            <a:picLocks noChangeAspect="1"/>
          </p:cNvPicPr>
          <p:nvPr/>
        </p:nvPicPr>
        <p:blipFill>
          <a:blip r:embed="rId4"/>
          <a:stretch>
            <a:fillRect/>
          </a:stretch>
        </p:blipFill>
        <p:spPr>
          <a:xfrm>
            <a:off x="257810" y="1990090"/>
            <a:ext cx="10839168" cy="3004820"/>
          </a:xfrm>
          <a:prstGeom prst="rect">
            <a:avLst/>
          </a:prstGeom>
        </p:spPr>
      </p:pic>
      <p:pic>
        <p:nvPicPr>
          <p:cNvPr id="51" name="图片 50" descr="框"/>
          <p:cNvPicPr>
            <a:picLocks noChangeAspect="1"/>
          </p:cNvPicPr>
          <p:nvPr/>
        </p:nvPicPr>
        <p:blipFill>
          <a:blip r:embed="rId4"/>
          <a:stretch>
            <a:fillRect/>
          </a:stretch>
        </p:blipFill>
        <p:spPr>
          <a:xfrm>
            <a:off x="321310" y="4292600"/>
            <a:ext cx="10775668" cy="3004820"/>
          </a:xfrm>
          <a:prstGeom prst="rect">
            <a:avLst/>
          </a:prstGeom>
        </p:spPr>
      </p:pic>
      <p:sp>
        <p:nvSpPr>
          <p:cNvPr id="52" name="文本框 51"/>
          <p:cNvSpPr txBox="1"/>
          <p:nvPr/>
        </p:nvSpPr>
        <p:spPr>
          <a:xfrm>
            <a:off x="1863725" y="2840355"/>
            <a:ext cx="8684260" cy="738664"/>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基于概率论思维，将各类资产的历史净值数据进行量化方式拟合分布</a:t>
            </a:r>
          </a:p>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运用蒙特卡洛模拟，对各类资产的未来走势分布进行预测</a:t>
            </a:r>
          </a:p>
        </p:txBody>
      </p:sp>
      <p:sp>
        <p:nvSpPr>
          <p:cNvPr id="53" name="文本框 52"/>
          <p:cNvSpPr txBox="1"/>
          <p:nvPr/>
        </p:nvSpPr>
        <p:spPr>
          <a:xfrm>
            <a:off x="1263015" y="2279650"/>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量化系统给出底线配置</a:t>
            </a:r>
          </a:p>
        </p:txBody>
      </p:sp>
      <p:sp>
        <p:nvSpPr>
          <p:cNvPr id="54" name="文本框 53"/>
          <p:cNvSpPr txBox="1"/>
          <p:nvPr/>
        </p:nvSpPr>
        <p:spPr>
          <a:xfrm>
            <a:off x="1863725" y="5107940"/>
            <a:ext cx="5457190" cy="737235"/>
          </a:xfrm>
          <a:prstGeom prst="rect">
            <a:avLst/>
          </a:prstGeom>
          <a:noFill/>
        </p:spPr>
        <p:txBody>
          <a:bodyPr wrap="square" rtlCol="0">
            <a:spAutoFit/>
          </a:bodyPr>
          <a:lstStyle/>
          <a:p>
            <a:pPr marL="114300" lvl="1" indent="-114300" fontAlgn="auto">
              <a:lnSpc>
                <a:spcPct val="150000"/>
              </a:lnSpc>
              <a:spcBef>
                <a:spcPct val="0"/>
              </a:spcBef>
              <a:spcAft>
                <a:spcPct val="15000"/>
              </a:spcAft>
              <a:buChar char="•"/>
            </a:pPr>
            <a:r>
              <a:rPr sz="1400" dirty="0" err="1">
                <a:solidFill>
                  <a:schemeClr val="dk1"/>
                </a:solidFill>
                <a:latin typeface="微软雅黑" panose="020B0503020204020204" pitchFamily="34" charset="-122"/>
                <a:ea typeface="微软雅黑" panose="020B0503020204020204" pitchFamily="34" charset="-122"/>
                <a:cs typeface="Inter" pitchFamily="34" charset="-120"/>
                <a:sym typeface="+mn-ea"/>
              </a:rPr>
              <a:t>进一步结合市场周期、估值性价比、宏观基本面等因素，以及各个组合的风险预算，做出最终的战略调整</a:t>
            </a:r>
            <a:r>
              <a:rPr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a:t>
            </a:r>
          </a:p>
        </p:txBody>
      </p:sp>
      <p:sp>
        <p:nvSpPr>
          <p:cNvPr id="56" name="文本框 55"/>
          <p:cNvSpPr txBox="1"/>
          <p:nvPr/>
        </p:nvSpPr>
        <p:spPr>
          <a:xfrm>
            <a:off x="1358900" y="4711065"/>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定性把关</a:t>
            </a:r>
          </a:p>
        </p:txBody>
      </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en-US" altLang="zh-CN" sz="2200" b="1" dirty="0">
                <a:solidFill>
                  <a:srgbClr val="B83835"/>
                </a:solidFill>
                <a:latin typeface="微软雅黑" panose="020B0503020204020204" pitchFamily="34" charset="-122"/>
                <a:ea typeface="微软雅黑" panose="020B0503020204020204" pitchFamily="34" charset="-122"/>
                <a:sym typeface="+mn-ea"/>
              </a:rPr>
              <a:t>AI</a:t>
            </a:r>
            <a:r>
              <a:rPr lang="zh-CN" altLang="en-US" sz="2200" b="1" dirty="0">
                <a:solidFill>
                  <a:srgbClr val="B83835"/>
                </a:solidFill>
                <a:latin typeface="微软雅黑" panose="020B0503020204020204" pitchFamily="34" charset="-122"/>
                <a:ea typeface="微软雅黑" panose="020B0503020204020204" pitchFamily="34" charset="-122"/>
                <a:sym typeface="+mn-ea"/>
              </a:rPr>
              <a:t>赋能：</a:t>
            </a:r>
            <a:r>
              <a:rPr lang="zh-CN" altLang="en-US" sz="2200" b="1" dirty="0">
                <a:latin typeface="微软雅黑" panose="020B0503020204020204" pitchFamily="34" charset="-122"/>
                <a:ea typeface="微软雅黑" panose="020B0503020204020204" pitchFamily="34" charset="-122"/>
                <a:sym typeface="+mn-ea"/>
              </a:rPr>
              <a:t>定制化资产配置</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srcRect b="31574"/>
          <a:stretch>
            <a:fillRect/>
          </a:stretch>
        </p:blipFill>
        <p:spPr>
          <a:xfrm>
            <a:off x="513430" y="809200"/>
            <a:ext cx="5047989" cy="3482555"/>
          </a:xfrm>
          <a:prstGeom prst="rect">
            <a:avLst/>
          </a:prstGeom>
          <a:ln>
            <a:solidFill>
              <a:srgbClr val="B83835"/>
            </a:solidFill>
          </a:ln>
        </p:spPr>
      </p:pic>
      <p:pic>
        <p:nvPicPr>
          <p:cNvPr id="4" name="图片 3"/>
          <p:cNvPicPr>
            <a:picLocks noChangeAspect="1"/>
          </p:cNvPicPr>
          <p:nvPr/>
        </p:nvPicPr>
        <p:blipFill>
          <a:blip r:embed="rId5"/>
          <a:srcRect b="36659"/>
          <a:stretch>
            <a:fillRect/>
          </a:stretch>
        </p:blipFill>
        <p:spPr>
          <a:xfrm>
            <a:off x="6048615" y="809200"/>
            <a:ext cx="6048587" cy="3474701"/>
          </a:xfrm>
          <a:prstGeom prst="rect">
            <a:avLst/>
          </a:prstGeom>
          <a:ln>
            <a:solidFill>
              <a:srgbClr val="B83835"/>
            </a:solidFill>
          </a:ln>
        </p:spPr>
      </p:pic>
      <p:sp>
        <p:nvSpPr>
          <p:cNvPr id="2" name="文本框 1"/>
          <p:cNvSpPr txBox="1"/>
          <p:nvPr/>
        </p:nvSpPr>
        <p:spPr>
          <a:xfrm>
            <a:off x="612324" y="5310706"/>
            <a:ext cx="5390659" cy="252730"/>
          </a:xfrm>
          <a:prstGeom prst="rect">
            <a:avLst/>
          </a:prstGeom>
          <a:noFill/>
        </p:spPr>
        <p:txBody>
          <a:bodyPr wrap="square" rtlCol="0">
            <a:spAutoFit/>
          </a:bodyPr>
          <a:lstStyle/>
          <a:p>
            <a:r>
              <a:rPr lang="zh-CN" altLang="en-US" sz="1050" b="1" dirty="0">
                <a:latin typeface="+mj-ea"/>
                <a:ea typeface="+mj-ea"/>
              </a:rPr>
              <a:t>注：仅代表</a:t>
            </a:r>
            <a:r>
              <a:rPr lang="en-US" altLang="zh-CN" sz="1050" b="1" dirty="0">
                <a:latin typeface="+mj-ea"/>
                <a:ea typeface="+mj-ea"/>
              </a:rPr>
              <a:t>AI</a:t>
            </a:r>
            <a:r>
              <a:rPr lang="zh-CN" altLang="en-US" sz="1050" b="1" dirty="0">
                <a:latin typeface="+mj-ea"/>
                <a:ea typeface="+mj-ea"/>
              </a:rPr>
              <a:t>对投资的赋能，相关数据不代表实际投资表现</a:t>
            </a:r>
          </a:p>
        </p:txBody>
      </p:sp>
      <p:sp>
        <p:nvSpPr>
          <p:cNvPr id="5" name="文本框 4"/>
          <p:cNvSpPr txBox="1"/>
          <p:nvPr/>
        </p:nvSpPr>
        <p:spPr>
          <a:xfrm>
            <a:off x="612324" y="6590240"/>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
        <p:nvSpPr>
          <p:cNvPr id="6" name="矩形 5">
            <a:extLst>
              <a:ext uri="{FF2B5EF4-FFF2-40B4-BE49-F238E27FC236}">
                <a16:creationId xmlns="" xmlns:a16="http://schemas.microsoft.com/office/drawing/2014/main" id="{A3865011-06F6-C731-A021-DB475EC997E8}"/>
              </a:ext>
            </a:extLst>
          </p:cNvPr>
          <p:cNvSpPr/>
          <p:nvPr/>
        </p:nvSpPr>
        <p:spPr>
          <a:xfrm>
            <a:off x="557408" y="1291216"/>
            <a:ext cx="4850615" cy="3074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 xmlns:a16="http://schemas.microsoft.com/office/drawing/2014/main" id="{84662862-9473-12ED-9769-4D13A43C0F9C}"/>
              </a:ext>
            </a:extLst>
          </p:cNvPr>
          <p:cNvSpPr/>
          <p:nvPr/>
        </p:nvSpPr>
        <p:spPr>
          <a:xfrm>
            <a:off x="557408" y="4599139"/>
            <a:ext cx="5047989" cy="3194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 xmlns:a16="http://schemas.microsoft.com/office/drawing/2014/main" id="{6742E209-E051-221D-94B2-D993888A78D5}"/>
              </a:ext>
            </a:extLst>
          </p:cNvPr>
          <p:cNvSpPr/>
          <p:nvPr/>
        </p:nvSpPr>
        <p:spPr>
          <a:xfrm>
            <a:off x="6096000" y="1122935"/>
            <a:ext cx="5859354" cy="4105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资产定性分析：</a:t>
            </a:r>
            <a:r>
              <a:rPr lang="zh-CN" altLang="en-US" sz="2200" b="1" dirty="0">
                <a:latin typeface="微软雅黑" panose="020B0503020204020204" pitchFamily="34" charset="-122"/>
                <a:ea typeface="微软雅黑" panose="020B0503020204020204" pitchFamily="34" charset="-122"/>
                <a:sym typeface="+mn-ea"/>
              </a:rPr>
              <a:t>大类资产的收益与风险驱动因素</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p:cNvGrpSpPr/>
          <p:nvPr/>
        </p:nvGrpSpPr>
        <p:grpSpPr>
          <a:xfrm>
            <a:off x="1873176" y="1326395"/>
            <a:ext cx="8368111" cy="4747945"/>
            <a:chOff x="639763" y="1772816"/>
            <a:chExt cx="7864475" cy="4462189"/>
          </a:xfrm>
        </p:grpSpPr>
        <p:sp>
          <p:nvSpPr>
            <p:cNvPr id="15" name="矩形 9"/>
            <p:cNvSpPr>
              <a:spLocks noChangeArrowheads="1"/>
            </p:cNvSpPr>
            <p:nvPr/>
          </p:nvSpPr>
          <p:spPr bwMode="gray">
            <a:xfrm>
              <a:off x="639763" y="3500920"/>
              <a:ext cx="7864475" cy="953465"/>
            </a:xfrm>
            <a:prstGeom prst="rect">
              <a:avLst/>
            </a:prstGeom>
            <a:gradFill rotWithShape="1">
              <a:gsLst>
                <a:gs pos="0">
                  <a:srgbClr val="DDDDDD"/>
                </a:gs>
                <a:gs pos="50000">
                  <a:srgbClr val="F4F4F4"/>
                </a:gs>
                <a:gs pos="100000">
                  <a:srgbClr val="DDDDDD"/>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1915"/>
            </a:p>
          </p:txBody>
        </p:sp>
        <p:sp>
          <p:nvSpPr>
            <p:cNvPr id="16" name="Rectangle 9"/>
            <p:cNvSpPr>
              <a:spLocks noChangeArrowheads="1"/>
            </p:cNvSpPr>
            <p:nvPr/>
          </p:nvSpPr>
          <p:spPr bwMode="auto">
            <a:xfrm>
              <a:off x="2361325"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基本面因素</a:t>
              </a:r>
            </a:p>
          </p:txBody>
        </p:sp>
        <p:cxnSp>
          <p:nvCxnSpPr>
            <p:cNvPr id="17" name="AutoShape 14"/>
            <p:cNvCxnSpPr>
              <a:cxnSpLocks noChangeShapeType="1"/>
              <a:stCxn id="16" idx="0"/>
              <a:endCxn id="18" idx="2"/>
            </p:cNvCxnSpPr>
            <p:nvPr/>
          </p:nvCxnSpPr>
          <p:spPr bwMode="auto">
            <a:xfrm rot="5400000" flipH="1" flipV="1">
              <a:off x="3686392" y="1455749"/>
              <a:ext cx="272888" cy="1627022"/>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sp>
          <p:nvSpPr>
            <p:cNvPr id="18" name="Rectangle 8"/>
            <p:cNvSpPr>
              <a:spLocks noChangeArrowheads="1"/>
            </p:cNvSpPr>
            <p:nvPr/>
          </p:nvSpPr>
          <p:spPr bwMode="auto">
            <a:xfrm>
              <a:off x="3376347" y="1772816"/>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实体与虚拟基本面的相互印证</a:t>
              </a:r>
            </a:p>
          </p:txBody>
        </p:sp>
        <p:sp>
          <p:nvSpPr>
            <p:cNvPr id="19" name="Rectangle 15"/>
            <p:cNvSpPr>
              <a:spLocks noChangeArrowheads="1"/>
            </p:cNvSpPr>
            <p:nvPr/>
          </p:nvSpPr>
          <p:spPr bwMode="auto">
            <a:xfrm>
              <a:off x="1276737"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宏观周期</a:t>
              </a:r>
            </a:p>
          </p:txBody>
        </p:sp>
        <p:sp>
          <p:nvSpPr>
            <p:cNvPr id="20" name="Rectangle 15"/>
            <p:cNvSpPr>
              <a:spLocks noChangeArrowheads="1"/>
            </p:cNvSpPr>
            <p:nvPr/>
          </p:nvSpPr>
          <p:spPr bwMode="auto">
            <a:xfrm>
              <a:off x="2521282" y="3079566"/>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政策周期</a:t>
              </a:r>
            </a:p>
          </p:txBody>
        </p:sp>
        <p:sp>
          <p:nvSpPr>
            <p:cNvPr id="21" name="Rectangle 15"/>
            <p:cNvSpPr>
              <a:spLocks noChangeArrowheads="1"/>
            </p:cNvSpPr>
            <p:nvPr/>
          </p:nvSpPr>
          <p:spPr bwMode="auto">
            <a:xfrm>
              <a:off x="3736492" y="3085195"/>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产业周期</a:t>
              </a:r>
            </a:p>
          </p:txBody>
        </p:sp>
        <p:sp>
          <p:nvSpPr>
            <p:cNvPr id="22" name="Rectangle 15"/>
            <p:cNvSpPr>
              <a:spLocks noChangeArrowheads="1"/>
            </p:cNvSpPr>
            <p:nvPr/>
          </p:nvSpPr>
          <p:spPr bwMode="auto">
            <a:xfrm>
              <a:off x="492136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货币供应</a:t>
              </a:r>
            </a:p>
          </p:txBody>
        </p:sp>
        <p:sp>
          <p:nvSpPr>
            <p:cNvPr id="23" name="Rectangle 15"/>
            <p:cNvSpPr>
              <a:spLocks noChangeArrowheads="1"/>
            </p:cNvSpPr>
            <p:nvPr/>
          </p:nvSpPr>
          <p:spPr bwMode="auto">
            <a:xfrm>
              <a:off x="6596098" y="3085194"/>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资金分配</a:t>
              </a:r>
            </a:p>
          </p:txBody>
        </p:sp>
        <p:sp>
          <p:nvSpPr>
            <p:cNvPr id="24" name="Rectangle 8"/>
            <p:cNvSpPr>
              <a:spLocks noChangeArrowheads="1"/>
            </p:cNvSpPr>
            <p:nvPr/>
          </p:nvSpPr>
          <p:spPr bwMode="auto">
            <a:xfrm>
              <a:off x="3378004" y="5875005"/>
              <a:ext cx="2520000" cy="360000"/>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风险与收益的平衡</a:t>
              </a:r>
            </a:p>
          </p:txBody>
        </p:sp>
        <p:sp>
          <p:nvSpPr>
            <p:cNvPr id="25" name="Rectangle 9"/>
            <p:cNvSpPr>
              <a:spLocks noChangeArrowheads="1"/>
            </p:cNvSpPr>
            <p:nvPr/>
          </p:nvSpPr>
          <p:spPr bwMode="auto">
            <a:xfrm>
              <a:off x="2152075" y="5082917"/>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估值因素</a:t>
              </a:r>
            </a:p>
          </p:txBody>
        </p:sp>
        <p:sp>
          <p:nvSpPr>
            <p:cNvPr id="26" name="Rectangle 11"/>
            <p:cNvSpPr>
              <a:spLocks noChangeArrowheads="1"/>
            </p:cNvSpPr>
            <p:nvPr/>
          </p:nvSpPr>
          <p:spPr bwMode="auto">
            <a:xfrm>
              <a:off x="5680323" y="5082917"/>
              <a:ext cx="1296000" cy="504000"/>
            </a:xfrm>
            <a:prstGeom prst="rect">
              <a:avLst/>
            </a:prstGeom>
            <a:solidFill>
              <a:srgbClr val="C00000"/>
            </a:solidFill>
            <a:ln w="9525">
              <a:solidFill>
                <a:srgbClr val="C0C0C0"/>
              </a:solid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供求交易因素</a:t>
              </a:r>
            </a:p>
          </p:txBody>
        </p:sp>
        <p:sp>
          <p:nvSpPr>
            <p:cNvPr id="27" name="Rectangle 11"/>
            <p:cNvSpPr>
              <a:spLocks noChangeArrowheads="1"/>
            </p:cNvSpPr>
            <p:nvPr/>
          </p:nvSpPr>
          <p:spPr bwMode="auto">
            <a:xfrm>
              <a:off x="5650950" y="2405704"/>
              <a:ext cx="1296000" cy="504000"/>
            </a:xfrm>
            <a:prstGeom prst="rect">
              <a:avLst/>
            </a:prstGeom>
            <a:solidFill>
              <a:srgbClr val="C00000"/>
            </a:soli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流动性因素</a:t>
              </a:r>
            </a:p>
          </p:txBody>
        </p:sp>
        <p:sp>
          <p:nvSpPr>
            <p:cNvPr id="28" name="Rectangle 7"/>
            <p:cNvSpPr>
              <a:spLocks noChangeArrowheads="1"/>
            </p:cNvSpPr>
            <p:nvPr/>
          </p:nvSpPr>
          <p:spPr bwMode="auto">
            <a:xfrm>
              <a:off x="3990713" y="3895035"/>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股票、新三板</a:t>
              </a:r>
            </a:p>
          </p:txBody>
        </p:sp>
        <p:sp>
          <p:nvSpPr>
            <p:cNvPr id="29" name="Rectangle 8"/>
            <p:cNvSpPr>
              <a:spLocks noChangeArrowheads="1"/>
            </p:cNvSpPr>
            <p:nvPr/>
          </p:nvSpPr>
          <p:spPr bwMode="auto">
            <a:xfrm>
              <a:off x="3990713" y="3645487"/>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权益类资产</a:t>
              </a:r>
            </a:p>
          </p:txBody>
        </p:sp>
        <p:sp>
          <p:nvSpPr>
            <p:cNvPr id="30" name="Rectangle 7"/>
            <p:cNvSpPr>
              <a:spLocks noChangeArrowheads="1"/>
            </p:cNvSpPr>
            <p:nvPr/>
          </p:nvSpPr>
          <p:spPr bwMode="auto">
            <a:xfrm>
              <a:off x="2460932" y="3887519"/>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债券、非标</a:t>
              </a:r>
            </a:p>
          </p:txBody>
        </p:sp>
        <p:sp>
          <p:nvSpPr>
            <p:cNvPr id="31" name="Rectangle 8"/>
            <p:cNvSpPr>
              <a:spLocks noChangeArrowheads="1"/>
            </p:cNvSpPr>
            <p:nvPr/>
          </p:nvSpPr>
          <p:spPr bwMode="auto">
            <a:xfrm>
              <a:off x="2460932" y="363797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固收类资产</a:t>
              </a:r>
            </a:p>
          </p:txBody>
        </p:sp>
        <p:sp>
          <p:nvSpPr>
            <p:cNvPr id="32" name="Rectangle 7"/>
            <p:cNvSpPr>
              <a:spLocks noChangeArrowheads="1"/>
            </p:cNvSpPr>
            <p:nvPr/>
          </p:nvSpPr>
          <p:spPr bwMode="auto">
            <a:xfrm>
              <a:off x="5562122" y="3908565"/>
              <a:ext cx="1143247"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pPr>
              <a:r>
                <a:rPr lang="zh-CN" altLang="en-US" sz="1490" kern="0" dirty="0">
                  <a:latin typeface="微软雅黑" panose="020B0503020204020204" pitchFamily="34" charset="-122"/>
                  <a:ea typeface="微软雅黑" panose="020B0503020204020204" pitchFamily="34" charset="-122"/>
                </a:rPr>
                <a:t>房地产、大宗</a:t>
              </a:r>
            </a:p>
          </p:txBody>
        </p:sp>
        <p:sp>
          <p:nvSpPr>
            <p:cNvPr id="33" name="Rectangle 8"/>
            <p:cNvSpPr>
              <a:spLocks noChangeArrowheads="1"/>
            </p:cNvSpPr>
            <p:nvPr/>
          </p:nvSpPr>
          <p:spPr bwMode="auto">
            <a:xfrm>
              <a:off x="5565095" y="3651500"/>
              <a:ext cx="1143247"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商品类资产</a:t>
              </a:r>
            </a:p>
          </p:txBody>
        </p:sp>
        <p:sp>
          <p:nvSpPr>
            <p:cNvPr id="34" name="Rectangle 7"/>
            <p:cNvSpPr>
              <a:spLocks noChangeArrowheads="1"/>
            </p:cNvSpPr>
            <p:nvPr/>
          </p:nvSpPr>
          <p:spPr bwMode="auto">
            <a:xfrm>
              <a:off x="931150" y="3883008"/>
              <a:ext cx="1144735"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回购、票据</a:t>
              </a:r>
            </a:p>
          </p:txBody>
        </p:sp>
        <p:sp>
          <p:nvSpPr>
            <p:cNvPr id="35" name="Rectangle 8"/>
            <p:cNvSpPr>
              <a:spLocks noChangeArrowheads="1"/>
            </p:cNvSpPr>
            <p:nvPr/>
          </p:nvSpPr>
          <p:spPr bwMode="auto">
            <a:xfrm>
              <a:off x="931150" y="3633461"/>
              <a:ext cx="1144735"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zh-CN" altLang="en-US" sz="1490" b="1" kern="0" dirty="0">
                  <a:solidFill>
                    <a:srgbClr val="FFFFFF"/>
                  </a:solidFill>
                  <a:latin typeface="微软雅黑" panose="020B0503020204020204" pitchFamily="34" charset="-122"/>
                  <a:ea typeface="微软雅黑" panose="020B0503020204020204" pitchFamily="34" charset="-122"/>
                </a:rPr>
                <a:t>货币类资产</a:t>
              </a:r>
            </a:p>
          </p:txBody>
        </p:sp>
        <p:sp>
          <p:nvSpPr>
            <p:cNvPr id="36" name="Rectangle 7"/>
            <p:cNvSpPr>
              <a:spLocks noChangeArrowheads="1"/>
            </p:cNvSpPr>
            <p:nvPr/>
          </p:nvSpPr>
          <p:spPr bwMode="auto">
            <a:xfrm>
              <a:off x="7094876" y="3884512"/>
              <a:ext cx="1143248" cy="450990"/>
            </a:xfrm>
            <a:prstGeom prst="rect">
              <a:avLst/>
            </a:prstGeom>
            <a:solidFill>
              <a:schemeClr val="bg1"/>
            </a:solidFill>
            <a:ln w="9525">
              <a:solidFill>
                <a:schemeClr val="bg1"/>
              </a:solidFill>
              <a:miter lim="800000"/>
            </a:ln>
            <a:effectLst/>
          </p:spPr>
          <p:txBody>
            <a:bodyPr wrap="none" anchor="ctr"/>
            <a:lstStyle/>
            <a:p>
              <a:pPr marL="189230" indent="-189230" algn="ctr">
                <a:buClr>
                  <a:srgbClr val="003366"/>
                </a:buClr>
                <a:defRPr/>
              </a:pPr>
              <a:r>
                <a:rPr lang="zh-CN" altLang="en-US" sz="1490" kern="0" dirty="0">
                  <a:latin typeface="微软雅黑" panose="020B0503020204020204" pitchFamily="34" charset="-122"/>
                  <a:ea typeface="微软雅黑" panose="020B0503020204020204" pitchFamily="34" charset="-122"/>
                </a:rPr>
                <a:t>美股、美债</a:t>
              </a:r>
            </a:p>
          </p:txBody>
        </p:sp>
        <p:sp>
          <p:nvSpPr>
            <p:cNvPr id="37" name="Rectangle 8"/>
            <p:cNvSpPr>
              <a:spLocks noChangeArrowheads="1"/>
            </p:cNvSpPr>
            <p:nvPr/>
          </p:nvSpPr>
          <p:spPr bwMode="auto">
            <a:xfrm>
              <a:off x="7094876" y="3634964"/>
              <a:ext cx="1143248" cy="243535"/>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5400000" scaled="1"/>
              <a:tileRect/>
            </a:gradFill>
            <a:extLst>
              <a:ext uri="{91240B29-F687-4F45-9708-019B960494DF}">
                <a14:hiddenLine xmlns:a14="http://schemas.microsoft.com/office/drawing/2010/main" w="9525">
                  <a:solidFill>
                    <a:srgbClr val="000000"/>
                  </a:solidFill>
                  <a:miter lim="800000"/>
                  <a:headEnd/>
                  <a:tailEnd/>
                </a14:hiddenLine>
              </a:ext>
            </a:extLst>
          </p:spPr>
          <p:style>
            <a:lnRef idx="1">
              <a:schemeClr val="accent1"/>
            </a:lnRef>
            <a:fillRef idx="3">
              <a:schemeClr val="accent1"/>
            </a:fillRef>
            <a:effectRef idx="2">
              <a:schemeClr val="accent1"/>
            </a:effectRef>
            <a:fontRef idx="minor">
              <a:schemeClr val="lt1"/>
            </a:fontRef>
          </p:style>
          <p:txBody>
            <a:bodyPr wrap="none" anchor="ctr"/>
            <a:lstStyle/>
            <a:p>
              <a:pPr algn="ctr"/>
              <a:r>
                <a:rPr lang="en-US" altLang="zh-CN" sz="1490" b="1" kern="0" dirty="0">
                  <a:solidFill>
                    <a:srgbClr val="FFFFFF"/>
                  </a:solidFill>
                  <a:latin typeface="微软雅黑" panose="020B0503020204020204" pitchFamily="34" charset="-122"/>
                  <a:ea typeface="微软雅黑" panose="020B0503020204020204" pitchFamily="34" charset="-122"/>
                </a:rPr>
                <a:t>QDII</a:t>
              </a:r>
              <a:endParaRPr lang="zh-CN" altLang="en-US" sz="1490" b="1" kern="0" dirty="0">
                <a:solidFill>
                  <a:srgbClr val="FFFFFF"/>
                </a:solidFill>
                <a:latin typeface="微软雅黑" panose="020B0503020204020204" pitchFamily="34" charset="-122"/>
                <a:ea typeface="微软雅黑" panose="020B0503020204020204" pitchFamily="34" charset="-122"/>
              </a:endParaRPr>
            </a:p>
          </p:txBody>
        </p:sp>
        <p:cxnSp>
          <p:nvCxnSpPr>
            <p:cNvPr id="38" name="连接符: 肘形 42"/>
            <p:cNvCxnSpPr>
              <a:stCxn id="16" idx="3"/>
              <a:endCxn id="21" idx="0"/>
            </p:cNvCxnSpPr>
            <p:nvPr/>
          </p:nvCxnSpPr>
          <p:spPr>
            <a:xfrm>
              <a:off x="3657325" y="2657704"/>
              <a:ext cx="565167"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39" name="AutoShape 14"/>
            <p:cNvCxnSpPr>
              <a:cxnSpLocks noChangeShapeType="1"/>
              <a:stCxn id="27" idx="0"/>
              <a:endCxn id="18" idx="2"/>
            </p:cNvCxnSpPr>
            <p:nvPr/>
          </p:nvCxnSpPr>
          <p:spPr bwMode="auto">
            <a:xfrm rot="16200000" flipV="1">
              <a:off x="5331205" y="1437958"/>
              <a:ext cx="272888" cy="1662603"/>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40" name="连接符: 肘形 44"/>
            <p:cNvCxnSpPr>
              <a:stCxn id="16" idx="1"/>
              <a:endCxn id="19" idx="0"/>
            </p:cNvCxnSpPr>
            <p:nvPr/>
          </p:nvCxnSpPr>
          <p:spPr>
            <a:xfrm rot="10800000" flipV="1">
              <a:off x="1762737" y="2657703"/>
              <a:ext cx="598588" cy="427491"/>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7" name="连接符: 肘形 45"/>
            <p:cNvCxnSpPr>
              <a:stCxn id="27" idx="1"/>
              <a:endCxn id="22" idx="0"/>
            </p:cNvCxnSpPr>
            <p:nvPr/>
          </p:nvCxnSpPr>
          <p:spPr>
            <a:xfrm rot="10800000" flipV="1">
              <a:off x="5407368" y="2657704"/>
              <a:ext cx="243582"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49" name="连接符: 肘形 46"/>
            <p:cNvCxnSpPr>
              <a:stCxn id="27" idx="3"/>
              <a:endCxn id="23" idx="0"/>
            </p:cNvCxnSpPr>
            <p:nvPr/>
          </p:nvCxnSpPr>
          <p:spPr>
            <a:xfrm>
              <a:off x="6946950" y="2657704"/>
              <a:ext cx="135148" cy="427490"/>
            </a:xfrm>
            <a:prstGeom prst="bentConnector2">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sp>
          <p:nvSpPr>
            <p:cNvPr id="50" name="Rectangle 15"/>
            <p:cNvSpPr>
              <a:spLocks noChangeArrowheads="1"/>
            </p:cNvSpPr>
            <p:nvPr/>
          </p:nvSpPr>
          <p:spPr bwMode="auto">
            <a:xfrm>
              <a:off x="1185901"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绝对估值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5" name="Rectangle 15"/>
            <p:cNvSpPr>
              <a:spLocks noChangeArrowheads="1"/>
            </p:cNvSpPr>
            <p:nvPr/>
          </p:nvSpPr>
          <p:spPr bwMode="auto">
            <a:xfrm>
              <a:off x="2257635"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相对估值</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7" name="Rectangle 15"/>
            <p:cNvSpPr>
              <a:spLocks noChangeArrowheads="1"/>
            </p:cNvSpPr>
            <p:nvPr/>
          </p:nvSpPr>
          <p:spPr bwMode="auto">
            <a:xfrm>
              <a:off x="3329369" y="4581129"/>
              <a:ext cx="1296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风险估值调整</a:t>
              </a:r>
              <a:endParaRPr lang="en-US" altLang="zh-CN" sz="1490" b="1" kern="0" dirty="0">
                <a:solidFill>
                  <a:srgbClr val="FFFFFF"/>
                </a:solidFill>
                <a:latin typeface="微软雅黑" panose="020B0503020204020204" pitchFamily="34" charset="-122"/>
                <a:ea typeface="微软雅黑" panose="020B0503020204020204" pitchFamily="34" charset="-122"/>
              </a:endParaRPr>
            </a:p>
          </p:txBody>
        </p:sp>
        <p:sp>
          <p:nvSpPr>
            <p:cNvPr id="58" name="Rectangle 15"/>
            <p:cNvSpPr>
              <a:spLocks noChangeArrowheads="1"/>
            </p:cNvSpPr>
            <p:nvPr/>
          </p:nvSpPr>
          <p:spPr bwMode="auto">
            <a:xfrm>
              <a:off x="4797103" y="4581128"/>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资产结构</a:t>
              </a:r>
            </a:p>
          </p:txBody>
        </p:sp>
        <p:sp>
          <p:nvSpPr>
            <p:cNvPr id="59" name="Rectangle 15"/>
            <p:cNvSpPr>
              <a:spLocks noChangeArrowheads="1"/>
            </p:cNvSpPr>
            <p:nvPr/>
          </p:nvSpPr>
          <p:spPr bwMode="auto">
            <a:xfrm>
              <a:off x="5868837" y="4581129"/>
              <a:ext cx="972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投资者结构</a:t>
              </a:r>
            </a:p>
          </p:txBody>
        </p:sp>
        <p:sp>
          <p:nvSpPr>
            <p:cNvPr id="60" name="Rectangle 15"/>
            <p:cNvSpPr>
              <a:spLocks noChangeArrowheads="1"/>
            </p:cNvSpPr>
            <p:nvPr/>
          </p:nvSpPr>
          <p:spPr bwMode="auto">
            <a:xfrm>
              <a:off x="7012571" y="4581129"/>
              <a:ext cx="900000" cy="288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t="100000" r="100000"/>
              </a:path>
              <a:tileRect l="-100000" b="-100000"/>
            </a:gradFill>
            <a:ln w="9525">
              <a:noFill/>
              <a:miter lim="800000"/>
            </a:ln>
            <a:effectLst/>
          </p:spPr>
          <p:txBody>
            <a:bodyPr wrap="none" anchor="ctr" anchorCtr="1"/>
            <a:lstStyle/>
            <a:p>
              <a:pPr algn="ctr">
                <a:defRPr/>
              </a:pPr>
              <a:r>
                <a:rPr lang="zh-CN" altLang="en-US" sz="1490" b="1" kern="0" dirty="0">
                  <a:solidFill>
                    <a:srgbClr val="FFFFFF"/>
                  </a:solidFill>
                  <a:latin typeface="微软雅黑" panose="020B0503020204020204" pitchFamily="34" charset="-122"/>
                  <a:ea typeface="微软雅黑" panose="020B0503020204020204" pitchFamily="34" charset="-122"/>
                </a:rPr>
                <a:t>市场情绪</a:t>
              </a:r>
            </a:p>
          </p:txBody>
        </p:sp>
        <p:cxnSp>
          <p:nvCxnSpPr>
            <p:cNvPr id="61" name="AutoShape 14"/>
            <p:cNvCxnSpPr>
              <a:cxnSpLocks noChangeShapeType="1"/>
              <a:stCxn id="26" idx="2"/>
              <a:endCxn id="24" idx="0"/>
            </p:cNvCxnSpPr>
            <p:nvPr/>
          </p:nvCxnSpPr>
          <p:spPr bwMode="auto">
            <a:xfrm rot="5400000">
              <a:off x="5339120" y="4885802"/>
              <a:ext cx="288088" cy="169031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2" name="AutoShape 14"/>
            <p:cNvCxnSpPr>
              <a:cxnSpLocks noChangeShapeType="1"/>
              <a:stCxn id="25" idx="2"/>
              <a:endCxn id="24" idx="0"/>
            </p:cNvCxnSpPr>
            <p:nvPr/>
          </p:nvCxnSpPr>
          <p:spPr bwMode="auto">
            <a:xfrm rot="16200000" flipH="1">
              <a:off x="3574995" y="4811996"/>
              <a:ext cx="288088" cy="1837929"/>
            </a:xfrm>
            <a:prstGeom prst="bentConnector3">
              <a:avLst>
                <a:gd name="adj1" fmla="val 50000"/>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3" name="AutoShape 14"/>
            <p:cNvCxnSpPr>
              <a:cxnSpLocks noChangeShapeType="1"/>
              <a:stCxn id="50" idx="2"/>
              <a:endCxn id="25" idx="1"/>
            </p:cNvCxnSpPr>
            <p:nvPr/>
          </p:nvCxnSpPr>
          <p:spPr bwMode="auto">
            <a:xfrm rot="16200000" flipH="1">
              <a:off x="1661094" y="4843935"/>
              <a:ext cx="465789" cy="51617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4" name="AutoShape 14"/>
            <p:cNvCxnSpPr>
              <a:cxnSpLocks noChangeShapeType="1"/>
              <a:stCxn id="57" idx="2"/>
              <a:endCxn id="25" idx="3"/>
            </p:cNvCxnSpPr>
            <p:nvPr/>
          </p:nvCxnSpPr>
          <p:spPr bwMode="auto">
            <a:xfrm rot="5400000">
              <a:off x="3479828" y="4837376"/>
              <a:ext cx="465788" cy="529294"/>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5" name="AutoShape 14"/>
            <p:cNvCxnSpPr>
              <a:cxnSpLocks noChangeShapeType="1"/>
              <a:stCxn id="58" idx="2"/>
              <a:endCxn id="26" idx="1"/>
            </p:cNvCxnSpPr>
            <p:nvPr/>
          </p:nvCxnSpPr>
          <p:spPr bwMode="auto">
            <a:xfrm rot="16200000" flipH="1">
              <a:off x="5230819" y="4885412"/>
              <a:ext cx="465789" cy="433220"/>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cxnSp>
          <p:nvCxnSpPr>
            <p:cNvPr id="66" name="AutoShape 14"/>
            <p:cNvCxnSpPr>
              <a:cxnSpLocks noChangeShapeType="1"/>
              <a:stCxn id="60" idx="2"/>
              <a:endCxn id="26" idx="3"/>
            </p:cNvCxnSpPr>
            <p:nvPr/>
          </p:nvCxnSpPr>
          <p:spPr bwMode="auto">
            <a:xfrm rot="5400000">
              <a:off x="6986553" y="4858899"/>
              <a:ext cx="465788" cy="486248"/>
            </a:xfrm>
            <a:prstGeom prst="bentConnector2">
              <a:avLst/>
            </a:prstGeom>
            <a:noFill/>
            <a:ln w="25400">
              <a:solidFill>
                <a:srgbClr val="003399"/>
              </a:solidFill>
              <a:miter lim="800000"/>
            </a:ln>
            <a:extLst>
              <a:ext uri="{909E8E84-426E-40DD-AFC4-6F175D3DCCD1}">
                <a14:hiddenFill xmlns:a14="http://schemas.microsoft.com/office/drawing/2010/main">
                  <a:noFill/>
                </a14:hiddenFill>
              </a:ext>
            </a:extLst>
          </p:spPr>
        </p:cxnSp>
      </p:gr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en-US" altLang="zh-CN" sz="2200" b="1" dirty="0" smtClean="0">
                <a:solidFill>
                  <a:srgbClr val="B83835"/>
                </a:solidFill>
                <a:latin typeface="微软雅黑" panose="020B0503020204020204" pitchFamily="34" charset="-122"/>
                <a:ea typeface="微软雅黑" panose="020B0503020204020204" pitchFamily="34" charset="-122"/>
                <a:sym typeface="+mn-ea"/>
              </a:rPr>
              <a:t>ETF</a:t>
            </a:r>
            <a:r>
              <a:rPr lang="zh-CN" altLang="en-US" sz="2200" b="1" dirty="0" smtClean="0">
                <a:solidFill>
                  <a:srgbClr val="B83835"/>
                </a:solidFill>
                <a:latin typeface="微软雅黑" panose="020B0503020204020204" pitchFamily="34" charset="-122"/>
                <a:ea typeface="微软雅黑" panose="020B0503020204020204" pitchFamily="34" charset="-122"/>
                <a:sym typeface="+mn-ea"/>
              </a:rPr>
              <a:t>轮动策略的目标</a:t>
            </a:r>
            <a:r>
              <a:rPr lang="zh-CN" altLang="en-US" sz="2200" b="1" dirty="0">
                <a:solidFill>
                  <a:srgbClr val="B83835"/>
                </a:solidFill>
                <a:latin typeface="微软雅黑" panose="020B0503020204020204" pitchFamily="34" charset="-122"/>
                <a:ea typeface="微软雅黑" panose="020B0503020204020204" pitchFamily="34" charset="-122"/>
                <a:sym typeface="+mn-ea"/>
              </a:rPr>
              <a:t>：</a:t>
            </a:r>
            <a:r>
              <a:rPr lang="zh-CN" altLang="en-US" sz="2200" b="1" dirty="0">
                <a:latin typeface="微软雅黑" panose="020B0503020204020204" pitchFamily="34" charset="-122"/>
                <a:ea typeface="微软雅黑" panose="020B0503020204020204" pitchFamily="34" charset="-122"/>
                <a:sym typeface="+mn-ea"/>
              </a:rPr>
              <a:t>战胜偏股基金指数（</a:t>
            </a:r>
            <a:r>
              <a:rPr lang="en-US" altLang="zh-CN" sz="2200" b="1" dirty="0">
                <a:latin typeface="微软雅黑" panose="020B0503020204020204" pitchFamily="34" charset="-122"/>
                <a:ea typeface="微软雅黑" panose="020B0503020204020204" pitchFamily="34" charset="-122"/>
                <a:sym typeface="+mn-ea"/>
              </a:rPr>
              <a:t>930950.CSI</a:t>
            </a:r>
            <a:r>
              <a:rPr lang="zh-CN" altLang="en-US" sz="2200" b="1" dirty="0">
                <a:latin typeface="微软雅黑" panose="020B0503020204020204" pitchFamily="34" charset="-122"/>
                <a:ea typeface="微软雅黑" panose="020B0503020204020204" pitchFamily="34" charset="-122"/>
                <a:sym typeface="+mn-ea"/>
              </a:rPr>
              <a:t>）</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19"/>
          <p:cNvSpPr txBox="1"/>
          <p:nvPr/>
        </p:nvSpPr>
        <p:spPr>
          <a:xfrm>
            <a:off x="391510" y="1085851"/>
            <a:ext cx="7171621" cy="369332"/>
          </a:xfrm>
          <a:prstGeom prst="rect">
            <a:avLst/>
          </a:prstGeom>
          <a:noFill/>
        </p:spPr>
        <p:txBody>
          <a:bodyPr wrap="square" rtlCol="0">
            <a:spAutoFit/>
          </a:bodyPr>
          <a:lstStyle/>
          <a:p>
            <a:r>
              <a:rPr lang="en-US" altLang="zh-CN" dirty="0">
                <a:latin typeface="+mj-ea"/>
                <a:ea typeface="+mj-ea"/>
              </a:rPr>
              <a:t>2021</a:t>
            </a:r>
            <a:r>
              <a:rPr lang="zh-CN" altLang="en-US" dirty="0">
                <a:latin typeface="+mj-ea"/>
                <a:ea typeface="+mj-ea"/>
              </a:rPr>
              <a:t>年至</a:t>
            </a:r>
            <a:r>
              <a:rPr lang="en-US" altLang="zh-CN" dirty="0">
                <a:latin typeface="+mj-ea"/>
                <a:ea typeface="+mj-ea"/>
              </a:rPr>
              <a:t>2025</a:t>
            </a:r>
            <a:r>
              <a:rPr lang="zh-CN" altLang="en-US" dirty="0">
                <a:latin typeface="+mj-ea"/>
                <a:ea typeface="+mj-ea"/>
              </a:rPr>
              <a:t>年总收益超越偏股基金指数的基金数量和比例</a:t>
            </a:r>
          </a:p>
        </p:txBody>
      </p:sp>
      <p:graphicFrame>
        <p:nvGraphicFramePr>
          <p:cNvPr id="21" name="表格 20"/>
          <p:cNvGraphicFramePr>
            <a:graphicFrameLocks noGrp="1"/>
          </p:cNvGraphicFramePr>
          <p:nvPr/>
        </p:nvGraphicFramePr>
        <p:xfrm>
          <a:off x="507930" y="1705503"/>
          <a:ext cx="6061780" cy="1590852"/>
        </p:xfrm>
        <a:graphic>
          <a:graphicData uri="http://schemas.openxmlformats.org/drawingml/2006/table">
            <a:tbl>
              <a:tblPr>
                <a:tableStyleId>{5C22544A-7EE6-4342-B048-85BDC9FD1C3A}</a:tableStyleId>
              </a:tblPr>
              <a:tblGrid>
                <a:gridCol w="1697299">
                  <a:extLst>
                    <a:ext uri="{9D8B030D-6E8A-4147-A177-3AD203B41FA5}">
                      <a16:colId xmlns="" xmlns:a16="http://schemas.microsoft.com/office/drawing/2014/main" val="20000"/>
                    </a:ext>
                  </a:extLst>
                </a:gridCol>
                <a:gridCol w="1143078">
                  <a:extLst>
                    <a:ext uri="{9D8B030D-6E8A-4147-A177-3AD203B41FA5}">
                      <a16:colId xmlns="" xmlns:a16="http://schemas.microsoft.com/office/drawing/2014/main" val="20001"/>
                    </a:ext>
                  </a:extLst>
                </a:gridCol>
                <a:gridCol w="1143078">
                  <a:extLst>
                    <a:ext uri="{9D8B030D-6E8A-4147-A177-3AD203B41FA5}">
                      <a16:colId xmlns="" xmlns:a16="http://schemas.microsoft.com/office/drawing/2014/main" val="20002"/>
                    </a:ext>
                  </a:extLst>
                </a:gridCol>
                <a:gridCol w="1143078">
                  <a:extLst>
                    <a:ext uri="{9D8B030D-6E8A-4147-A177-3AD203B41FA5}">
                      <a16:colId xmlns="" xmlns:a16="http://schemas.microsoft.com/office/drawing/2014/main" val="20003"/>
                    </a:ext>
                  </a:extLst>
                </a:gridCol>
                <a:gridCol w="935247">
                  <a:extLst>
                    <a:ext uri="{9D8B030D-6E8A-4147-A177-3AD203B41FA5}">
                      <a16:colId xmlns="" xmlns:a16="http://schemas.microsoft.com/office/drawing/2014/main" val="20004"/>
                    </a:ext>
                  </a:extLst>
                </a:gridCol>
              </a:tblGrid>
              <a:tr h="397713">
                <a:tc>
                  <a:txBody>
                    <a:bodyPr/>
                    <a:lstStyle/>
                    <a:p>
                      <a:pPr algn="l" fontAlgn="ctr"/>
                      <a:r>
                        <a:rPr lang="zh-CN" altLang="en-US" sz="1400" u="none" strike="noStrike" dirty="0">
                          <a:effectLst/>
                        </a:rPr>
                        <a:t>　</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dirty="0">
                          <a:effectLst/>
                        </a:rPr>
                        <a:t>普通股票型</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dirty="0">
                          <a:effectLst/>
                        </a:rPr>
                        <a:t>偏股混合型</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灵活配置型</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加总</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extLst>
                  <a:ext uri="{0D108BD9-81ED-4DB2-BD59-A6C34878D82A}">
                    <a16:rowId xmlns="" xmlns:a16="http://schemas.microsoft.com/office/drawing/2014/main" val="10000"/>
                  </a:ext>
                </a:extLst>
              </a:tr>
              <a:tr h="397713">
                <a:tc>
                  <a:txBody>
                    <a:bodyPr/>
                    <a:lstStyle/>
                    <a:p>
                      <a:pPr algn="l" fontAlgn="ctr"/>
                      <a:r>
                        <a:rPr lang="zh-CN" altLang="en-US" sz="1400" u="none" strike="noStrike" dirty="0">
                          <a:effectLst/>
                        </a:rPr>
                        <a:t>数量</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201</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502</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789</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1492</a:t>
                      </a:r>
                    </a:p>
                  </a:txBody>
                  <a:tcPr marL="9525" marR="9525" marT="9525" marB="0" anchor="ctr"/>
                </a:tc>
                <a:extLst>
                  <a:ext uri="{0D108BD9-81ED-4DB2-BD59-A6C34878D82A}">
                    <a16:rowId xmlns="" xmlns:a16="http://schemas.microsoft.com/office/drawing/2014/main" val="10001"/>
                  </a:ext>
                </a:extLst>
              </a:tr>
              <a:tr h="397713">
                <a:tc>
                  <a:txBody>
                    <a:bodyPr/>
                    <a:lstStyle/>
                    <a:p>
                      <a:pPr algn="l" fontAlgn="ctr"/>
                      <a:r>
                        <a:rPr lang="zh-CN" altLang="en-US" sz="1400" u="none" strike="noStrike">
                          <a:effectLst/>
                        </a:rPr>
                        <a:t>总数</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379</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1067</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1290</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2736</a:t>
                      </a:r>
                    </a:p>
                  </a:txBody>
                  <a:tcPr marL="9525" marR="9525" marT="9525" marB="0" anchor="ctr"/>
                </a:tc>
                <a:extLst>
                  <a:ext uri="{0D108BD9-81ED-4DB2-BD59-A6C34878D82A}">
                    <a16:rowId xmlns="" xmlns:a16="http://schemas.microsoft.com/office/drawing/2014/main" val="10002"/>
                  </a:ext>
                </a:extLst>
              </a:tr>
              <a:tr h="397713">
                <a:tc>
                  <a:txBody>
                    <a:bodyPr/>
                    <a:lstStyle/>
                    <a:p>
                      <a:pPr algn="l" fontAlgn="ctr"/>
                      <a:r>
                        <a:rPr lang="zh-CN" altLang="en-US" sz="1400" u="none" strike="noStrike">
                          <a:effectLst/>
                        </a:rPr>
                        <a:t>比率</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53%</a:t>
                      </a:r>
                    </a:p>
                  </a:txBody>
                  <a:tcPr marL="9525" marR="9525" marT="9525" marB="0" anchor="ctr">
                    <a:solidFill>
                      <a:srgbClr val="FFFF00"/>
                    </a:solidFill>
                  </a:tcPr>
                </a:tc>
                <a:tc>
                  <a:txBody>
                    <a:bodyPr/>
                    <a:lstStyle/>
                    <a:p>
                      <a:pPr algn="r" fontAlgn="ctr"/>
                      <a:r>
                        <a:rPr lang="en-US" altLang="zh-CN" sz="1400" b="0" i="0" u="none" strike="noStrike">
                          <a:solidFill>
                            <a:srgbClr val="000000"/>
                          </a:solidFill>
                          <a:effectLst/>
                          <a:latin typeface="+mj-ea"/>
                          <a:ea typeface="+mj-ea"/>
                        </a:rPr>
                        <a:t>47%</a:t>
                      </a:r>
                    </a:p>
                  </a:txBody>
                  <a:tcPr marL="9525" marR="9525" marT="9525" marB="0" anchor="ctr">
                    <a:solidFill>
                      <a:srgbClr val="FFFF00"/>
                    </a:solidFill>
                  </a:tcPr>
                </a:tc>
                <a:tc>
                  <a:txBody>
                    <a:bodyPr/>
                    <a:lstStyle/>
                    <a:p>
                      <a:pPr algn="r" fontAlgn="ctr"/>
                      <a:r>
                        <a:rPr lang="en-US" altLang="zh-CN" sz="1400" b="0" i="0" u="none" strike="noStrike" dirty="0">
                          <a:solidFill>
                            <a:srgbClr val="000000"/>
                          </a:solidFill>
                          <a:effectLst/>
                          <a:latin typeface="+mj-ea"/>
                          <a:ea typeface="+mj-ea"/>
                        </a:rPr>
                        <a:t>61%</a:t>
                      </a:r>
                    </a:p>
                  </a:txBody>
                  <a:tcPr marL="9525" marR="9525" marT="9525" marB="0" anchor="ctr">
                    <a:solidFill>
                      <a:srgbClr val="FFFF00"/>
                    </a:solidFill>
                  </a:tcPr>
                </a:tc>
                <a:tc>
                  <a:txBody>
                    <a:bodyPr/>
                    <a:lstStyle/>
                    <a:p>
                      <a:pPr algn="r" fontAlgn="ctr"/>
                      <a:r>
                        <a:rPr lang="en-US" altLang="zh-CN" sz="1400" b="0" i="0" u="none" strike="noStrike" dirty="0">
                          <a:solidFill>
                            <a:srgbClr val="000000"/>
                          </a:solidFill>
                          <a:effectLst/>
                          <a:latin typeface="+mj-ea"/>
                          <a:ea typeface="+mj-ea"/>
                        </a:rPr>
                        <a:t>55%</a:t>
                      </a:r>
                    </a:p>
                  </a:txBody>
                  <a:tcPr marL="9525" marR="9525" marT="9525" marB="0" anchor="ctr">
                    <a:solidFill>
                      <a:srgbClr val="FFFF00"/>
                    </a:solidFill>
                  </a:tcPr>
                </a:tc>
                <a:extLst>
                  <a:ext uri="{0D108BD9-81ED-4DB2-BD59-A6C34878D82A}">
                    <a16:rowId xmlns="" xmlns:a16="http://schemas.microsoft.com/office/drawing/2014/main" val="10003"/>
                  </a:ext>
                </a:extLst>
              </a:tr>
            </a:tbl>
          </a:graphicData>
        </a:graphic>
      </p:graphicFrame>
      <p:sp>
        <p:nvSpPr>
          <p:cNvPr id="22" name="文本框 21"/>
          <p:cNvSpPr txBox="1"/>
          <p:nvPr/>
        </p:nvSpPr>
        <p:spPr>
          <a:xfrm>
            <a:off x="89467" y="3744385"/>
            <a:ext cx="7775705" cy="646331"/>
          </a:xfrm>
          <a:prstGeom prst="rect">
            <a:avLst/>
          </a:prstGeom>
          <a:noFill/>
        </p:spPr>
        <p:txBody>
          <a:bodyPr wrap="square" rtlCol="0">
            <a:spAutoFit/>
          </a:bodyPr>
          <a:lstStyle/>
          <a:p>
            <a:r>
              <a:rPr lang="en-US" altLang="zh-CN" dirty="0">
                <a:latin typeface="+mj-ea"/>
                <a:ea typeface="+mj-ea"/>
              </a:rPr>
              <a:t>2021</a:t>
            </a:r>
            <a:r>
              <a:rPr lang="zh-CN" altLang="en-US" dirty="0">
                <a:latin typeface="+mj-ea"/>
                <a:ea typeface="+mj-ea"/>
              </a:rPr>
              <a:t>年至</a:t>
            </a:r>
            <a:r>
              <a:rPr lang="en-US" altLang="zh-CN" dirty="0">
                <a:latin typeface="+mj-ea"/>
                <a:ea typeface="+mj-ea"/>
              </a:rPr>
              <a:t>2025</a:t>
            </a:r>
            <a:r>
              <a:rPr lang="zh-CN" altLang="en-US" dirty="0">
                <a:latin typeface="+mj-ea"/>
                <a:ea typeface="+mj-ea"/>
              </a:rPr>
              <a:t>年每年收益都超越偏股基金指数的基金数量和比例</a:t>
            </a:r>
          </a:p>
          <a:p>
            <a:endParaRPr lang="zh-CN" altLang="en-US" dirty="0">
              <a:latin typeface="+mj-ea"/>
              <a:ea typeface="+mj-ea"/>
            </a:endParaRPr>
          </a:p>
        </p:txBody>
      </p:sp>
      <p:graphicFrame>
        <p:nvGraphicFramePr>
          <p:cNvPr id="23" name="表格 22"/>
          <p:cNvGraphicFramePr>
            <a:graphicFrameLocks noGrp="1"/>
          </p:cNvGraphicFramePr>
          <p:nvPr/>
        </p:nvGraphicFramePr>
        <p:xfrm>
          <a:off x="505461" y="4390716"/>
          <a:ext cx="6075539" cy="1904236"/>
        </p:xfrm>
        <a:graphic>
          <a:graphicData uri="http://schemas.openxmlformats.org/drawingml/2006/table">
            <a:tbl>
              <a:tblPr>
                <a:tableStyleId>{5C22544A-7EE6-4342-B048-85BDC9FD1C3A}</a:tableStyleId>
              </a:tblPr>
              <a:tblGrid>
                <a:gridCol w="1701151">
                  <a:extLst>
                    <a:ext uri="{9D8B030D-6E8A-4147-A177-3AD203B41FA5}">
                      <a16:colId xmlns="" xmlns:a16="http://schemas.microsoft.com/office/drawing/2014/main" val="20000"/>
                    </a:ext>
                  </a:extLst>
                </a:gridCol>
                <a:gridCol w="1145673">
                  <a:extLst>
                    <a:ext uri="{9D8B030D-6E8A-4147-A177-3AD203B41FA5}">
                      <a16:colId xmlns="" xmlns:a16="http://schemas.microsoft.com/office/drawing/2014/main" val="20001"/>
                    </a:ext>
                  </a:extLst>
                </a:gridCol>
                <a:gridCol w="1145673">
                  <a:extLst>
                    <a:ext uri="{9D8B030D-6E8A-4147-A177-3AD203B41FA5}">
                      <a16:colId xmlns="" xmlns:a16="http://schemas.microsoft.com/office/drawing/2014/main" val="20002"/>
                    </a:ext>
                  </a:extLst>
                </a:gridCol>
                <a:gridCol w="1145673">
                  <a:extLst>
                    <a:ext uri="{9D8B030D-6E8A-4147-A177-3AD203B41FA5}">
                      <a16:colId xmlns="" xmlns:a16="http://schemas.microsoft.com/office/drawing/2014/main" val="20003"/>
                    </a:ext>
                  </a:extLst>
                </a:gridCol>
                <a:gridCol w="937369">
                  <a:extLst>
                    <a:ext uri="{9D8B030D-6E8A-4147-A177-3AD203B41FA5}">
                      <a16:colId xmlns="" xmlns:a16="http://schemas.microsoft.com/office/drawing/2014/main" val="20004"/>
                    </a:ext>
                  </a:extLst>
                </a:gridCol>
              </a:tblGrid>
              <a:tr h="476059">
                <a:tc>
                  <a:txBody>
                    <a:bodyPr/>
                    <a:lstStyle/>
                    <a:p>
                      <a:pPr algn="l" fontAlgn="ctr"/>
                      <a:r>
                        <a:rPr lang="zh-CN" altLang="en-US" sz="1400" u="none" strike="noStrike" dirty="0">
                          <a:effectLst/>
                        </a:rPr>
                        <a:t>　</a:t>
                      </a:r>
                      <a:endParaRPr lang="zh-CN" altLang="en-US" sz="14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普通股票型</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偏股混合型</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a:effectLst/>
                        </a:rPr>
                        <a:t>灵活配置型</a:t>
                      </a:r>
                      <a:endParaRPr lang="zh-CN" altLang="en-US" sz="1400" b="1"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400" u="none" strike="noStrike" dirty="0">
                          <a:effectLst/>
                        </a:rPr>
                        <a:t>加总</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extLst>
                  <a:ext uri="{0D108BD9-81ED-4DB2-BD59-A6C34878D82A}">
                    <a16:rowId xmlns="" xmlns:a16="http://schemas.microsoft.com/office/drawing/2014/main" val="10000"/>
                  </a:ext>
                </a:extLst>
              </a:tr>
              <a:tr h="476059">
                <a:tc>
                  <a:txBody>
                    <a:bodyPr/>
                    <a:lstStyle/>
                    <a:p>
                      <a:pPr algn="l" fontAlgn="ctr"/>
                      <a:r>
                        <a:rPr lang="zh-CN" altLang="en-US" sz="1400" u="none" strike="noStrike" dirty="0">
                          <a:effectLst/>
                        </a:rPr>
                        <a:t>数量</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16</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27</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51</a:t>
                      </a: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94</a:t>
                      </a:r>
                    </a:p>
                  </a:txBody>
                  <a:tcPr marL="9525" marR="9525" marT="9525" marB="0" anchor="ctr"/>
                </a:tc>
                <a:extLst>
                  <a:ext uri="{0D108BD9-81ED-4DB2-BD59-A6C34878D82A}">
                    <a16:rowId xmlns="" xmlns:a16="http://schemas.microsoft.com/office/drawing/2014/main" val="10001"/>
                  </a:ext>
                </a:extLst>
              </a:tr>
              <a:tr h="476059">
                <a:tc>
                  <a:txBody>
                    <a:bodyPr/>
                    <a:lstStyle/>
                    <a:p>
                      <a:pPr algn="l" fontAlgn="ctr"/>
                      <a:r>
                        <a:rPr lang="zh-CN" altLang="en-US" sz="1400" u="none" strike="noStrike" dirty="0">
                          <a:effectLst/>
                        </a:rPr>
                        <a:t>总数</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a:solidFill>
                            <a:srgbClr val="000000"/>
                          </a:solidFill>
                          <a:effectLst/>
                          <a:latin typeface="+mj-ea"/>
                          <a:ea typeface="+mj-ea"/>
                        </a:rPr>
                        <a:t>379</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1067</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1290</a:t>
                      </a:r>
                    </a:p>
                  </a:txBody>
                  <a:tcPr marL="9525" marR="9525" marT="9525" marB="0" anchor="ctr"/>
                </a:tc>
                <a:tc>
                  <a:txBody>
                    <a:bodyPr/>
                    <a:lstStyle/>
                    <a:p>
                      <a:pPr algn="r" fontAlgn="ctr"/>
                      <a:r>
                        <a:rPr lang="en-US" altLang="zh-CN" sz="1400" b="0" i="0" u="none" strike="noStrike" dirty="0">
                          <a:solidFill>
                            <a:srgbClr val="000000"/>
                          </a:solidFill>
                          <a:effectLst/>
                          <a:latin typeface="+mj-ea"/>
                          <a:ea typeface="+mj-ea"/>
                        </a:rPr>
                        <a:t>2736</a:t>
                      </a:r>
                    </a:p>
                  </a:txBody>
                  <a:tcPr marL="9525" marR="9525" marT="9525" marB="0" anchor="ctr"/>
                </a:tc>
                <a:extLst>
                  <a:ext uri="{0D108BD9-81ED-4DB2-BD59-A6C34878D82A}">
                    <a16:rowId xmlns="" xmlns:a16="http://schemas.microsoft.com/office/drawing/2014/main" val="10002"/>
                  </a:ext>
                </a:extLst>
              </a:tr>
              <a:tr h="476059">
                <a:tc>
                  <a:txBody>
                    <a:bodyPr/>
                    <a:lstStyle/>
                    <a:p>
                      <a:pPr algn="l" fontAlgn="ctr"/>
                      <a:r>
                        <a:rPr lang="zh-CN" altLang="en-US" sz="1400" u="none" strike="noStrike" dirty="0">
                          <a:effectLst/>
                        </a:rPr>
                        <a:t>比率</a:t>
                      </a:r>
                      <a:endParaRPr lang="zh-CN" altLang="en-US" sz="1400" b="1"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r" fontAlgn="ctr"/>
                      <a:r>
                        <a:rPr lang="en-US" altLang="zh-CN" sz="1400" b="0" i="0" u="none" strike="noStrike" dirty="0">
                          <a:solidFill>
                            <a:srgbClr val="FF0000"/>
                          </a:solidFill>
                          <a:effectLst/>
                          <a:latin typeface="+mj-ea"/>
                          <a:ea typeface="+mj-ea"/>
                        </a:rPr>
                        <a:t>4%</a:t>
                      </a:r>
                    </a:p>
                  </a:txBody>
                  <a:tcPr marL="9525" marR="9525" marT="9525" marB="0" anchor="ctr">
                    <a:solidFill>
                      <a:srgbClr val="FFFF00"/>
                    </a:solidFill>
                  </a:tcPr>
                </a:tc>
                <a:tc>
                  <a:txBody>
                    <a:bodyPr/>
                    <a:lstStyle/>
                    <a:p>
                      <a:pPr algn="r" fontAlgn="ctr"/>
                      <a:r>
                        <a:rPr lang="en-US" altLang="zh-CN" sz="1400" b="0" i="0" u="none" strike="noStrike" dirty="0">
                          <a:solidFill>
                            <a:srgbClr val="FF0000"/>
                          </a:solidFill>
                          <a:effectLst/>
                          <a:latin typeface="+mj-ea"/>
                          <a:ea typeface="+mj-ea"/>
                        </a:rPr>
                        <a:t>3%</a:t>
                      </a:r>
                    </a:p>
                  </a:txBody>
                  <a:tcPr marL="9525" marR="9525" marT="9525" marB="0" anchor="ctr">
                    <a:solidFill>
                      <a:srgbClr val="FFFF00"/>
                    </a:solidFill>
                  </a:tcPr>
                </a:tc>
                <a:tc>
                  <a:txBody>
                    <a:bodyPr/>
                    <a:lstStyle/>
                    <a:p>
                      <a:pPr algn="r" fontAlgn="ctr"/>
                      <a:r>
                        <a:rPr lang="en-US" altLang="zh-CN" sz="1400" b="0" i="0" u="none" strike="noStrike" dirty="0">
                          <a:solidFill>
                            <a:srgbClr val="FF0000"/>
                          </a:solidFill>
                          <a:effectLst/>
                          <a:latin typeface="+mj-ea"/>
                          <a:ea typeface="+mj-ea"/>
                        </a:rPr>
                        <a:t>4%</a:t>
                      </a:r>
                    </a:p>
                  </a:txBody>
                  <a:tcPr marL="9525" marR="9525" marT="9525" marB="0" anchor="ctr">
                    <a:solidFill>
                      <a:srgbClr val="FFFF00"/>
                    </a:solidFill>
                  </a:tcPr>
                </a:tc>
                <a:tc>
                  <a:txBody>
                    <a:bodyPr/>
                    <a:lstStyle/>
                    <a:p>
                      <a:pPr algn="r" fontAlgn="ctr"/>
                      <a:r>
                        <a:rPr lang="en-US" altLang="zh-CN" sz="1400" b="0" i="0" u="none" strike="noStrike" dirty="0">
                          <a:solidFill>
                            <a:srgbClr val="FF0000"/>
                          </a:solidFill>
                          <a:effectLst/>
                          <a:latin typeface="+mj-ea"/>
                          <a:ea typeface="+mj-ea"/>
                        </a:rPr>
                        <a:t>3%</a:t>
                      </a:r>
                    </a:p>
                  </a:txBody>
                  <a:tcPr marL="9525" marR="9525" marT="9525" marB="0" anchor="ctr">
                    <a:solidFill>
                      <a:srgbClr val="FFFF00"/>
                    </a:solidFill>
                  </a:tcPr>
                </a:tc>
                <a:extLst>
                  <a:ext uri="{0D108BD9-81ED-4DB2-BD59-A6C34878D82A}">
                    <a16:rowId xmlns="" xmlns:a16="http://schemas.microsoft.com/office/drawing/2014/main" val="10003"/>
                  </a:ext>
                </a:extLst>
              </a:tr>
            </a:tbl>
          </a:graphicData>
        </a:graphic>
      </p:graphicFrame>
      <p:sp>
        <p:nvSpPr>
          <p:cNvPr id="24" name="文本框 23"/>
          <p:cNvSpPr txBox="1"/>
          <p:nvPr/>
        </p:nvSpPr>
        <p:spPr>
          <a:xfrm>
            <a:off x="7179732" y="1070786"/>
            <a:ext cx="4447823" cy="507831"/>
          </a:xfrm>
          <a:prstGeom prst="rect">
            <a:avLst/>
          </a:prstGeom>
          <a:noFill/>
        </p:spPr>
        <p:txBody>
          <a:bodyPr wrap="square">
            <a:spAutoFit/>
          </a:bodyPr>
          <a:lstStyle/>
          <a:p>
            <a:pPr algn="ctr">
              <a:lnSpc>
                <a:spcPct val="150000"/>
              </a:lnSpc>
              <a:spcAft>
                <a:spcPts val="530"/>
              </a:spcAft>
              <a:tabLst>
                <a:tab pos="901065" algn="l"/>
              </a:tabLst>
              <a:defRPr/>
            </a:pPr>
            <a:r>
              <a:rPr lang="zh-CN" altLang="en-US" dirty="0">
                <a:solidFill>
                  <a:prstClr val="black"/>
                </a:solidFill>
                <a:latin typeface="微软雅黑" panose="020B0503020204020204" pitchFamily="34" charset="-122"/>
                <a:ea typeface="微软雅黑" panose="020B0503020204020204" pitchFamily="34" charset="-122"/>
                <a:cs typeface="+mn-ea"/>
              </a:rPr>
              <a:t>偏股基金指数在主动偏股基金中的分位数</a:t>
            </a:r>
            <a:endParaRPr lang="en-US" altLang="zh-CN" dirty="0">
              <a:solidFill>
                <a:prstClr val="black"/>
              </a:solidFill>
              <a:latin typeface="微软雅黑" panose="020B0503020204020204" pitchFamily="34" charset="-122"/>
              <a:ea typeface="微软雅黑" panose="020B0503020204020204" pitchFamily="34" charset="-122"/>
              <a:cs typeface="+mn-ea"/>
            </a:endParaRPr>
          </a:p>
        </p:txBody>
      </p:sp>
      <p:graphicFrame>
        <p:nvGraphicFramePr>
          <p:cNvPr id="25" name="表格 24"/>
          <p:cNvGraphicFramePr>
            <a:graphicFrameLocks noGrp="1"/>
          </p:cNvGraphicFramePr>
          <p:nvPr/>
        </p:nvGraphicFramePr>
        <p:xfrm>
          <a:off x="7264262" y="1728390"/>
          <a:ext cx="4340715" cy="4048239"/>
        </p:xfrm>
        <a:graphic>
          <a:graphicData uri="http://schemas.openxmlformats.org/drawingml/2006/table">
            <a:tbl>
              <a:tblPr>
                <a:tableStyleId>{5C22544A-7EE6-4342-B048-85BDC9FD1C3A}</a:tableStyleId>
              </a:tblPr>
              <a:tblGrid>
                <a:gridCol w="1691794">
                  <a:extLst>
                    <a:ext uri="{9D8B030D-6E8A-4147-A177-3AD203B41FA5}">
                      <a16:colId xmlns="" xmlns:a16="http://schemas.microsoft.com/office/drawing/2014/main" val="20000"/>
                    </a:ext>
                  </a:extLst>
                </a:gridCol>
                <a:gridCol w="2648921">
                  <a:extLst>
                    <a:ext uri="{9D8B030D-6E8A-4147-A177-3AD203B41FA5}">
                      <a16:colId xmlns="" xmlns:a16="http://schemas.microsoft.com/office/drawing/2014/main" val="20001"/>
                    </a:ext>
                  </a:extLst>
                </a:gridCol>
              </a:tblGrid>
              <a:tr h="311403">
                <a:tc>
                  <a:txBody>
                    <a:bodyPr/>
                    <a:lstStyle/>
                    <a:p>
                      <a:pPr algn="ctr" fontAlgn="b"/>
                      <a:endParaRPr lang="zh-CN" altLang="en-US" sz="1600" b="1" i="0" u="none" strike="noStrike" dirty="0">
                        <a:solidFill>
                          <a:schemeClr val="bg1"/>
                        </a:solidFill>
                        <a:effectLst/>
                        <a:latin typeface="+mj-ea"/>
                        <a:ea typeface="+mj-ea"/>
                      </a:endParaRPr>
                    </a:p>
                  </a:txBody>
                  <a:tcPr marL="9525" marR="9525" marT="9525" marB="0" anchor="b">
                    <a:solidFill>
                      <a:schemeClr val="tx2"/>
                    </a:solidFill>
                  </a:tcPr>
                </a:tc>
                <a:tc>
                  <a:txBody>
                    <a:bodyPr/>
                    <a:lstStyle/>
                    <a:p>
                      <a:pPr algn="ctr" fontAlgn="b"/>
                      <a:r>
                        <a:rPr lang="zh-CN" altLang="en-US" sz="1600" b="1" u="none" strike="noStrike" dirty="0">
                          <a:solidFill>
                            <a:schemeClr val="bg1"/>
                          </a:solidFill>
                          <a:effectLst/>
                          <a:latin typeface="+mj-ea"/>
                          <a:ea typeface="+mj-ea"/>
                        </a:rPr>
                        <a:t>偏股基金指数的分位数</a:t>
                      </a:r>
                      <a:endParaRPr lang="zh-CN" altLang="en-US" sz="1600" b="1" i="0" u="none" strike="noStrike" dirty="0">
                        <a:solidFill>
                          <a:schemeClr val="bg1"/>
                        </a:solidFill>
                        <a:effectLst/>
                        <a:latin typeface="+mj-ea"/>
                        <a:ea typeface="+mj-ea"/>
                      </a:endParaRPr>
                    </a:p>
                  </a:txBody>
                  <a:tcPr marL="9525" marR="9525" marT="9525" marB="0" anchor="b">
                    <a:solidFill>
                      <a:schemeClr val="tx2"/>
                    </a:solidFill>
                  </a:tcPr>
                </a:tc>
                <a:extLst>
                  <a:ext uri="{0D108BD9-81ED-4DB2-BD59-A6C34878D82A}">
                    <a16:rowId xmlns="" xmlns:a16="http://schemas.microsoft.com/office/drawing/2014/main" val="10000"/>
                  </a:ext>
                </a:extLst>
              </a:tr>
              <a:tr h="311403">
                <a:tc>
                  <a:txBody>
                    <a:bodyPr/>
                    <a:lstStyle/>
                    <a:p>
                      <a:pPr algn="ctr" fontAlgn="b"/>
                      <a:r>
                        <a:rPr lang="en-US" altLang="zh-CN" sz="1600" b="1" u="none" strike="noStrike" dirty="0">
                          <a:solidFill>
                            <a:schemeClr val="bg1"/>
                          </a:solidFill>
                          <a:effectLst/>
                          <a:latin typeface="+mj-ea"/>
                          <a:ea typeface="+mj-ea"/>
                        </a:rPr>
                        <a:t>2025</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42.5%</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1"/>
                  </a:ext>
                </a:extLst>
              </a:tr>
              <a:tr h="311403">
                <a:tc>
                  <a:txBody>
                    <a:bodyPr/>
                    <a:lstStyle/>
                    <a:p>
                      <a:pPr algn="ctr" fontAlgn="b"/>
                      <a:r>
                        <a:rPr lang="en-US" altLang="zh-CN" sz="1600" b="1" u="none" strike="noStrike" dirty="0">
                          <a:solidFill>
                            <a:schemeClr val="bg1"/>
                          </a:solidFill>
                          <a:effectLst/>
                          <a:latin typeface="+mj-ea"/>
                          <a:ea typeface="+mj-ea"/>
                        </a:rPr>
                        <a:t>2024</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49.5%</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2"/>
                  </a:ext>
                </a:extLst>
              </a:tr>
              <a:tr h="311403">
                <a:tc>
                  <a:txBody>
                    <a:bodyPr/>
                    <a:lstStyle/>
                    <a:p>
                      <a:pPr algn="ctr" fontAlgn="b"/>
                      <a:r>
                        <a:rPr lang="en-US" altLang="zh-CN" sz="1600" b="1" u="none" strike="noStrike" dirty="0">
                          <a:solidFill>
                            <a:schemeClr val="bg1"/>
                          </a:solidFill>
                          <a:effectLst/>
                          <a:latin typeface="+mj-ea"/>
                          <a:ea typeface="+mj-ea"/>
                        </a:rPr>
                        <a:t>2023</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53.9%</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3"/>
                  </a:ext>
                </a:extLst>
              </a:tr>
              <a:tr h="311403">
                <a:tc>
                  <a:txBody>
                    <a:bodyPr/>
                    <a:lstStyle/>
                    <a:p>
                      <a:pPr algn="ctr" fontAlgn="b"/>
                      <a:r>
                        <a:rPr lang="en-US" altLang="zh-CN" sz="1600" b="1" u="none" strike="noStrike" dirty="0">
                          <a:solidFill>
                            <a:schemeClr val="bg1"/>
                          </a:solidFill>
                          <a:effectLst/>
                          <a:latin typeface="+mj-ea"/>
                          <a:ea typeface="+mj-ea"/>
                        </a:rPr>
                        <a:t>2022</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57.5%</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4"/>
                  </a:ext>
                </a:extLst>
              </a:tr>
              <a:tr h="311403">
                <a:tc>
                  <a:txBody>
                    <a:bodyPr/>
                    <a:lstStyle/>
                    <a:p>
                      <a:pPr algn="ctr" fontAlgn="b"/>
                      <a:r>
                        <a:rPr lang="en-US" altLang="zh-CN" sz="1600" b="1" u="none" strike="noStrike" dirty="0">
                          <a:solidFill>
                            <a:schemeClr val="bg1"/>
                          </a:solidFill>
                          <a:effectLst/>
                          <a:latin typeface="+mj-ea"/>
                          <a:ea typeface="+mj-ea"/>
                        </a:rPr>
                        <a:t>2021</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48.4%</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5"/>
                  </a:ext>
                </a:extLst>
              </a:tr>
              <a:tr h="311403">
                <a:tc>
                  <a:txBody>
                    <a:bodyPr/>
                    <a:lstStyle/>
                    <a:p>
                      <a:pPr algn="ctr" fontAlgn="b"/>
                      <a:r>
                        <a:rPr lang="en-US" altLang="zh-CN" sz="1600" b="1" u="none" strike="noStrike" dirty="0">
                          <a:solidFill>
                            <a:schemeClr val="bg1"/>
                          </a:solidFill>
                          <a:effectLst/>
                          <a:latin typeface="+mj-ea"/>
                          <a:ea typeface="+mj-ea"/>
                        </a:rPr>
                        <a:t>2020</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53.0%</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6"/>
                  </a:ext>
                </a:extLst>
              </a:tr>
              <a:tr h="311403">
                <a:tc>
                  <a:txBody>
                    <a:bodyPr/>
                    <a:lstStyle/>
                    <a:p>
                      <a:pPr algn="ctr" fontAlgn="b"/>
                      <a:r>
                        <a:rPr lang="en-US" altLang="zh-CN" sz="1600" b="1" u="none" strike="noStrike" dirty="0">
                          <a:solidFill>
                            <a:schemeClr val="bg1"/>
                          </a:solidFill>
                          <a:effectLst/>
                          <a:latin typeface="+mj-ea"/>
                          <a:ea typeface="+mj-ea"/>
                        </a:rPr>
                        <a:t>2019</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44.8%</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7"/>
                  </a:ext>
                </a:extLst>
              </a:tr>
              <a:tr h="311403">
                <a:tc>
                  <a:txBody>
                    <a:bodyPr/>
                    <a:lstStyle/>
                    <a:p>
                      <a:pPr algn="ctr" fontAlgn="b"/>
                      <a:r>
                        <a:rPr lang="en-US" altLang="zh-CN" sz="1600" b="1" u="none" strike="noStrike" dirty="0">
                          <a:solidFill>
                            <a:schemeClr val="bg1"/>
                          </a:solidFill>
                          <a:effectLst/>
                          <a:latin typeface="+mj-ea"/>
                          <a:ea typeface="+mj-ea"/>
                        </a:rPr>
                        <a:t>2018</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57.4%</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8"/>
                  </a:ext>
                </a:extLst>
              </a:tr>
              <a:tr h="311403">
                <a:tc>
                  <a:txBody>
                    <a:bodyPr/>
                    <a:lstStyle/>
                    <a:p>
                      <a:pPr algn="ctr" fontAlgn="b"/>
                      <a:r>
                        <a:rPr lang="en-US" altLang="zh-CN" sz="1600" b="1" u="none" strike="noStrike" dirty="0">
                          <a:solidFill>
                            <a:schemeClr val="bg1"/>
                          </a:solidFill>
                          <a:effectLst/>
                          <a:latin typeface="+mj-ea"/>
                          <a:ea typeface="+mj-ea"/>
                        </a:rPr>
                        <a:t>2017</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43.8%</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09"/>
                  </a:ext>
                </a:extLst>
              </a:tr>
              <a:tr h="311403">
                <a:tc>
                  <a:txBody>
                    <a:bodyPr/>
                    <a:lstStyle/>
                    <a:p>
                      <a:pPr algn="ctr" fontAlgn="b"/>
                      <a:r>
                        <a:rPr lang="en-US" altLang="zh-CN" sz="1600" b="1" u="none" strike="noStrike" dirty="0">
                          <a:solidFill>
                            <a:schemeClr val="bg1"/>
                          </a:solidFill>
                          <a:effectLst/>
                          <a:latin typeface="+mj-ea"/>
                          <a:ea typeface="+mj-ea"/>
                        </a:rPr>
                        <a:t>2016</a:t>
                      </a:r>
                      <a:r>
                        <a:rPr lang="zh-CN" altLang="en-US" sz="1600" b="1" u="none" strike="noStrike" dirty="0">
                          <a:solidFill>
                            <a:schemeClr val="bg1"/>
                          </a:solidFill>
                          <a:effectLst/>
                          <a:latin typeface="+mj-ea"/>
                          <a:ea typeface="+mj-ea"/>
                        </a:rPr>
                        <a:t>年</a:t>
                      </a:r>
                      <a:endParaRPr lang="zh-CN" altLang="en-US" sz="1600" b="1" i="0" u="none" strike="noStrike" dirty="0">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52.0%</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10"/>
                  </a:ext>
                </a:extLst>
              </a:tr>
              <a:tr h="311403">
                <a:tc>
                  <a:txBody>
                    <a:bodyPr/>
                    <a:lstStyle/>
                    <a:p>
                      <a:pPr algn="ctr" fontAlgn="b"/>
                      <a:r>
                        <a:rPr lang="en-US" altLang="zh-CN" sz="1600" b="1" u="none" strike="noStrike">
                          <a:solidFill>
                            <a:schemeClr val="bg1"/>
                          </a:solidFill>
                          <a:effectLst/>
                          <a:latin typeface="+mj-ea"/>
                          <a:ea typeface="+mj-ea"/>
                        </a:rPr>
                        <a:t>2015</a:t>
                      </a:r>
                      <a:r>
                        <a:rPr lang="zh-CN" altLang="en-US" sz="1600" b="1" u="none" strike="noStrike">
                          <a:solidFill>
                            <a:schemeClr val="bg1"/>
                          </a:solidFill>
                          <a:effectLst/>
                          <a:latin typeface="+mj-ea"/>
                          <a:ea typeface="+mj-ea"/>
                        </a:rPr>
                        <a:t>年</a:t>
                      </a:r>
                      <a:endParaRPr lang="zh-CN" altLang="en-US" sz="1600" b="1" i="0" u="none" strike="noStrike">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52.8%</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11"/>
                  </a:ext>
                </a:extLst>
              </a:tr>
              <a:tr h="311403">
                <a:tc>
                  <a:txBody>
                    <a:bodyPr/>
                    <a:lstStyle/>
                    <a:p>
                      <a:pPr algn="ctr" fontAlgn="b"/>
                      <a:r>
                        <a:rPr lang="en-US" altLang="zh-CN" sz="1600" b="1" u="none" strike="noStrike">
                          <a:solidFill>
                            <a:schemeClr val="bg1"/>
                          </a:solidFill>
                          <a:effectLst/>
                          <a:latin typeface="+mj-ea"/>
                          <a:ea typeface="+mj-ea"/>
                        </a:rPr>
                        <a:t>2014</a:t>
                      </a:r>
                      <a:r>
                        <a:rPr lang="zh-CN" altLang="en-US" sz="1600" b="1" u="none" strike="noStrike">
                          <a:solidFill>
                            <a:schemeClr val="bg1"/>
                          </a:solidFill>
                          <a:effectLst/>
                          <a:latin typeface="+mj-ea"/>
                          <a:ea typeface="+mj-ea"/>
                        </a:rPr>
                        <a:t>年</a:t>
                      </a:r>
                      <a:endParaRPr lang="zh-CN" altLang="en-US" sz="1600" b="1" i="0" u="none" strike="noStrike">
                        <a:solidFill>
                          <a:schemeClr val="bg1"/>
                        </a:solidFill>
                        <a:effectLst/>
                        <a:latin typeface="+mj-ea"/>
                        <a:ea typeface="+mj-ea"/>
                      </a:endParaRPr>
                    </a:p>
                  </a:txBody>
                  <a:tcPr marL="9525" marR="9525" marT="9525" marB="0" anchor="ctr">
                    <a:solidFill>
                      <a:schemeClr val="tx2"/>
                    </a:solidFill>
                  </a:tcPr>
                </a:tc>
                <a:tc>
                  <a:txBody>
                    <a:bodyPr/>
                    <a:lstStyle/>
                    <a:p>
                      <a:pPr algn="ctr" fontAlgn="b"/>
                      <a:r>
                        <a:rPr lang="en-US" altLang="zh-CN" sz="1600" u="none" strike="noStrike" dirty="0">
                          <a:effectLst/>
                          <a:latin typeface="+mj-ea"/>
                          <a:ea typeface="+mj-ea"/>
                        </a:rPr>
                        <a:t>50.4%</a:t>
                      </a:r>
                      <a:endParaRPr lang="en-US" altLang="zh-CN" sz="1600" b="0" i="0" u="none" strike="noStrike" dirty="0">
                        <a:solidFill>
                          <a:srgbClr val="000000"/>
                        </a:solidFill>
                        <a:effectLst/>
                        <a:latin typeface="+mj-ea"/>
                        <a:ea typeface="+mj-ea"/>
                      </a:endParaRPr>
                    </a:p>
                  </a:txBody>
                  <a:tcPr marL="9525" marR="9525" marT="9525" marB="0" anchor="ctr"/>
                </a:tc>
                <a:extLst>
                  <a:ext uri="{0D108BD9-81ED-4DB2-BD59-A6C34878D82A}">
                    <a16:rowId xmlns="" xmlns:a16="http://schemas.microsoft.com/office/drawing/2014/main" val="10012"/>
                  </a:ext>
                </a:extLst>
              </a:tr>
            </a:tbl>
          </a:graphicData>
        </a:graphic>
      </p:graphicFrame>
      <p:sp>
        <p:nvSpPr>
          <p:cNvPr id="2" name="文本框 1"/>
          <p:cNvSpPr txBox="1"/>
          <p:nvPr/>
        </p:nvSpPr>
        <p:spPr>
          <a:xfrm>
            <a:off x="336331" y="6585306"/>
            <a:ext cx="5194673" cy="253916"/>
          </a:xfrm>
          <a:prstGeom prst="rect">
            <a:avLst/>
          </a:prstGeom>
          <a:noFill/>
        </p:spPr>
        <p:txBody>
          <a:bodyPr wrap="square" rtlCol="0">
            <a:spAutoFit/>
          </a:bodyPr>
          <a:lstStyle/>
          <a:p>
            <a:r>
              <a:rPr lang="zh-CN" altLang="en-US" sz="1050" dirty="0">
                <a:latin typeface="+mj-ea"/>
                <a:ea typeface="+mj-ea"/>
              </a:rPr>
              <a:t>数据来源：</a:t>
            </a:r>
            <a:r>
              <a:rPr lang="en-US" altLang="zh-CN" sz="1050" dirty="0">
                <a:latin typeface="+mj-ea"/>
                <a:ea typeface="+mj-ea"/>
              </a:rPr>
              <a:t>Wind</a:t>
            </a:r>
            <a:r>
              <a:rPr lang="zh-CN" altLang="en-US" sz="1050" dirty="0">
                <a:latin typeface="+mj-ea"/>
                <a:ea typeface="+mj-ea"/>
              </a:rPr>
              <a:t>。</a:t>
            </a:r>
            <a:r>
              <a:rPr lang="en-US" altLang="zh-CN" sz="1050" dirty="0">
                <a:latin typeface="+mj-ea"/>
                <a:ea typeface="+mj-ea"/>
              </a:rPr>
              <a:t>2014.1.1-2025.12.31</a:t>
            </a:r>
            <a:r>
              <a:rPr lang="zh-CN" altLang="en-US" sz="1050" dirty="0">
                <a:latin typeface="+mj-ea"/>
                <a:ea typeface="+mj-ea"/>
              </a:rPr>
              <a:t>。</a:t>
            </a:r>
            <a:r>
              <a:rPr lang="zh-CN" altLang="en-US" sz="1050" b="1" dirty="0">
                <a:latin typeface="+mj-ea"/>
                <a:ea typeface="+mj-ea"/>
              </a:rPr>
              <a:t>基金过往表现不预示未来收益。</a:t>
            </a:r>
          </a:p>
        </p:txBody>
      </p:sp>
      <p:sp>
        <p:nvSpPr>
          <p:cNvPr id="3" name="文本框 2"/>
          <p:cNvSpPr txBox="1"/>
          <p:nvPr/>
        </p:nvSpPr>
        <p:spPr>
          <a:xfrm>
            <a:off x="4944294" y="6597860"/>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 xmlns:a16="http://schemas.microsoft.com/office/drawing/2014/main" id="{C8631F32-1035-B751-AEF5-8C4550C53151}"/>
              </a:ext>
            </a:extLst>
          </p:cNvPr>
          <p:cNvSpPr txBox="1"/>
          <p:nvPr/>
        </p:nvSpPr>
        <p:spPr>
          <a:xfrm>
            <a:off x="223870" y="6382388"/>
            <a:ext cx="10913565" cy="369332"/>
          </a:xfrm>
          <a:prstGeom prst="rect">
            <a:avLst/>
          </a:prstGeom>
          <a:noFill/>
        </p:spPr>
        <p:txBody>
          <a:bodyPr wrap="none" rtlCol="0">
            <a:spAutoFit/>
          </a:bodyPr>
          <a:lstStyle/>
          <a:p>
            <a:r>
              <a:rPr lang="zh-CN" altLang="en-US" sz="900" dirty="0">
                <a:highlight>
                  <a:srgbClr val="FFFF00"/>
                </a:highlight>
                <a:latin typeface="+mj-ea"/>
                <a:ea typeface="+mj-ea"/>
              </a:rPr>
              <a:t>注：</a:t>
            </a:r>
            <a:r>
              <a:rPr lang="zh-CN" altLang="zh-CN" sz="900" dirty="0">
                <a:highlight>
                  <a:srgbClr val="FFFF00"/>
                </a:highlight>
                <a:latin typeface="+mj-ea"/>
                <a:ea typeface="+mj-ea"/>
              </a:rPr>
              <a:t>依据基金合同约定</a:t>
            </a:r>
            <a:r>
              <a:rPr lang="zh-CN" altLang="en-US" sz="900" dirty="0">
                <a:highlight>
                  <a:srgbClr val="FFFF00"/>
                </a:highlight>
                <a:latin typeface="+mj-ea"/>
                <a:ea typeface="+mj-ea"/>
              </a:rPr>
              <a:t>，</a:t>
            </a:r>
            <a:r>
              <a:rPr lang="zh-CN" altLang="zh-CN" sz="900" dirty="0">
                <a:highlight>
                  <a:srgbClr val="FFFF00"/>
                </a:highlight>
                <a:latin typeface="+mj-ea"/>
                <a:ea typeface="+mj-ea"/>
              </a:rPr>
              <a:t>普通股票型股票资产占基金资产的比例不低于80%</a:t>
            </a:r>
            <a:r>
              <a:rPr lang="zh-CN" altLang="en-US" sz="900" dirty="0">
                <a:highlight>
                  <a:srgbClr val="FFFF00"/>
                </a:highlight>
                <a:latin typeface="+mj-ea"/>
                <a:ea typeface="+mj-ea"/>
              </a:rPr>
              <a:t>，</a:t>
            </a:r>
            <a:r>
              <a:rPr lang="zh-CN" altLang="zh-CN" sz="900" dirty="0">
                <a:highlight>
                  <a:srgbClr val="FFFF00"/>
                </a:highlight>
                <a:latin typeface="+mj-ea"/>
                <a:ea typeface="+mj-ea"/>
              </a:rPr>
              <a:t>偏股混合型​通常股票资产占基金资产的比例范围为60%-95%​ </a:t>
            </a:r>
            <a:r>
              <a:rPr lang="zh-CN" altLang="en-US" sz="900" dirty="0">
                <a:highlight>
                  <a:srgbClr val="FFFF00"/>
                </a:highlight>
                <a:latin typeface="+mj-ea"/>
                <a:ea typeface="+mj-ea"/>
              </a:rPr>
              <a:t>，</a:t>
            </a:r>
            <a:r>
              <a:rPr lang="zh-CN" altLang="zh-CN" sz="900" dirty="0">
                <a:highlight>
                  <a:srgbClr val="FFFF00"/>
                </a:highlight>
                <a:latin typeface="+mj-ea"/>
                <a:ea typeface="+mj-ea"/>
              </a:rPr>
              <a:t>灵活配置型股票资产占基金资产的比例范围非常宽泛，常见为0-95%。</a:t>
            </a:r>
          </a:p>
          <a:p>
            <a:endParaRPr lang="zh-CN" altLang="en-US" sz="900" dirty="0">
              <a:highlight>
                <a:srgbClr val="FFFF00"/>
              </a:highlight>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58585" y="287933"/>
            <a:ext cx="7795192" cy="430887"/>
          </a:xfrm>
          <a:prstGeom prst="rect">
            <a:avLst/>
          </a:prstGeom>
          <a:noFill/>
        </p:spPr>
        <p:txBody>
          <a:bodyPr wrap="square" rtlCol="0">
            <a:spAutoFit/>
          </a:bodyPr>
          <a:lstStyle/>
          <a:p>
            <a:r>
              <a:rPr lang="en-US" altLang="zh-CN" sz="2200" b="1" dirty="0" smtClean="0">
                <a:solidFill>
                  <a:srgbClr val="B83835"/>
                </a:solidFill>
                <a:latin typeface="微软雅黑" panose="020B0503020204020204" pitchFamily="34" charset="-122"/>
                <a:ea typeface="微软雅黑" panose="020B0503020204020204" pitchFamily="34" charset="-122"/>
                <a:sym typeface="+mn-ea"/>
              </a:rPr>
              <a:t>930950</a:t>
            </a:r>
            <a:r>
              <a:rPr lang="zh-CN" altLang="en-US" sz="2200" b="1" dirty="0" smtClean="0">
                <a:solidFill>
                  <a:srgbClr val="B83835"/>
                </a:solidFill>
                <a:latin typeface="微软雅黑" panose="020B0503020204020204" pitchFamily="34" charset="-122"/>
                <a:ea typeface="微软雅黑" panose="020B0503020204020204" pitchFamily="34" charset="-122"/>
                <a:sym typeface="+mn-ea"/>
              </a:rPr>
              <a:t>行业仓位探测：</a:t>
            </a:r>
            <a:r>
              <a:rPr lang="zh-CN" altLang="en-US" sz="2200" b="1" dirty="0" smtClean="0">
                <a:latin typeface="微软雅黑" panose="020B0503020204020204" pitchFamily="34" charset="-122"/>
                <a:ea typeface="微软雅黑" panose="020B0503020204020204" pitchFamily="34" charset="-122"/>
                <a:sym typeface="+mn-ea"/>
              </a:rPr>
              <a:t>跟踪指数的变化</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341554" y="66746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46" name="Picture 45" descr="930950_sector_allocation.png"/>
          <p:cNvPicPr>
            <a:picLocks noChangeAspect="1"/>
          </p:cNvPicPr>
          <p:nvPr/>
        </p:nvPicPr>
        <p:blipFill>
          <a:blip r:embed="rId5"/>
          <a:stretch>
            <a:fillRect/>
          </a:stretch>
        </p:blipFill>
        <p:spPr>
          <a:xfrm>
            <a:off x="583695" y="863997"/>
            <a:ext cx="10047729" cy="5576132"/>
          </a:xfrm>
          <a:prstGeom prst="rect">
            <a:avLst/>
          </a:prstGeom>
        </p:spPr>
      </p:pic>
    </p:spTree>
    <p:extLst>
      <p:ext uri="{BB962C8B-B14F-4D97-AF65-F5344CB8AC3E}">
        <p14:creationId xmlns:p14="http://schemas.microsoft.com/office/powerpoint/2010/main" val="1273511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58584" y="287933"/>
            <a:ext cx="9908029" cy="430887"/>
          </a:xfrm>
          <a:prstGeom prst="rect">
            <a:avLst/>
          </a:prstGeom>
          <a:noFill/>
        </p:spPr>
        <p:txBody>
          <a:bodyPr wrap="square" rtlCol="0">
            <a:spAutoFit/>
          </a:bodyPr>
          <a:lstStyle/>
          <a:p>
            <a:r>
              <a:rPr lang="zh-CN" altLang="en-US" sz="2200" b="1" dirty="0" smtClean="0">
                <a:solidFill>
                  <a:srgbClr val="B83835"/>
                </a:solidFill>
                <a:latin typeface="微软雅黑" panose="020B0503020204020204" pitchFamily="34" charset="-122"/>
                <a:ea typeface="微软雅黑" panose="020B0503020204020204" pitchFamily="34" charset="-122"/>
                <a:sym typeface="+mn-ea"/>
              </a:rPr>
              <a:t>基金产品的行业仓位探测：</a:t>
            </a:r>
            <a:r>
              <a:rPr lang="zh-CN" altLang="en-US" sz="2200" b="1" dirty="0" smtClean="0">
                <a:latin typeface="微软雅黑" panose="020B0503020204020204" pitchFamily="34" charset="-122"/>
                <a:ea typeface="微软雅黑" panose="020B0503020204020204" pitchFamily="34" charset="-122"/>
                <a:sym typeface="+mn-ea"/>
              </a:rPr>
              <a:t>使用全市场最优秀的基金组合的行业持仓</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341554" y="66746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9" name="图片 8" descr="框"/>
          <p:cNvPicPr>
            <a:picLocks noChangeAspect="1"/>
          </p:cNvPicPr>
          <p:nvPr/>
        </p:nvPicPr>
        <p:blipFill>
          <a:blip r:embed="rId4"/>
          <a:stretch>
            <a:fillRect/>
          </a:stretch>
        </p:blipFill>
        <p:spPr>
          <a:xfrm>
            <a:off x="97970" y="1277976"/>
            <a:ext cx="10839168" cy="3004820"/>
          </a:xfrm>
          <a:prstGeom prst="rect">
            <a:avLst/>
          </a:prstGeom>
        </p:spPr>
      </p:pic>
      <p:pic>
        <p:nvPicPr>
          <p:cNvPr id="10" name="图片 9" descr="框"/>
          <p:cNvPicPr>
            <a:picLocks noChangeAspect="1"/>
          </p:cNvPicPr>
          <p:nvPr/>
        </p:nvPicPr>
        <p:blipFill>
          <a:blip r:embed="rId4"/>
          <a:stretch>
            <a:fillRect/>
          </a:stretch>
        </p:blipFill>
        <p:spPr>
          <a:xfrm>
            <a:off x="161470" y="3580486"/>
            <a:ext cx="10775668" cy="3004820"/>
          </a:xfrm>
          <a:prstGeom prst="rect">
            <a:avLst/>
          </a:prstGeom>
        </p:spPr>
      </p:pic>
      <p:sp>
        <p:nvSpPr>
          <p:cNvPr id="11" name="文本框 10"/>
          <p:cNvSpPr txBox="1"/>
          <p:nvPr/>
        </p:nvSpPr>
        <p:spPr>
          <a:xfrm>
            <a:off x="1703884" y="1935836"/>
            <a:ext cx="8011615" cy="1061829"/>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rPr>
              <a:t>使用机器学习选基模型，提取基金产品的特征，使用海量历史数据训练，筛选最优异的基金产品</a:t>
            </a:r>
            <a:endParaRPr lang="en-US" altLang="zh-CN"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endParaRPr>
          </a:p>
          <a:p>
            <a:pPr marL="114300" lvl="1" indent="-114300" fontAlgn="auto">
              <a:lnSpc>
                <a:spcPct val="150000"/>
              </a:lnSpc>
              <a:spcBef>
                <a:spcPct val="0"/>
              </a:spcBef>
              <a:spcAft>
                <a:spcPts val="0"/>
              </a:spcAft>
              <a:buChar char="•"/>
            </a:pPr>
            <a:r>
              <a:rPr lang="zh-CN" altLang="en-US" sz="1400" dirty="0" smtClean="0">
                <a:solidFill>
                  <a:schemeClr val="dk1"/>
                </a:solidFill>
                <a:latin typeface="微软雅黑" panose="020B0503020204020204" pitchFamily="34" charset="-122"/>
                <a:ea typeface="微软雅黑" panose="020B0503020204020204" pitchFamily="34" charset="-122"/>
                <a:cs typeface="Inter" pitchFamily="34" charset="-120"/>
                <a:sym typeface="+mn-ea"/>
              </a:rPr>
              <a:t>使用</a:t>
            </a: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基金行业高频仓位测算模型进行风险控制，仓位测算模型覆盖基金的动态分类、基金组合构建与动态风险监控等环节</a:t>
            </a:r>
            <a:endParaRPr lang="en-US" altLang="zh-CN" sz="1400" dirty="0">
              <a:solidFill>
                <a:schemeClr val="dk1"/>
              </a:solidFill>
              <a:latin typeface="微软雅黑" panose="020B0503020204020204" pitchFamily="34" charset="-122"/>
              <a:ea typeface="微软雅黑" panose="020B0503020204020204" pitchFamily="34" charset="-122"/>
              <a:cs typeface="Inter" pitchFamily="34" charset="-120"/>
              <a:sym typeface="+mn-ea"/>
            </a:endParaRPr>
          </a:p>
        </p:txBody>
      </p:sp>
      <p:sp>
        <p:nvSpPr>
          <p:cNvPr id="12" name="文本框 11"/>
          <p:cNvSpPr txBox="1"/>
          <p:nvPr/>
        </p:nvSpPr>
        <p:spPr>
          <a:xfrm>
            <a:off x="1103174" y="1567536"/>
            <a:ext cx="6212025" cy="369332"/>
          </a:xfrm>
          <a:prstGeom prst="rect">
            <a:avLst/>
          </a:prstGeom>
          <a:noFill/>
        </p:spPr>
        <p:txBody>
          <a:bodyPr wrap="square" rtlCol="0">
            <a:spAutoFit/>
          </a:bodyPr>
          <a:lstStyle/>
          <a:p>
            <a:r>
              <a:t>1. 扩展窗口机器学习选基模型，每期筛选Top20基金</a:t>
            </a:r>
          </a:p>
        </p:txBody>
      </p:sp>
      <p:sp>
        <p:nvSpPr>
          <p:cNvPr id="13" name="文本框 12"/>
          <p:cNvSpPr txBox="1"/>
          <p:nvPr/>
        </p:nvSpPr>
        <p:spPr>
          <a:xfrm>
            <a:off x="1703885" y="4395826"/>
            <a:ext cx="7314142" cy="738664"/>
          </a:xfrm>
          <a:prstGeom prst="rect">
            <a:avLst/>
          </a:prstGeom>
          <a:noFill/>
        </p:spPr>
        <p:txBody>
          <a:bodyPr wrap="square" rtlCol="0">
            <a:spAutoFit/>
          </a:bodyPr>
          <a:lstStyle/>
          <a:p>
            <a:r>
              <a:t>基金组合行业配置线上限25%；ETF组合行业配置上限35%。ETF缺乏主动管理alpha，需适度行业超配以获取超额，同时控制偏离。</a:t>
            </a:r>
          </a:p>
        </p:txBody>
      </p:sp>
      <p:sp>
        <p:nvSpPr>
          <p:cNvPr id="14" name="文本框 13"/>
          <p:cNvSpPr txBox="1"/>
          <p:nvPr/>
        </p:nvSpPr>
        <p:spPr>
          <a:xfrm>
            <a:off x="1199059" y="3998951"/>
            <a:ext cx="8042911" cy="369332"/>
          </a:xfrm>
          <a:prstGeom prst="rect">
            <a:avLst/>
          </a:prstGeom>
          <a:noFill/>
        </p:spPr>
        <p:txBody>
          <a:bodyPr wrap="square" rtlCol="0">
            <a:spAutoFit/>
          </a:bodyPr>
          <a:lstStyle/>
          <a:p>
            <a:r>
              <a:t>2. 穿透测算组合行业权重，映射为ETF轮动配置</a:t>
            </a:r>
          </a:p>
        </p:txBody>
      </p:sp>
    </p:spTree>
    <p:extLst>
      <p:ext uri="{BB962C8B-B14F-4D97-AF65-F5344CB8AC3E}">
        <p14:creationId xmlns:p14="http://schemas.microsoft.com/office/powerpoint/2010/main" val="218310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机器学习选基模型：</a:t>
            </a:r>
            <a:r>
              <a:rPr lang="zh-CN" altLang="en-US" sz="2200" b="1" dirty="0">
                <a:latin typeface="微软雅黑" panose="020B0503020204020204" pitchFamily="34" charset="-122"/>
                <a:ea typeface="微软雅黑" panose="020B0503020204020204" pitchFamily="34" charset="-122"/>
                <a:sym typeface="+mn-ea"/>
              </a:rPr>
              <a:t>回溯表现</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57091" y="6240269"/>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36332" y="6585306"/>
            <a:ext cx="8841122" cy="252730"/>
          </a:xfrm>
          <a:prstGeom prst="rect">
            <a:avLst/>
          </a:prstGeom>
          <a:noFill/>
        </p:spPr>
        <p:txBody>
          <a:bodyPr wrap="square" rtlCol="0">
            <a:spAutoFit/>
          </a:bodyPr>
          <a:lstStyle/>
          <a:p>
            <a:r>
              <a:rPr lang="zh-CN" altLang="en-US" sz="1050" dirty="0">
                <a:latin typeface="+mj-ea"/>
                <a:ea typeface="+mj-ea"/>
                <a:cs typeface="+mj-ea"/>
              </a:rPr>
              <a:t>注：仅代表机器学习选基模型的回溯表现，相关数据不代表实际投资表现。数据来源：银华基金、</a:t>
            </a:r>
            <a:r>
              <a:rPr lang="en-US" altLang="zh-CN" sz="1050" dirty="0">
                <a:latin typeface="+mj-ea"/>
                <a:ea typeface="+mj-ea"/>
                <a:cs typeface="+mj-ea"/>
              </a:rPr>
              <a:t>Wind</a:t>
            </a:r>
            <a:r>
              <a:rPr lang="zh-CN" altLang="en-US" sz="1050" dirty="0">
                <a:latin typeface="+mj-ea"/>
                <a:ea typeface="+mj-ea"/>
                <a:cs typeface="+mj-ea"/>
              </a:rPr>
              <a:t>，</a:t>
            </a:r>
            <a:r>
              <a:rPr lang="en-US" altLang="zh-CN" sz="1050" dirty="0">
                <a:latin typeface="+mj-ea"/>
                <a:ea typeface="+mj-ea"/>
                <a:cs typeface="+mj-ea"/>
              </a:rPr>
              <a:t>2017.1-2026.6</a:t>
            </a:r>
            <a:endParaRPr lang="zh-CN" altLang="en-US" sz="1050" dirty="0">
              <a:latin typeface="+mj-ea"/>
              <a:ea typeface="+mj-ea"/>
              <a:cs typeface="+mj-ea"/>
            </a:endParaRPr>
          </a:p>
        </p:txBody>
      </p:sp>
      <p:sp>
        <p:nvSpPr>
          <p:cNvPr id="3" name="文本框 2"/>
          <p:cNvSpPr txBox="1"/>
          <p:nvPr/>
        </p:nvSpPr>
        <p:spPr>
          <a:xfrm>
            <a:off x="7774489" y="65857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46" name="Picture 45" descr="fund_model_nav.png"/>
          <p:cNvPicPr>
            <a:picLocks noChangeAspect="1"/>
          </p:cNvPicPr>
          <p:nvPr/>
        </p:nvPicPr>
        <p:blipFill>
          <a:blip r:embed="rId5"/>
          <a:stretch>
            <a:fillRect/>
          </a:stretch>
        </p:blipFill>
        <p:spPr>
          <a:xfrm>
            <a:off x="614098" y="1415716"/>
            <a:ext cx="9663764" cy="40265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机器学习选基模型：</a:t>
            </a:r>
            <a:r>
              <a:rPr lang="zh-CN" altLang="en-US" sz="2200" b="1" dirty="0">
                <a:latin typeface="微软雅黑" panose="020B0503020204020204" pitchFamily="34" charset="-122"/>
                <a:ea typeface="微软雅黑" panose="020B0503020204020204" pitchFamily="34" charset="-122"/>
                <a:sym typeface="+mn-ea"/>
              </a:rPr>
              <a:t>与传统回归模型的区别</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p:cNvSpPr txBox="1"/>
          <p:nvPr/>
        </p:nvSpPr>
        <p:spPr>
          <a:xfrm>
            <a:off x="152401" y="2800330"/>
            <a:ext cx="6303737" cy="984244"/>
          </a:xfrm>
          <a:prstGeom prst="rect">
            <a:avLst/>
          </a:prstGeom>
          <a:noFill/>
        </p:spPr>
        <p:txBody>
          <a:bodyPr wrap="square" rtlCol="0">
            <a:spAutoFit/>
          </a:bodyPr>
          <a:lstStyle/>
          <a:p>
            <a:r>
              <a:rPr lang="zh-CN" altLang="en-US" sz="2000" dirty="0">
                <a:ea typeface="微软雅黑" panose="020B0503020204020204" pitchFamily="34" charset="-122"/>
                <a:cs typeface="+mn-ea"/>
              </a:rPr>
              <a:t>通过分类的方式尝试寻找收益和特征之间的关系。</a:t>
            </a:r>
            <a:endParaRPr lang="en-US" altLang="zh-CN" sz="2000" dirty="0">
              <a:ea typeface="微软雅黑" panose="020B0503020204020204" pitchFamily="34" charset="-122"/>
              <a:cs typeface="+mn-ea"/>
            </a:endParaRPr>
          </a:p>
          <a:p>
            <a:r>
              <a:rPr lang="zh-CN" altLang="en-US" sz="1600" dirty="0">
                <a:ea typeface="微软雅黑" panose="020B0503020204020204" pitchFamily="34" charset="-122"/>
                <a:cs typeface="+mn-ea"/>
              </a:rPr>
              <a:t>（在特征构成的多维空间中，找到决策边界（超平面））</a:t>
            </a:r>
            <a:endParaRPr lang="en-US" altLang="zh-CN" sz="1600" dirty="0">
              <a:ea typeface="微软雅黑" panose="020B0503020204020204" pitchFamily="34" charset="-122"/>
              <a:cs typeface="+mn-ea"/>
            </a:endParaRPr>
          </a:p>
          <a:p>
            <a:endParaRPr lang="en-US" altLang="zh-CN" sz="2000" dirty="0">
              <a:ea typeface="微软雅黑" panose="020B0503020204020204" pitchFamily="34" charset="-122"/>
              <a:cs typeface="+mn-ea"/>
            </a:endParaRPr>
          </a:p>
        </p:txBody>
      </p:sp>
      <p:sp>
        <p:nvSpPr>
          <p:cNvPr id="14" name="文本框 13"/>
          <p:cNvSpPr txBox="1"/>
          <p:nvPr/>
        </p:nvSpPr>
        <p:spPr>
          <a:xfrm>
            <a:off x="152400" y="1259338"/>
            <a:ext cx="3845925" cy="399789"/>
          </a:xfrm>
          <a:prstGeom prst="rect">
            <a:avLst/>
          </a:prstGeom>
          <a:noFill/>
        </p:spPr>
        <p:txBody>
          <a:bodyPr wrap="none" rtlCol="0">
            <a:spAutoFit/>
          </a:bodyPr>
          <a:lstStyle/>
          <a:p>
            <a:r>
              <a:rPr lang="en-US" altLang="zh-CN" sz="2000" dirty="0">
                <a:ea typeface="微软雅黑" panose="020B0503020204020204" pitchFamily="34" charset="-122"/>
                <a:cs typeface="+mn-ea"/>
              </a:rPr>
              <a:t>AI-</a:t>
            </a:r>
            <a:r>
              <a:rPr lang="zh-CN" altLang="en-US" sz="2000" dirty="0">
                <a:ea typeface="微软雅黑" panose="020B0503020204020204" pitchFamily="34" charset="-122"/>
                <a:cs typeface="+mn-ea"/>
              </a:rPr>
              <a:t>机器学习模型（支持向量机）</a:t>
            </a:r>
            <a:endParaRPr lang="en-US" altLang="zh-CN" sz="2000" b="1" dirty="0">
              <a:solidFill>
                <a:srgbClr val="FF0000"/>
              </a:solidFill>
              <a:ea typeface="微软雅黑" panose="020B0503020204020204" pitchFamily="34" charset="-122"/>
              <a:cs typeface="+mn-ea"/>
            </a:endParaRPr>
          </a:p>
        </p:txBody>
      </p:sp>
      <p:sp>
        <p:nvSpPr>
          <p:cNvPr id="15" name="文本框 14"/>
          <p:cNvSpPr txBox="1"/>
          <p:nvPr/>
        </p:nvSpPr>
        <p:spPr>
          <a:xfrm>
            <a:off x="152401" y="4527716"/>
            <a:ext cx="6564994" cy="707245"/>
          </a:xfrm>
          <a:prstGeom prst="rect">
            <a:avLst/>
          </a:prstGeom>
          <a:noFill/>
        </p:spPr>
        <p:txBody>
          <a:bodyPr wrap="square" rtlCol="0">
            <a:spAutoFit/>
          </a:bodyPr>
          <a:lstStyle/>
          <a:p>
            <a:r>
              <a:rPr lang="zh-CN" altLang="en-US" sz="2000" dirty="0">
                <a:ea typeface="微软雅黑" panose="020B0503020204020204" pitchFamily="34" charset="-122"/>
                <a:cs typeface="+mn-ea"/>
              </a:rPr>
              <a:t>使用收益和风险特征，如夏普比例，波动率，最大回撤等</a:t>
            </a:r>
            <a:endParaRPr lang="en-US" altLang="zh-CN" sz="2000" dirty="0">
              <a:ea typeface="微软雅黑" panose="020B0503020204020204" pitchFamily="34" charset="-122"/>
              <a:cs typeface="+mn-ea"/>
            </a:endParaRPr>
          </a:p>
          <a:p>
            <a:endParaRPr lang="en-US" altLang="zh-CN" sz="2000" dirty="0">
              <a:ea typeface="微软雅黑" panose="020B0503020204020204" pitchFamily="34" charset="-122"/>
              <a:cs typeface="+mn-ea"/>
            </a:endParaRPr>
          </a:p>
        </p:txBody>
      </p:sp>
      <p:pic>
        <p:nvPicPr>
          <p:cNvPr id="16" name="图片 15"/>
          <p:cNvPicPr>
            <a:picLocks noChangeAspect="1"/>
          </p:cNvPicPr>
          <p:nvPr/>
        </p:nvPicPr>
        <p:blipFill>
          <a:blip r:embed="rId4"/>
          <a:stretch>
            <a:fillRect/>
          </a:stretch>
        </p:blipFill>
        <p:spPr>
          <a:xfrm>
            <a:off x="6681292" y="1210289"/>
            <a:ext cx="4692706" cy="3634256"/>
          </a:xfrm>
          <a:prstGeom prst="rect">
            <a:avLst/>
          </a:prstGeom>
        </p:spPr>
      </p:pic>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模型之后的定性分析：多维度评价体系</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611411" y="1632754"/>
            <a:ext cx="4298459" cy="3811133"/>
          </a:xfrm>
          <a:prstGeom prst="rect">
            <a:avLst/>
          </a:prstGeom>
        </p:spPr>
      </p:pic>
      <p:graphicFrame>
        <p:nvGraphicFramePr>
          <p:cNvPr id="10" name="图表 9"/>
          <p:cNvGraphicFramePr/>
          <p:nvPr/>
        </p:nvGraphicFramePr>
        <p:xfrm>
          <a:off x="5533962" y="1377198"/>
          <a:ext cx="5656872" cy="4322244"/>
        </p:xfrm>
        <a:graphic>
          <a:graphicData uri="http://schemas.openxmlformats.org/drawingml/2006/chart">
            <c:chart xmlns:c="http://schemas.openxmlformats.org/drawingml/2006/chart" xmlns:r="http://schemas.openxmlformats.org/officeDocument/2006/relationships" r:id="rId5"/>
          </a:graphicData>
        </a:graphic>
      </p:graphicFrame>
      <p:sp>
        <p:nvSpPr>
          <p:cNvPr id="11" name="文本框 10"/>
          <p:cNvSpPr txBox="1"/>
          <p:nvPr/>
        </p:nvSpPr>
        <p:spPr>
          <a:xfrm>
            <a:off x="9568872" y="5069110"/>
            <a:ext cx="2212622" cy="369332"/>
          </a:xfrm>
          <a:prstGeom prst="rect">
            <a:avLst/>
          </a:prstGeom>
          <a:noFill/>
        </p:spPr>
        <p:txBody>
          <a:bodyPr wrap="square" rtlCol="0">
            <a:spAutoFit/>
          </a:bodyPr>
          <a:lstStyle/>
          <a:p>
            <a:r>
              <a:rPr lang="zh-CN" altLang="en-US" dirty="0">
                <a:solidFill>
                  <a:schemeClr val="accent6"/>
                </a:solidFill>
                <a:latin typeface="+mj-ea"/>
                <a:ea typeface="+mj-ea"/>
              </a:rPr>
              <a:t>环境评价</a:t>
            </a:r>
          </a:p>
        </p:txBody>
      </p:sp>
      <p:sp>
        <p:nvSpPr>
          <p:cNvPr id="17" name="文本框 16"/>
          <p:cNvSpPr txBox="1"/>
          <p:nvPr/>
        </p:nvSpPr>
        <p:spPr>
          <a:xfrm>
            <a:off x="6016181" y="1806042"/>
            <a:ext cx="2212622" cy="369332"/>
          </a:xfrm>
          <a:prstGeom prst="rect">
            <a:avLst/>
          </a:prstGeom>
          <a:noFill/>
        </p:spPr>
        <p:txBody>
          <a:bodyPr wrap="square" rtlCol="0">
            <a:spAutoFit/>
          </a:bodyPr>
          <a:lstStyle/>
          <a:p>
            <a:r>
              <a:rPr lang="zh-CN" altLang="en-US" dirty="0">
                <a:solidFill>
                  <a:schemeClr val="accent5">
                    <a:lumMod val="75000"/>
                  </a:schemeClr>
                </a:solidFill>
                <a:latin typeface="+mj-ea"/>
                <a:ea typeface="+mj-ea"/>
              </a:rPr>
              <a:t>业绩表现</a:t>
            </a:r>
          </a:p>
        </p:txBody>
      </p:sp>
      <p:sp>
        <p:nvSpPr>
          <p:cNvPr id="18" name="文本框 17"/>
          <p:cNvSpPr txBox="1"/>
          <p:nvPr/>
        </p:nvSpPr>
        <p:spPr>
          <a:xfrm>
            <a:off x="5372715" y="3168989"/>
            <a:ext cx="2212622" cy="369332"/>
          </a:xfrm>
          <a:prstGeom prst="rect">
            <a:avLst/>
          </a:prstGeom>
          <a:noFill/>
        </p:spPr>
        <p:txBody>
          <a:bodyPr wrap="square" rtlCol="0">
            <a:spAutoFit/>
          </a:bodyPr>
          <a:lstStyle/>
          <a:p>
            <a:r>
              <a:rPr lang="zh-CN" altLang="en-US" dirty="0">
                <a:solidFill>
                  <a:srgbClr val="002060"/>
                </a:solidFill>
                <a:latin typeface="+mj-ea"/>
                <a:ea typeface="+mj-ea"/>
              </a:rPr>
              <a:t>投资偏好</a:t>
            </a:r>
          </a:p>
        </p:txBody>
      </p:sp>
      <p:sp>
        <p:nvSpPr>
          <p:cNvPr id="19" name="文本框 18"/>
          <p:cNvSpPr txBox="1"/>
          <p:nvPr/>
        </p:nvSpPr>
        <p:spPr>
          <a:xfrm>
            <a:off x="6096000" y="5074555"/>
            <a:ext cx="2212622" cy="369332"/>
          </a:xfrm>
          <a:prstGeom prst="rect">
            <a:avLst/>
          </a:prstGeom>
          <a:noFill/>
        </p:spPr>
        <p:txBody>
          <a:bodyPr wrap="square" rtlCol="0">
            <a:spAutoFit/>
          </a:bodyPr>
          <a:lstStyle/>
          <a:p>
            <a:r>
              <a:rPr lang="zh-CN" altLang="en-US" dirty="0">
                <a:solidFill>
                  <a:schemeClr val="accent2">
                    <a:lumMod val="75000"/>
                  </a:schemeClr>
                </a:solidFill>
                <a:latin typeface="+mj-ea"/>
                <a:ea typeface="+mj-ea"/>
              </a:rPr>
              <a:t>能力拆解</a:t>
            </a:r>
          </a:p>
        </p:txBody>
      </p:sp>
      <p:sp>
        <p:nvSpPr>
          <p:cNvPr id="20" name="文本框 19"/>
          <p:cNvSpPr txBox="1"/>
          <p:nvPr/>
        </p:nvSpPr>
        <p:spPr>
          <a:xfrm>
            <a:off x="10180986" y="3168988"/>
            <a:ext cx="2212622" cy="369332"/>
          </a:xfrm>
          <a:prstGeom prst="rect">
            <a:avLst/>
          </a:prstGeom>
          <a:noFill/>
        </p:spPr>
        <p:txBody>
          <a:bodyPr wrap="square" rtlCol="0">
            <a:spAutoFit/>
          </a:bodyPr>
          <a:lstStyle/>
          <a:p>
            <a:r>
              <a:rPr lang="zh-CN" altLang="en-US" dirty="0">
                <a:solidFill>
                  <a:schemeClr val="accent4">
                    <a:lumMod val="75000"/>
                  </a:schemeClr>
                </a:solidFill>
                <a:latin typeface="+mj-ea"/>
                <a:ea typeface="+mj-ea"/>
              </a:rPr>
              <a:t>基金经理</a:t>
            </a:r>
          </a:p>
        </p:txBody>
      </p:sp>
      <p:sp>
        <p:nvSpPr>
          <p:cNvPr id="21" name="文本框 20"/>
          <p:cNvSpPr txBox="1"/>
          <p:nvPr/>
        </p:nvSpPr>
        <p:spPr>
          <a:xfrm>
            <a:off x="9568872" y="1846874"/>
            <a:ext cx="2212622" cy="369332"/>
          </a:xfrm>
          <a:prstGeom prst="rect">
            <a:avLst/>
          </a:prstGeom>
          <a:noFill/>
        </p:spPr>
        <p:txBody>
          <a:bodyPr wrap="square" rtlCol="0">
            <a:spAutoFit/>
          </a:bodyPr>
          <a:lstStyle/>
          <a:p>
            <a:r>
              <a:rPr lang="zh-CN" altLang="en-US" dirty="0">
                <a:solidFill>
                  <a:srgbClr val="92D050"/>
                </a:solidFill>
                <a:latin typeface="+mj-ea"/>
                <a:ea typeface="+mj-ea"/>
              </a:rPr>
              <a:t>投资框架</a:t>
            </a:r>
          </a:p>
        </p:txBody>
      </p:sp>
      <p:sp>
        <p:nvSpPr>
          <p:cNvPr id="23" name="文本框 22"/>
          <p:cNvSpPr txBox="1"/>
          <p:nvPr/>
        </p:nvSpPr>
        <p:spPr>
          <a:xfrm>
            <a:off x="1936551" y="1078757"/>
            <a:ext cx="2212622" cy="369332"/>
          </a:xfrm>
          <a:prstGeom prst="rect">
            <a:avLst/>
          </a:prstGeom>
          <a:noFill/>
        </p:spPr>
        <p:txBody>
          <a:bodyPr wrap="square" rtlCol="0">
            <a:spAutoFit/>
          </a:bodyPr>
          <a:lstStyle/>
          <a:p>
            <a:r>
              <a:rPr lang="zh-CN" altLang="en-US" dirty="0">
                <a:solidFill>
                  <a:srgbClr val="C00000"/>
                </a:solidFill>
                <a:latin typeface="+mj-ea"/>
                <a:ea typeface="+mj-ea"/>
              </a:rPr>
              <a:t>梅西 </a:t>
            </a:r>
            <a:r>
              <a:rPr lang="en-US" altLang="zh-CN" dirty="0" err="1">
                <a:solidFill>
                  <a:srgbClr val="C00000"/>
                </a:solidFill>
                <a:latin typeface="+mj-ea"/>
                <a:ea typeface="+mj-ea"/>
              </a:rPr>
              <a:t>vs</a:t>
            </a:r>
            <a:r>
              <a:rPr lang="en-US" altLang="zh-CN" dirty="0">
                <a:solidFill>
                  <a:srgbClr val="C00000"/>
                </a:solidFill>
                <a:latin typeface="+mj-ea"/>
                <a:ea typeface="+mj-ea"/>
              </a:rPr>
              <a:t> </a:t>
            </a:r>
            <a:r>
              <a:rPr lang="zh-CN" altLang="en-US" dirty="0">
                <a:solidFill>
                  <a:srgbClr val="C00000"/>
                </a:solidFill>
                <a:latin typeface="+mj-ea"/>
                <a:ea typeface="+mj-ea"/>
              </a:rPr>
              <a:t>平均水平</a:t>
            </a:r>
          </a:p>
        </p:txBody>
      </p:sp>
      <p:sp>
        <p:nvSpPr>
          <p:cNvPr id="3" name="文本框 2"/>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13430" y="318990"/>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全流程定量定性相结合的投资策略池：</a:t>
            </a:r>
            <a:r>
              <a:rPr lang="en-US" altLang="zh-CN" sz="2200" b="1" dirty="0" smtClean="0">
                <a:latin typeface="微软雅黑" panose="020B0503020204020204" pitchFamily="34" charset="-122"/>
                <a:ea typeface="微软雅黑" panose="020B0503020204020204" pitchFamily="34" charset="-122"/>
                <a:sym typeface="+mn-ea"/>
              </a:rPr>
              <a:t>ETF</a:t>
            </a:r>
            <a:r>
              <a:rPr lang="zh-CN" altLang="en-US" sz="2200" b="1" dirty="0" smtClean="0">
                <a:latin typeface="微软雅黑" panose="020B0503020204020204" pitchFamily="34" charset="-122"/>
                <a:ea typeface="微软雅黑" panose="020B0503020204020204" pitchFamily="34" charset="-122"/>
                <a:sym typeface="+mn-ea"/>
              </a:rPr>
              <a:t>收益增强</a:t>
            </a:r>
            <a:endParaRPr lang="zh-CN" altLang="en-US" sz="2200" b="1" dirty="0">
              <a:latin typeface="微软雅黑" panose="020B0503020204020204" pitchFamily="34" charset="-122"/>
              <a:ea typeface="微软雅黑" panose="020B0503020204020204" pitchFamily="34" charset="-122"/>
              <a:sym typeface="+mn-ea"/>
            </a:endParaRP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文本框 45"/>
          <p:cNvSpPr txBox="1"/>
          <p:nvPr/>
        </p:nvSpPr>
        <p:spPr>
          <a:xfrm>
            <a:off x="513430" y="1053783"/>
            <a:ext cx="11621770" cy="1405513"/>
          </a:xfrm>
          <a:prstGeom prst="rect">
            <a:avLst/>
          </a:prstGeom>
          <a:noFill/>
        </p:spPr>
        <p:txBody>
          <a:bodyPr wrap="square" rtlCol="0">
            <a:spAutoFit/>
          </a:bodyPr>
          <a:lstStyle/>
          <a:p>
            <a:pPr marL="285750" indent="-285750" defTabSz="1304290">
              <a:lnSpc>
                <a:spcPct val="150000"/>
              </a:lnSpc>
              <a:spcBef>
                <a:spcPts val="360"/>
              </a:spcBef>
              <a:spcAft>
                <a:spcPts val="360"/>
              </a:spcAft>
              <a:buClr>
                <a:srgbClr val="C00000"/>
              </a:buClr>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ETF收益增强层面</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，银华FOF团队开发了多维度、低相关、具备独立收益来源</a:t>
            </a:r>
            <a:r>
              <a:rPr lang="zh-CN" altLang="en-US" sz="1600" dirty="0" smtClean="0">
                <a:latin typeface="微软雅黑" panose="020B0503020204020204" pitchFamily="34" charset="-122"/>
                <a:ea typeface="微软雅黑" panose="020B0503020204020204" pitchFamily="34" charset="-122"/>
                <a:cs typeface="微软雅黑" panose="020B0503020204020204" pitchFamily="34" charset="-122"/>
              </a:rPr>
              <a:t>的策略</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池。</a:t>
            </a:r>
          </a:p>
          <a:p>
            <a:pPr marL="285750" indent="-285750" defTabSz="1304290">
              <a:lnSpc>
                <a:spcPct val="150000"/>
              </a:lnSpc>
              <a:spcBef>
                <a:spcPts val="360"/>
              </a:spcBef>
              <a:spcAft>
                <a:spcPts val="360"/>
              </a:spcAft>
              <a:buClr>
                <a:srgbClr val="C00000"/>
              </a:buClr>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ETF收益增强属于卫星策略，其各个子策略收益来源独立、相关性低，可为整个投资组合增加弹性。</a:t>
            </a:r>
          </a:p>
          <a:p>
            <a:pPr marL="285750" indent="-285750" defTabSz="1304290">
              <a:lnSpc>
                <a:spcPct val="150000"/>
              </a:lnSpc>
              <a:spcBef>
                <a:spcPts val="360"/>
              </a:spcBef>
              <a:spcAft>
                <a:spcPts val="360"/>
              </a:spcAft>
              <a:buClr>
                <a:srgbClr val="C00000"/>
              </a:buClr>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目前已经构建了三个特色投资模型。</a:t>
            </a:r>
          </a:p>
        </p:txBody>
      </p:sp>
      <p:pic>
        <p:nvPicPr>
          <p:cNvPr id="48" name="图片 47" descr="框"/>
          <p:cNvPicPr>
            <a:picLocks noChangeAspect="1"/>
          </p:cNvPicPr>
          <p:nvPr/>
        </p:nvPicPr>
        <p:blipFill>
          <a:blip r:embed="rId4"/>
          <a:stretch>
            <a:fillRect/>
          </a:stretch>
        </p:blipFill>
        <p:spPr>
          <a:xfrm>
            <a:off x="-120241" y="2415823"/>
            <a:ext cx="10839168" cy="1727199"/>
          </a:xfrm>
          <a:prstGeom prst="rect">
            <a:avLst/>
          </a:prstGeom>
        </p:spPr>
      </p:pic>
      <p:sp>
        <p:nvSpPr>
          <p:cNvPr id="52" name="文本框 51"/>
          <p:cNvSpPr txBox="1"/>
          <p:nvPr/>
        </p:nvSpPr>
        <p:spPr>
          <a:xfrm>
            <a:off x="1485674" y="3073683"/>
            <a:ext cx="8684260" cy="700576"/>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用于跟踪优选主动行配基金的仓位动向</a:t>
            </a:r>
          </a:p>
          <a:p>
            <a:pPr marL="0" lvl="1" fontAlgn="auto">
              <a:lnSpc>
                <a:spcPct val="150000"/>
              </a:lnSpc>
              <a:spcBef>
                <a:spcPct val="0"/>
              </a:spcBef>
              <a:spcAft>
                <a:spcPts val="0"/>
              </a:spcAft>
            </a:pPr>
            <a:endPar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endParaRPr>
          </a:p>
        </p:txBody>
      </p:sp>
      <p:sp>
        <p:nvSpPr>
          <p:cNvPr id="53" name="文本框 52"/>
          <p:cNvSpPr txBox="1"/>
          <p:nvPr/>
        </p:nvSpPr>
        <p:spPr>
          <a:xfrm>
            <a:off x="884964" y="2705383"/>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“聪明资金”</a:t>
            </a:r>
            <a:r>
              <a:rPr lang="en-US" altLang="zh-CN" b="1" dirty="0">
                <a:solidFill>
                  <a:srgbClr val="C00000"/>
                </a:solidFill>
                <a:latin typeface="微软雅黑" panose="020B0503020204020204" pitchFamily="34" charset="-122"/>
                <a:ea typeface="微软雅黑" panose="020B0503020204020204" pitchFamily="34" charset="-122"/>
                <a:sym typeface="+mn-ea"/>
              </a:rPr>
              <a:t>ETF</a:t>
            </a:r>
            <a:r>
              <a:rPr lang="zh-CN" altLang="en-US" b="1" dirty="0">
                <a:solidFill>
                  <a:srgbClr val="C00000"/>
                </a:solidFill>
                <a:latin typeface="微软雅黑" panose="020B0503020204020204" pitchFamily="34" charset="-122"/>
                <a:ea typeface="微软雅黑" panose="020B0503020204020204" pitchFamily="34" charset="-122"/>
                <a:sym typeface="+mn-ea"/>
              </a:rPr>
              <a:t>轮动模型</a:t>
            </a:r>
          </a:p>
        </p:txBody>
      </p:sp>
      <p:pic>
        <p:nvPicPr>
          <p:cNvPr id="14" name="图片 13" descr="框"/>
          <p:cNvPicPr>
            <a:picLocks noChangeAspect="1"/>
          </p:cNvPicPr>
          <p:nvPr/>
        </p:nvPicPr>
        <p:blipFill>
          <a:blip r:embed="rId4"/>
          <a:stretch>
            <a:fillRect/>
          </a:stretch>
        </p:blipFill>
        <p:spPr>
          <a:xfrm>
            <a:off x="-120241" y="3734349"/>
            <a:ext cx="10839168" cy="1727199"/>
          </a:xfrm>
          <a:prstGeom prst="rect">
            <a:avLst/>
          </a:prstGeom>
        </p:spPr>
      </p:pic>
      <p:sp>
        <p:nvSpPr>
          <p:cNvPr id="15" name="文本框 14"/>
          <p:cNvSpPr txBox="1"/>
          <p:nvPr/>
        </p:nvSpPr>
        <p:spPr>
          <a:xfrm>
            <a:off x="1485674" y="4392209"/>
            <a:ext cx="8684260" cy="377411"/>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用于识别市场关键点位、特色数据、事件指标</a:t>
            </a:r>
          </a:p>
        </p:txBody>
      </p:sp>
      <p:sp>
        <p:nvSpPr>
          <p:cNvPr id="16" name="文本框 15"/>
          <p:cNvSpPr txBox="1"/>
          <p:nvPr/>
        </p:nvSpPr>
        <p:spPr>
          <a:xfrm>
            <a:off x="884964" y="4023909"/>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时点动量</a:t>
            </a:r>
            <a:r>
              <a:rPr lang="en-US" altLang="zh-CN" b="1" dirty="0">
                <a:solidFill>
                  <a:srgbClr val="C00000"/>
                </a:solidFill>
                <a:latin typeface="微软雅黑" panose="020B0503020204020204" pitchFamily="34" charset="-122"/>
                <a:ea typeface="微软雅黑" panose="020B0503020204020204" pitchFamily="34" charset="-122"/>
                <a:sym typeface="+mn-ea"/>
              </a:rPr>
              <a:t>ETF</a:t>
            </a:r>
            <a:r>
              <a:rPr lang="zh-CN" altLang="en-US" b="1" dirty="0">
                <a:solidFill>
                  <a:srgbClr val="C00000"/>
                </a:solidFill>
                <a:latin typeface="微软雅黑" panose="020B0503020204020204" pitchFamily="34" charset="-122"/>
                <a:ea typeface="微软雅黑" panose="020B0503020204020204" pitchFamily="34" charset="-122"/>
                <a:sym typeface="+mn-ea"/>
              </a:rPr>
              <a:t>轮动模型</a:t>
            </a:r>
          </a:p>
        </p:txBody>
      </p:sp>
      <p:pic>
        <p:nvPicPr>
          <p:cNvPr id="17" name="图片 16" descr="框"/>
          <p:cNvPicPr>
            <a:picLocks noChangeAspect="1"/>
          </p:cNvPicPr>
          <p:nvPr/>
        </p:nvPicPr>
        <p:blipFill>
          <a:blip r:embed="rId4"/>
          <a:stretch>
            <a:fillRect/>
          </a:stretch>
        </p:blipFill>
        <p:spPr>
          <a:xfrm>
            <a:off x="-120241" y="5076849"/>
            <a:ext cx="10839168" cy="1727199"/>
          </a:xfrm>
          <a:prstGeom prst="rect">
            <a:avLst/>
          </a:prstGeom>
        </p:spPr>
      </p:pic>
      <p:sp>
        <p:nvSpPr>
          <p:cNvPr id="18" name="文本框 17"/>
          <p:cNvSpPr txBox="1"/>
          <p:nvPr/>
        </p:nvSpPr>
        <p:spPr>
          <a:xfrm>
            <a:off x="1485674" y="5734709"/>
            <a:ext cx="8684260" cy="377411"/>
          </a:xfrm>
          <a:prstGeom prst="rect">
            <a:avLst/>
          </a:prstGeom>
          <a:noFill/>
        </p:spPr>
        <p:txBody>
          <a:bodyPr wrap="square" rtlCol="0">
            <a:spAutoFit/>
          </a:bodyPr>
          <a:lstStyle/>
          <a:p>
            <a:pPr marL="114300" lvl="1" indent="-114300" fontAlgn="auto">
              <a:lnSpc>
                <a:spcPct val="150000"/>
              </a:lnSpc>
              <a:spcBef>
                <a:spcPct val="0"/>
              </a:spcBef>
              <a:spcAft>
                <a:spcPts val="0"/>
              </a:spcAft>
              <a:buChar char="•"/>
            </a:pP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可通过行业</a:t>
            </a:r>
            <a:r>
              <a:rPr lang="en-US" altLang="zh-CN"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ETF</a:t>
            </a:r>
            <a:r>
              <a:rPr lang="zh-CN" altLang="en-US" sz="1400" dirty="0">
                <a:solidFill>
                  <a:schemeClr val="dk1"/>
                </a:solidFill>
                <a:latin typeface="微软雅黑" panose="020B0503020204020204" pitchFamily="34" charset="-122"/>
                <a:ea typeface="微软雅黑" panose="020B0503020204020204" pitchFamily="34" charset="-122"/>
                <a:cs typeface="Inter" pitchFamily="34" charset="-120"/>
                <a:sym typeface="+mn-ea"/>
              </a:rPr>
              <a:t>组合，动态复制偏股基金指数收益</a:t>
            </a:r>
          </a:p>
        </p:txBody>
      </p:sp>
      <p:sp>
        <p:nvSpPr>
          <p:cNvPr id="19" name="文本框 18"/>
          <p:cNvSpPr txBox="1"/>
          <p:nvPr/>
        </p:nvSpPr>
        <p:spPr>
          <a:xfrm>
            <a:off x="884964" y="5366409"/>
            <a:ext cx="4064000" cy="368300"/>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sym typeface="+mn-ea"/>
              </a:rPr>
              <a:t>偏股复制</a:t>
            </a:r>
            <a:r>
              <a:rPr lang="en-US" altLang="zh-CN" b="1" dirty="0">
                <a:solidFill>
                  <a:srgbClr val="C00000"/>
                </a:solidFill>
                <a:latin typeface="微软雅黑" panose="020B0503020204020204" pitchFamily="34" charset="-122"/>
                <a:ea typeface="微软雅黑" panose="020B0503020204020204" pitchFamily="34" charset="-122"/>
                <a:sym typeface="+mn-ea"/>
              </a:rPr>
              <a:t>ETF</a:t>
            </a:r>
            <a:r>
              <a:rPr lang="zh-CN" altLang="en-US" b="1" dirty="0">
                <a:solidFill>
                  <a:srgbClr val="C00000"/>
                </a:solidFill>
                <a:latin typeface="微软雅黑" panose="020B0503020204020204" pitchFamily="34" charset="-122"/>
                <a:ea typeface="微软雅黑" panose="020B0503020204020204" pitchFamily="34" charset="-122"/>
                <a:sym typeface="+mn-ea"/>
              </a:rPr>
              <a:t>模型</a:t>
            </a:r>
          </a:p>
        </p:txBody>
      </p:sp>
      <p:sp>
        <p:nvSpPr>
          <p:cNvPr id="2" name="文本框 1"/>
          <p:cNvSpPr txBox="1"/>
          <p:nvPr/>
        </p:nvSpPr>
        <p:spPr>
          <a:xfrm>
            <a:off x="226244" y="6556585"/>
            <a:ext cx="6096000" cy="245110"/>
          </a:xfrm>
          <a:prstGeom prst="rect">
            <a:avLst/>
          </a:prstGeom>
          <a:noFill/>
        </p:spPr>
        <p:txBody>
          <a:bodyPr wrap="square" anchor="t">
            <a:spAutoFit/>
          </a:bodyPr>
          <a:lstStyle/>
          <a:p>
            <a:pPr algn="l"/>
            <a:r>
              <a:rPr lang="zh-CN" altLang="en-US" sz="10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1000" b="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4730" y="350520"/>
            <a:ext cx="396240" cy="368300"/>
            <a:chOff x="-24" y="552"/>
            <a:chExt cx="624" cy="816"/>
          </a:xfrm>
        </p:grpSpPr>
        <p:sp>
          <p:nvSpPr>
            <p:cNvPr id="42" name="矩形 41"/>
            <p:cNvSpPr/>
            <p:nvPr/>
          </p:nvSpPr>
          <p:spPr>
            <a:xfrm>
              <a:off x="-24" y="552"/>
              <a:ext cx="360"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32" y="552"/>
              <a:ext cx="168" cy="816"/>
            </a:xfrm>
            <a:prstGeom prst="rect">
              <a:avLst/>
            </a:prstGeom>
            <a:solidFill>
              <a:srgbClr val="C337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58585" y="287933"/>
            <a:ext cx="7795192" cy="430887"/>
          </a:xfrm>
          <a:prstGeom prst="rect">
            <a:avLst/>
          </a:prstGeom>
          <a:noFill/>
        </p:spPr>
        <p:txBody>
          <a:bodyPr wrap="square" rtlCol="0">
            <a:spAutoFit/>
          </a:bodyPr>
          <a:lstStyle/>
          <a:p>
            <a:r>
              <a:rPr lang="zh-CN" altLang="en-US" sz="2200" b="1" dirty="0">
                <a:solidFill>
                  <a:srgbClr val="B83835"/>
                </a:solidFill>
                <a:latin typeface="微软雅黑" panose="020B0503020204020204" pitchFamily="34" charset="-122"/>
                <a:ea typeface="微软雅黑" panose="020B0503020204020204" pitchFamily="34" charset="-122"/>
                <a:sym typeface="+mn-ea"/>
              </a:rPr>
              <a:t>时点动量模型：</a:t>
            </a:r>
            <a:r>
              <a:rPr lang="zh-CN" altLang="en-US" sz="2200" b="1" dirty="0">
                <a:latin typeface="微软雅黑" panose="020B0503020204020204" pitchFamily="34" charset="-122"/>
                <a:ea typeface="微软雅黑" panose="020B0503020204020204" pitchFamily="34" charset="-122"/>
                <a:sym typeface="+mn-ea"/>
              </a:rPr>
              <a:t>系统化的信号捕捉和综合评测</a:t>
            </a:r>
          </a:p>
        </p:txBody>
      </p:sp>
      <p:pic>
        <p:nvPicPr>
          <p:cNvPr id="45" name="图片 11" descr="0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8927" y="6294952"/>
            <a:ext cx="1136741" cy="29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4"/>
          <a:stretch>
            <a:fillRect/>
          </a:stretch>
        </p:blipFill>
        <p:spPr>
          <a:xfrm>
            <a:off x="5937956" y="840683"/>
            <a:ext cx="4369953" cy="2698263"/>
          </a:xfrm>
          <a:prstGeom prst="rect">
            <a:avLst/>
          </a:prstGeom>
          <a:ln>
            <a:solidFill>
              <a:srgbClr val="B83835"/>
            </a:solidFill>
          </a:ln>
        </p:spPr>
      </p:pic>
      <p:pic>
        <p:nvPicPr>
          <p:cNvPr id="9" name="图片 8"/>
          <p:cNvPicPr>
            <a:picLocks noChangeAspect="1"/>
          </p:cNvPicPr>
          <p:nvPr/>
        </p:nvPicPr>
        <p:blipFill>
          <a:blip r:embed="rId5"/>
          <a:stretch>
            <a:fillRect/>
          </a:stretch>
        </p:blipFill>
        <p:spPr>
          <a:xfrm>
            <a:off x="5937956" y="3649985"/>
            <a:ext cx="4369953" cy="3055148"/>
          </a:xfrm>
          <a:prstGeom prst="rect">
            <a:avLst/>
          </a:prstGeom>
          <a:ln>
            <a:solidFill>
              <a:srgbClr val="B83835"/>
            </a:solidFill>
          </a:ln>
        </p:spPr>
      </p:pic>
      <p:pic>
        <p:nvPicPr>
          <p:cNvPr id="10" name="图片 9"/>
          <p:cNvPicPr>
            <a:picLocks noChangeAspect="1"/>
          </p:cNvPicPr>
          <p:nvPr/>
        </p:nvPicPr>
        <p:blipFill>
          <a:blip r:embed="rId6"/>
          <a:stretch>
            <a:fillRect/>
          </a:stretch>
        </p:blipFill>
        <p:spPr>
          <a:xfrm>
            <a:off x="558585" y="4494738"/>
            <a:ext cx="2782926" cy="2244392"/>
          </a:xfrm>
          <a:prstGeom prst="rect">
            <a:avLst/>
          </a:prstGeom>
          <a:ln>
            <a:solidFill>
              <a:srgbClr val="C00000"/>
            </a:solidFill>
          </a:ln>
        </p:spPr>
      </p:pic>
      <p:sp>
        <p:nvSpPr>
          <p:cNvPr id="3" name="文本框 2"/>
          <p:cNvSpPr txBox="1"/>
          <p:nvPr/>
        </p:nvSpPr>
        <p:spPr>
          <a:xfrm>
            <a:off x="3341554" y="6674695"/>
            <a:ext cx="6096000" cy="183515"/>
          </a:xfrm>
          <a:prstGeom prst="rect">
            <a:avLst/>
          </a:prstGeom>
          <a:noFill/>
        </p:spPr>
        <p:txBody>
          <a:bodyPr wrap="square" anchor="t">
            <a:spAutoFit/>
          </a:bodyPr>
          <a:lstStyle/>
          <a:p>
            <a:pPr algn="l"/>
            <a:r>
              <a:rPr lang="zh-CN" altLang="en-US" sz="600" dirty="0">
                <a:latin typeface="微软雅黑" panose="020B0503020204020204" pitchFamily="34" charset="-122"/>
                <a:ea typeface="微软雅黑" panose="020B0503020204020204" pitchFamily="34" charset="-122"/>
                <a:sym typeface="+mn-ea"/>
              </a:rPr>
              <a:t>基金有风险，投资需谨慎。禁止第三方机构摘引、截取或以其他不恰当方式转播。</a:t>
            </a:r>
            <a:endParaRPr kumimoji="1" lang="zh-CN" altLang="en-US" sz="600" b="0" dirty="0">
              <a:solidFill>
                <a:srgbClr val="C00000"/>
              </a:solidFill>
              <a:latin typeface="微软雅黑" panose="020B0503020204020204" pitchFamily="34" charset="-122"/>
              <a:ea typeface="微软雅黑" panose="020B0503020204020204" pitchFamily="34" charset="-122"/>
              <a:sym typeface="+mn-ea"/>
            </a:endParaRPr>
          </a:p>
        </p:txBody>
      </p:sp>
      <p:pic>
        <p:nvPicPr>
          <p:cNvPr id="16" name="图片 15">
            <a:extLst>
              <a:ext uri="{FF2B5EF4-FFF2-40B4-BE49-F238E27FC236}">
                <a16:creationId xmlns="" xmlns:a16="http://schemas.microsoft.com/office/drawing/2014/main" id="{125E57F6-644F-7BDB-125F-12024E07F2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7519" y="840682"/>
            <a:ext cx="4463397" cy="3534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9" presetClass="entr" presetSubtype="0"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ppt_x</p:attrName>
                                        </p:attrNameLst>
                                      </p:cBhvr>
                                      <p:tavLst>
                                        <p:tav tm="0">
                                          <p:val>
                                            <p:strVal val="#ppt_x-.2"/>
                                          </p:val>
                                        </p:tav>
                                        <p:tav tm="100000">
                                          <p:val>
                                            <p:strVal val="#ppt_x"/>
                                          </p:val>
                                        </p:tav>
                                      </p:tavLst>
                                    </p:anim>
                                    <p:anim calcmode="lin" valueType="num">
                                      <p:cBhvr>
                                        <p:cTn id="13" dur="500" fill="hold"/>
                                        <p:tgtEl>
                                          <p:spTgt spid="4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half" idx="1"/>
          </p:nvPr>
        </p:nvSpPr>
        <p:spPr/>
        <p:txBody>
          <a:bodyPr/>
          <a:lstStyle/>
          <a:p>
            <a:pPr>
              <a:lnSpc>
                <a:spcPct val="130000"/>
              </a:lnSpc>
            </a:pPr>
            <a:r>
              <a:rPr lang="zh-CN" altLang="en-US" dirty="0"/>
              <a:t>本文件所包含的资料仅供一般性参考，不应视为任何形式的要约、要约邀请，亦非对任何交易的正式确认。本文件所提供的信息和资料不作为向本文件接收者提出的任何建议。银华基金及其雇员不对本文件信息资料的真实性、准确性、可靠性、完整性或其他方面作出保证或承诺，也不就该等信息的任何错误或遗漏承担任何责任。</a:t>
            </a:r>
          </a:p>
          <a:p>
            <a:pPr>
              <a:lnSpc>
                <a:spcPct val="130000"/>
              </a:lnSpc>
            </a:pPr>
            <a:endParaRPr lang="zh-CN" altLang="en-US" dirty="0"/>
          </a:p>
          <a:p>
            <a:pPr>
              <a:lnSpc>
                <a:spcPct val="130000"/>
              </a:lnSpc>
            </a:pPr>
            <a:r>
              <a:rPr lang="zh-CN" altLang="en-US" dirty="0"/>
              <a:t>任何通过本文件而获得的信息（包括但不限于产品信息、企业信息、行业资讯等），接收者应自行确认信息的真实性、准确性、完整性、时效性。</a:t>
            </a:r>
          </a:p>
          <a:p>
            <a:pPr>
              <a:lnSpc>
                <a:spcPct val="130000"/>
              </a:lnSpc>
            </a:pPr>
            <a:endParaRPr lang="zh-CN" altLang="en-US" dirty="0"/>
          </a:p>
          <a:p>
            <a:pPr>
              <a:lnSpc>
                <a:spcPct val="130000"/>
              </a:lnSpc>
            </a:pPr>
            <a:r>
              <a:rPr lang="zh-CN" altLang="en-US" dirty="0"/>
              <a:t>投资有风险，投资者在作出投资决策前应认真阅读相关产品正式法律文件以及银华基金相关公告的信息，以其作准，并自主决策、自行承担投资风险。</a:t>
            </a:r>
          </a:p>
          <a:p>
            <a:pPr>
              <a:lnSpc>
                <a:spcPct val="130000"/>
              </a:lnSpc>
            </a:pPr>
            <a:endParaRPr lang="zh-CN" altLang="en-US" dirty="0"/>
          </a:p>
          <a:p>
            <a:pPr>
              <a:lnSpc>
                <a:spcPct val="130000"/>
              </a:lnSpc>
            </a:pPr>
            <a:r>
              <a:rPr lang="zh-CN" altLang="en-US" dirty="0"/>
              <a:t>接收者应当对本文件进行严格保密，未经许可，不得向第三方披露、援引或用于其他用途、亦不得复制或传播本文件。</a:t>
            </a:r>
          </a:p>
        </p:txBody>
      </p:sp>
      <p:sp>
        <p:nvSpPr>
          <p:cNvPr id="3" name="标题 2"/>
          <p:cNvSpPr>
            <a:spLocks noGrp="1"/>
          </p:cNvSpPr>
          <p:nvPr>
            <p:ph type="title"/>
          </p:nvPr>
        </p:nvSpPr>
        <p:spPr>
          <a:prstGeom prst="rect">
            <a:avLst/>
          </a:prstGeom>
        </p:spPr>
        <p:txBody>
          <a:bodyPr/>
          <a:lstStyle/>
          <a:p>
            <a:r>
              <a:rPr lang="zh-CN" altLang="en-US" dirty="0"/>
              <a:t>声明页</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prstGeom prst="rect">
            <a:avLst/>
          </a:prstGeom>
        </p:spPr>
        <p:txBody>
          <a:bodyPr/>
          <a:lstStyle/>
          <a:p>
            <a:r>
              <a:rPr lang="zh-CN" altLang="en-US" dirty="0"/>
              <a:t>风险提示</a:t>
            </a:r>
          </a:p>
        </p:txBody>
      </p:sp>
      <p:sp>
        <p:nvSpPr>
          <p:cNvPr id="5" name="文本框 4"/>
          <p:cNvSpPr txBox="1"/>
          <p:nvPr/>
        </p:nvSpPr>
        <p:spPr>
          <a:xfrm>
            <a:off x="687705" y="1296670"/>
            <a:ext cx="10665460" cy="4754880"/>
          </a:xfrm>
          <a:prstGeom prst="rect">
            <a:avLst/>
          </a:prstGeom>
          <a:noFill/>
        </p:spPr>
        <p:txBody>
          <a:bodyPr wrap="square" rtlCol="0" anchor="t">
            <a:noAutofit/>
          </a:bodyPr>
          <a:lstStyle/>
          <a:p>
            <a:endParaRPr lang="zh-CN" altLang="en-US"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尊敬的投资者：</a:t>
            </a: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路演内容供参考，不作为投资建议。投资有风险，投资需谨慎。公开募集证券投资基金（以下简称</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基金</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是一种长期投资工具，其主要功能是分散投资，降低投资单一证券所带来的个别风险。基金不同于银行储蓄等能够提供固定收益预期的金融工具，当您购买基金产品时，既可能按持有份额分享基金投资所产生的收益，也可能承担基金投资所带来的损失。</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您在做出投资决策之前，请仔细阅读基金合同、基金招募说明书和基金产品资料概要等产品法律文件和本风险揭示书，充分认识本基金的风险收益特征和产品特性，认真考虑本基金存在的各项风险因素，并根据自身的投资目的、投资期限、投资经验、资产状况等因素充分考虑自身的风险承受能力，在了解产品情况及销售适当性意见的基础上，理性判断并谨慎做出投资决策。</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根据有关法律法规，银华基金管理股份有限公司做出如下风险揭示：</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一、依据投资对象的不同</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基金分为股票基金、混合基金、债券基金、货币市场基金、基金中基金、商品基金等不同类型，您投资不同类型的基金将获得不同的收益预期，也将承担不同程度的风险。一般来说，基金的收益预期越高，您承担的风险也越大。</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二、基金在投资运作过程中可能面临各种风险，既包括市场风险，也包括基金自身的管理风险、技术风险和合规风险等。巨额赎回风险是开放式基金所特有的一种风险，即当单个开放日基金的净赎回申请超过基金总份额的一定比例（开放式基金为百分之十，定期开放基金为百分之二十，中国证监会规定的特殊产品除外）时，您将可能无法及时赎回申请的全部基金份额，或您赎回的款项可能延缓支付。</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dirty="0">
                <a:solidFill>
                  <a:schemeClr val="tx1"/>
                </a:solidFill>
                <a:latin typeface="新宋体" panose="02010609030101010101" charset="-122"/>
                <a:ea typeface="新宋体" panose="02010609030101010101" charset="-122"/>
                <a:cs typeface="新宋体" panose="02010609030101010101" charset="-122"/>
              </a:rPr>
              <a:t>三、基金管理人承诺以诚实信用、勤勉尽责的原则管理和运用基金资产，但不保证本基金一定盈利，也不保证最低收益。</a:t>
            </a:r>
            <a:r>
              <a:rPr lang="zh-CN" altLang="en-US" sz="1200" b="1" dirty="0">
                <a:solidFill>
                  <a:schemeClr val="tx1"/>
                </a:solidFill>
                <a:latin typeface="新宋体" panose="02010609030101010101" charset="-122"/>
                <a:ea typeface="新宋体" panose="02010609030101010101" charset="-122"/>
                <a:cs typeface="新宋体" panose="02010609030101010101" charset="-122"/>
              </a:rPr>
              <a:t>基金的过往业绩及其净值高低并不预示其未来业绩表现，基金管理人管理的其他基金的业绩并不构成对本基金业绩表现的保证。</a:t>
            </a:r>
            <a:r>
              <a:rPr lang="zh-CN" altLang="en-US" sz="1000" dirty="0">
                <a:solidFill>
                  <a:schemeClr val="tx1"/>
                </a:solidFill>
                <a:latin typeface="新宋体" panose="02010609030101010101" charset="-122"/>
                <a:ea typeface="新宋体" panose="02010609030101010101" charset="-122"/>
                <a:cs typeface="新宋体" panose="02010609030101010101" charset="-122"/>
              </a:rPr>
              <a:t>银华基金管理股份有限公司提醒您基金投资的</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买者自负</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原则，在做出投资决策后，基金运营状况与基金净值变化引致的投资风险，由您自行负担。基金管理人、基金托管人、基金销售机构及相关机构不对基金投资收益做出任何承诺或保证。</a:t>
            </a:r>
          </a:p>
          <a:p>
            <a:endParaRPr lang="en-US" altLang="zh-CN" sz="1000" dirty="0">
              <a:solidFill>
                <a:schemeClr val="tx1"/>
              </a:solidFill>
              <a:latin typeface="新宋体" panose="02010609030101010101" charset="-122"/>
              <a:ea typeface="新宋体" panose="02010609030101010101" charset="-122"/>
              <a:cs typeface="新宋体" panose="02010609030101010101" charset="-122"/>
            </a:endParaRPr>
          </a:p>
          <a:p>
            <a:r>
              <a:rPr lang="zh-CN" altLang="en-US" sz="1000">
                <a:solidFill>
                  <a:schemeClr val="tx1"/>
                </a:solidFill>
                <a:latin typeface="新宋体" panose="02010609030101010101" charset="-122"/>
                <a:ea typeface="新宋体" panose="02010609030101010101" charset="-122"/>
                <a:cs typeface="新宋体" panose="02010609030101010101" charset="-122"/>
              </a:rPr>
              <a:t>四、</a:t>
            </a:r>
            <a:r>
              <a:rPr lang="zh-CN" altLang="en-US" sz="1000" dirty="0">
                <a:solidFill>
                  <a:schemeClr val="tx1"/>
                </a:solidFill>
                <a:latin typeface="新宋体" panose="02010609030101010101" charset="-122"/>
                <a:ea typeface="新宋体" panose="02010609030101010101" charset="-122"/>
                <a:cs typeface="新宋体" panose="02010609030101010101" charset="-122"/>
              </a:rPr>
              <a:t>银华基金管理股份有限公司旗下基金产品依照有关法律法规及约定申请募集，并经中国证券监督管理委员会（以下简称</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中国证监会</a:t>
            </a:r>
            <a:r>
              <a:rPr lang="en-US" altLang="zh-CN" sz="1000" dirty="0">
                <a:solidFill>
                  <a:schemeClr val="tx1"/>
                </a:solidFill>
                <a:latin typeface="新宋体" panose="02010609030101010101" charset="-122"/>
                <a:ea typeface="新宋体" panose="02010609030101010101" charset="-122"/>
                <a:cs typeface="新宋体" panose="02010609030101010101" charset="-122"/>
              </a:rPr>
              <a:t>”</a:t>
            </a:r>
            <a:r>
              <a:rPr lang="zh-CN" altLang="en-US" sz="1000" dirty="0">
                <a:solidFill>
                  <a:schemeClr val="tx1"/>
                </a:solidFill>
                <a:latin typeface="新宋体" panose="02010609030101010101" charset="-122"/>
                <a:ea typeface="新宋体" panose="02010609030101010101" charset="-122"/>
                <a:cs typeface="新宋体" panose="02010609030101010101" charset="-122"/>
              </a:rPr>
              <a:t>）许可注册。基金的基金合同、基金招募说明书和基金产品资料概要已通过中国证监会基金电子披露网站</a:t>
            </a:r>
            <a:r>
              <a:rPr lang="en-US" altLang="zh-CN" sz="1000" dirty="0">
                <a:solidFill>
                  <a:schemeClr val="tx1"/>
                </a:solidFill>
                <a:latin typeface="新宋体" panose="02010609030101010101" charset="-122"/>
                <a:ea typeface="新宋体" panose="02010609030101010101" charset="-122"/>
                <a:cs typeface="新宋体" panose="02010609030101010101" charset="-122"/>
              </a:rPr>
              <a:t>http://eid.csrc.gov.cn/fund</a:t>
            </a:r>
            <a:r>
              <a:rPr lang="zh-CN" altLang="en-US" sz="1000" dirty="0">
                <a:solidFill>
                  <a:schemeClr val="tx1"/>
                </a:solidFill>
                <a:latin typeface="新宋体" panose="02010609030101010101" charset="-122"/>
                <a:ea typeface="新宋体" panose="02010609030101010101" charset="-122"/>
                <a:cs typeface="新宋体" panose="02010609030101010101" charset="-122"/>
              </a:rPr>
              <a:t>和基金管理人网站</a:t>
            </a:r>
            <a:r>
              <a:rPr lang="en-US" altLang="zh-CN" sz="1000" dirty="0">
                <a:solidFill>
                  <a:schemeClr val="tx1"/>
                </a:solidFill>
                <a:latin typeface="新宋体" panose="02010609030101010101" charset="-122"/>
                <a:ea typeface="新宋体" panose="02010609030101010101" charset="-122"/>
                <a:cs typeface="新宋体" panose="02010609030101010101" charset="-122"/>
              </a:rPr>
              <a:t>www.yhfund.com.cn</a:t>
            </a:r>
            <a:r>
              <a:rPr lang="zh-CN" altLang="en-US" sz="1000" dirty="0">
                <a:solidFill>
                  <a:schemeClr val="tx1"/>
                </a:solidFill>
                <a:latin typeface="新宋体" panose="02010609030101010101" charset="-122"/>
                <a:ea typeface="新宋体" panose="02010609030101010101" charset="-122"/>
                <a:cs typeface="新宋体" panose="02010609030101010101" charset="-122"/>
              </a:rPr>
              <a:t>进行了公开披露。中国证监会对本基金的注册，并不表明其对本基金的投资价值、市场前景和收益作出实质性判断或保证，也不表明投资于本基金没有风险。</a:t>
            </a:r>
          </a:p>
          <a:p>
            <a:endParaRPr lang="zh-CN" altLang="en-US" sz="1000" dirty="0">
              <a:solidFill>
                <a:schemeClr val="tx1"/>
              </a:solidFill>
              <a:latin typeface="新宋体" panose="02010609030101010101" charset="-122"/>
              <a:ea typeface="新宋体" panose="02010609030101010101" charset="-122"/>
              <a:cs typeface="新宋体" panose="0201060903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9067800" y="4060504"/>
            <a:ext cx="1485900" cy="1143000"/>
          </a:xfrm>
          <a:prstGeom prst="roundRect">
            <a:avLst>
              <a:gd name="adj" fmla="val 10000"/>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486778" y="919130"/>
            <a:ext cx="7946623" cy="1056956"/>
          </a:xfrm>
          <a:prstGeom prst="rect">
            <a:avLst/>
          </a:prstGeom>
          <a:noFill/>
        </p:spPr>
        <p:txBody>
          <a:bodyPr wrap="square" rtlCol="0">
            <a:spAutoFit/>
            <a:scene3d>
              <a:camera prst="orthographicFront"/>
              <a:lightRig rig="threePt" dir="t"/>
            </a:scene3d>
            <a:sp3d contourW="12700"/>
          </a:bodyPr>
          <a:lstStyle/>
          <a:p>
            <a:pPr algn="r">
              <a:lnSpc>
                <a:spcPct val="114000"/>
              </a:lnSpc>
            </a:pPr>
            <a:r>
              <a:rPr lang="en-US" altLang="zh-CN" sz="6000" b="1" dirty="0">
                <a:solidFill>
                  <a:srgbClr val="B83835"/>
                </a:solidFill>
                <a:ea typeface="+mj-ea"/>
              </a:rPr>
              <a:t>THANK </a:t>
            </a:r>
            <a:r>
              <a:rPr lang="en-US" altLang="zh-CN" sz="6000" b="1" dirty="0">
                <a:solidFill>
                  <a:schemeClr val="bg2">
                    <a:lumMod val="25000"/>
                  </a:schemeClr>
                </a:solidFill>
                <a:ea typeface="+mj-ea"/>
              </a:rPr>
              <a:t>YOU</a:t>
            </a:r>
          </a:p>
        </p:txBody>
      </p:sp>
      <p:sp>
        <p:nvSpPr>
          <p:cNvPr id="5" name="任意多边形 30"/>
          <p:cNvSpPr/>
          <p:nvPr/>
        </p:nvSpPr>
        <p:spPr>
          <a:xfrm>
            <a:off x="0" y="4060504"/>
            <a:ext cx="7277100" cy="1143000"/>
          </a:xfrm>
          <a:custGeom>
            <a:avLst/>
            <a:gdLst>
              <a:gd name="connsiteX0" fmla="*/ 0 w 7277100"/>
              <a:gd name="connsiteY0" fmla="*/ 0 h 1143000"/>
              <a:gd name="connsiteX1" fmla="*/ 114300 w 7277100"/>
              <a:gd name="connsiteY1" fmla="*/ 0 h 1143000"/>
              <a:gd name="connsiteX2" fmla="*/ 3773714 w 7277100"/>
              <a:gd name="connsiteY2" fmla="*/ 0 h 1143000"/>
              <a:gd name="connsiteX3" fmla="*/ 7162800 w 7277100"/>
              <a:gd name="connsiteY3" fmla="*/ 0 h 1143000"/>
              <a:gd name="connsiteX4" fmla="*/ 7277100 w 7277100"/>
              <a:gd name="connsiteY4" fmla="*/ 114300 h 1143000"/>
              <a:gd name="connsiteX5" fmla="*/ 7277100 w 7277100"/>
              <a:gd name="connsiteY5" fmla="*/ 1028700 h 1143000"/>
              <a:gd name="connsiteX6" fmla="*/ 7162800 w 7277100"/>
              <a:gd name="connsiteY6" fmla="*/ 1143000 h 1143000"/>
              <a:gd name="connsiteX7" fmla="*/ 3773714 w 7277100"/>
              <a:gd name="connsiteY7" fmla="*/ 1143000 h 1143000"/>
              <a:gd name="connsiteX8" fmla="*/ 114300 w 7277100"/>
              <a:gd name="connsiteY8" fmla="*/ 1143000 h 1143000"/>
              <a:gd name="connsiteX9" fmla="*/ 0 w 7277100"/>
              <a:gd name="connsiteY9" fmla="*/ 1143000 h 1143000"/>
              <a:gd name="connsiteX10" fmla="*/ 0 w 7277100"/>
              <a:gd name="connsiteY10" fmla="*/ 1028700 h 1143000"/>
              <a:gd name="connsiteX11" fmla="*/ 0 w 7277100"/>
              <a:gd name="connsiteY11" fmla="*/ 114300 h 1143000"/>
              <a:gd name="connsiteX0-1" fmla="*/ 0 w 7277100"/>
              <a:gd name="connsiteY0-2" fmla="*/ 0 h 1143000"/>
              <a:gd name="connsiteX1-3" fmla="*/ 114300 w 7277100"/>
              <a:gd name="connsiteY1-4" fmla="*/ 0 h 1143000"/>
              <a:gd name="connsiteX2-5" fmla="*/ 7162800 w 7277100"/>
              <a:gd name="connsiteY2-6" fmla="*/ 0 h 1143000"/>
              <a:gd name="connsiteX3-7" fmla="*/ 7277100 w 7277100"/>
              <a:gd name="connsiteY3-8" fmla="*/ 114300 h 1143000"/>
              <a:gd name="connsiteX4-9" fmla="*/ 7277100 w 7277100"/>
              <a:gd name="connsiteY4-10" fmla="*/ 1028700 h 1143000"/>
              <a:gd name="connsiteX5-11" fmla="*/ 7162800 w 7277100"/>
              <a:gd name="connsiteY5-12" fmla="*/ 1143000 h 1143000"/>
              <a:gd name="connsiteX6-13" fmla="*/ 3773714 w 7277100"/>
              <a:gd name="connsiteY6-14" fmla="*/ 1143000 h 1143000"/>
              <a:gd name="connsiteX7-15" fmla="*/ 114300 w 7277100"/>
              <a:gd name="connsiteY7-16" fmla="*/ 1143000 h 1143000"/>
              <a:gd name="connsiteX8-17" fmla="*/ 0 w 7277100"/>
              <a:gd name="connsiteY8-18" fmla="*/ 1143000 h 1143000"/>
              <a:gd name="connsiteX9-19" fmla="*/ 0 w 7277100"/>
              <a:gd name="connsiteY9-20" fmla="*/ 1028700 h 1143000"/>
              <a:gd name="connsiteX10-21" fmla="*/ 0 w 7277100"/>
              <a:gd name="connsiteY10-22" fmla="*/ 114300 h 1143000"/>
              <a:gd name="connsiteX11-23" fmla="*/ 0 w 7277100"/>
              <a:gd name="connsiteY11-24" fmla="*/ 0 h 1143000"/>
              <a:gd name="connsiteX0-25" fmla="*/ 0 w 7277100"/>
              <a:gd name="connsiteY0-26" fmla="*/ 0 h 1143000"/>
              <a:gd name="connsiteX1-27" fmla="*/ 114300 w 7277100"/>
              <a:gd name="connsiteY1-28" fmla="*/ 0 h 1143000"/>
              <a:gd name="connsiteX2-29" fmla="*/ 7162800 w 7277100"/>
              <a:gd name="connsiteY2-30" fmla="*/ 0 h 1143000"/>
              <a:gd name="connsiteX3-31" fmla="*/ 7277100 w 7277100"/>
              <a:gd name="connsiteY3-32" fmla="*/ 114300 h 1143000"/>
              <a:gd name="connsiteX4-33" fmla="*/ 7277100 w 7277100"/>
              <a:gd name="connsiteY4-34" fmla="*/ 1028700 h 1143000"/>
              <a:gd name="connsiteX5-35" fmla="*/ 7162800 w 7277100"/>
              <a:gd name="connsiteY5-36" fmla="*/ 1143000 h 1143000"/>
              <a:gd name="connsiteX6-37" fmla="*/ 114300 w 7277100"/>
              <a:gd name="connsiteY6-38" fmla="*/ 1143000 h 1143000"/>
              <a:gd name="connsiteX7-39" fmla="*/ 0 w 7277100"/>
              <a:gd name="connsiteY7-40" fmla="*/ 1143000 h 1143000"/>
              <a:gd name="connsiteX8-41" fmla="*/ 0 w 7277100"/>
              <a:gd name="connsiteY8-42" fmla="*/ 1028700 h 1143000"/>
              <a:gd name="connsiteX9-43" fmla="*/ 0 w 7277100"/>
              <a:gd name="connsiteY9-44" fmla="*/ 114300 h 1143000"/>
              <a:gd name="connsiteX10-45" fmla="*/ 0 w 7277100"/>
              <a:gd name="connsiteY10-4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7277100" h="1143000">
                <a:moveTo>
                  <a:pt x="0" y="0"/>
                </a:moveTo>
                <a:lnTo>
                  <a:pt x="114300" y="0"/>
                </a:lnTo>
                <a:lnTo>
                  <a:pt x="7162800" y="0"/>
                </a:lnTo>
                <a:cubicBezTo>
                  <a:pt x="7225926" y="0"/>
                  <a:pt x="7277100" y="51174"/>
                  <a:pt x="7277100" y="114300"/>
                </a:cubicBezTo>
                <a:lnTo>
                  <a:pt x="7277100" y="1028700"/>
                </a:lnTo>
                <a:cubicBezTo>
                  <a:pt x="7277100" y="1091826"/>
                  <a:pt x="7225926" y="1143000"/>
                  <a:pt x="7162800" y="1143000"/>
                </a:cubicBezTo>
                <a:lnTo>
                  <a:pt x="114300" y="1143000"/>
                </a:lnTo>
                <a:lnTo>
                  <a:pt x="0" y="1143000"/>
                </a:lnTo>
                <a:lnTo>
                  <a:pt x="0" y="1028700"/>
                </a:lnTo>
                <a:lnTo>
                  <a:pt x="0" y="114300"/>
                </a:lnTo>
                <a:lnTo>
                  <a:pt x="0" y="0"/>
                </a:lnTo>
                <a:close/>
              </a:path>
            </a:pathLst>
          </a:cu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28"/>
          <p:cNvSpPr/>
          <p:nvPr/>
        </p:nvSpPr>
        <p:spPr>
          <a:xfrm>
            <a:off x="7429500" y="2784154"/>
            <a:ext cx="4762500" cy="1143000"/>
          </a:xfrm>
          <a:custGeom>
            <a:avLst/>
            <a:gdLst>
              <a:gd name="connsiteX0" fmla="*/ 114300 w 4762500"/>
              <a:gd name="connsiteY0" fmla="*/ 0 h 1143000"/>
              <a:gd name="connsiteX1" fmla="*/ 3722204 w 4762500"/>
              <a:gd name="connsiteY1" fmla="*/ 0 h 1143000"/>
              <a:gd name="connsiteX2" fmla="*/ 4648200 w 4762500"/>
              <a:gd name="connsiteY2" fmla="*/ 0 h 1143000"/>
              <a:gd name="connsiteX3" fmla="*/ 4762500 w 4762500"/>
              <a:gd name="connsiteY3" fmla="*/ 0 h 1143000"/>
              <a:gd name="connsiteX4" fmla="*/ 4762500 w 4762500"/>
              <a:gd name="connsiteY4" fmla="*/ 114300 h 1143000"/>
              <a:gd name="connsiteX5" fmla="*/ 4762500 w 4762500"/>
              <a:gd name="connsiteY5" fmla="*/ 1028700 h 1143000"/>
              <a:gd name="connsiteX6" fmla="*/ 4762500 w 4762500"/>
              <a:gd name="connsiteY6" fmla="*/ 1143000 h 1143000"/>
              <a:gd name="connsiteX7" fmla="*/ 4648200 w 4762500"/>
              <a:gd name="connsiteY7" fmla="*/ 1143000 h 1143000"/>
              <a:gd name="connsiteX8" fmla="*/ 3722204 w 4762500"/>
              <a:gd name="connsiteY8" fmla="*/ 1143000 h 1143000"/>
              <a:gd name="connsiteX9" fmla="*/ 114300 w 4762500"/>
              <a:gd name="connsiteY9" fmla="*/ 1143000 h 1143000"/>
              <a:gd name="connsiteX10" fmla="*/ 0 w 4762500"/>
              <a:gd name="connsiteY10" fmla="*/ 1028700 h 1143000"/>
              <a:gd name="connsiteX11" fmla="*/ 0 w 4762500"/>
              <a:gd name="connsiteY11" fmla="*/ 114300 h 1143000"/>
              <a:gd name="connsiteX12" fmla="*/ 114300 w 4762500"/>
              <a:gd name="connsiteY12" fmla="*/ 0 h 1143000"/>
              <a:gd name="connsiteX0-1" fmla="*/ 114300 w 4762500"/>
              <a:gd name="connsiteY0-2" fmla="*/ 0 h 1143000"/>
              <a:gd name="connsiteX1-3" fmla="*/ 4648200 w 4762500"/>
              <a:gd name="connsiteY1-4" fmla="*/ 0 h 1143000"/>
              <a:gd name="connsiteX2-5" fmla="*/ 4762500 w 4762500"/>
              <a:gd name="connsiteY2-6" fmla="*/ 0 h 1143000"/>
              <a:gd name="connsiteX3-7" fmla="*/ 4762500 w 4762500"/>
              <a:gd name="connsiteY3-8" fmla="*/ 114300 h 1143000"/>
              <a:gd name="connsiteX4-9" fmla="*/ 4762500 w 4762500"/>
              <a:gd name="connsiteY4-10" fmla="*/ 1028700 h 1143000"/>
              <a:gd name="connsiteX5-11" fmla="*/ 4762500 w 4762500"/>
              <a:gd name="connsiteY5-12" fmla="*/ 1143000 h 1143000"/>
              <a:gd name="connsiteX6-13" fmla="*/ 4648200 w 4762500"/>
              <a:gd name="connsiteY6-14" fmla="*/ 1143000 h 1143000"/>
              <a:gd name="connsiteX7-15" fmla="*/ 3722204 w 4762500"/>
              <a:gd name="connsiteY7-16" fmla="*/ 1143000 h 1143000"/>
              <a:gd name="connsiteX8-17" fmla="*/ 114300 w 4762500"/>
              <a:gd name="connsiteY8-18" fmla="*/ 1143000 h 1143000"/>
              <a:gd name="connsiteX9-19" fmla="*/ 0 w 4762500"/>
              <a:gd name="connsiteY9-20" fmla="*/ 1028700 h 1143000"/>
              <a:gd name="connsiteX10-21" fmla="*/ 0 w 4762500"/>
              <a:gd name="connsiteY10-22" fmla="*/ 114300 h 1143000"/>
              <a:gd name="connsiteX11-23" fmla="*/ 114300 w 4762500"/>
              <a:gd name="connsiteY11-24" fmla="*/ 0 h 1143000"/>
              <a:gd name="connsiteX0-25" fmla="*/ 114300 w 4762500"/>
              <a:gd name="connsiteY0-26" fmla="*/ 0 h 1143000"/>
              <a:gd name="connsiteX1-27" fmla="*/ 4648200 w 4762500"/>
              <a:gd name="connsiteY1-28" fmla="*/ 0 h 1143000"/>
              <a:gd name="connsiteX2-29" fmla="*/ 4762500 w 4762500"/>
              <a:gd name="connsiteY2-30" fmla="*/ 0 h 1143000"/>
              <a:gd name="connsiteX3-31" fmla="*/ 4762500 w 4762500"/>
              <a:gd name="connsiteY3-32" fmla="*/ 114300 h 1143000"/>
              <a:gd name="connsiteX4-33" fmla="*/ 4762500 w 4762500"/>
              <a:gd name="connsiteY4-34" fmla="*/ 1028700 h 1143000"/>
              <a:gd name="connsiteX5-35" fmla="*/ 4762500 w 4762500"/>
              <a:gd name="connsiteY5-36" fmla="*/ 1143000 h 1143000"/>
              <a:gd name="connsiteX6-37" fmla="*/ 4648200 w 4762500"/>
              <a:gd name="connsiteY6-38" fmla="*/ 1143000 h 1143000"/>
              <a:gd name="connsiteX7-39" fmla="*/ 114300 w 4762500"/>
              <a:gd name="connsiteY7-40" fmla="*/ 1143000 h 1143000"/>
              <a:gd name="connsiteX8-41" fmla="*/ 0 w 4762500"/>
              <a:gd name="connsiteY8-42" fmla="*/ 1028700 h 1143000"/>
              <a:gd name="connsiteX9-43" fmla="*/ 0 w 4762500"/>
              <a:gd name="connsiteY9-44" fmla="*/ 114300 h 1143000"/>
              <a:gd name="connsiteX10-45" fmla="*/ 114300 w 4762500"/>
              <a:gd name="connsiteY10-4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762500" h="1143000">
                <a:moveTo>
                  <a:pt x="114300" y="0"/>
                </a:moveTo>
                <a:lnTo>
                  <a:pt x="4648200" y="0"/>
                </a:lnTo>
                <a:lnTo>
                  <a:pt x="4762500" y="0"/>
                </a:lnTo>
                <a:lnTo>
                  <a:pt x="4762500" y="114300"/>
                </a:lnTo>
                <a:lnTo>
                  <a:pt x="4762500" y="1028700"/>
                </a:lnTo>
                <a:lnTo>
                  <a:pt x="4762500" y="1143000"/>
                </a:lnTo>
                <a:lnTo>
                  <a:pt x="4648200" y="1143000"/>
                </a:lnTo>
                <a:lnTo>
                  <a:pt x="114300" y="1143000"/>
                </a:lnTo>
                <a:cubicBezTo>
                  <a:pt x="51174" y="1143000"/>
                  <a:pt x="0" y="1091826"/>
                  <a:pt x="0" y="1028700"/>
                </a:cubicBezTo>
                <a:lnTo>
                  <a:pt x="0" y="114300"/>
                </a:lnTo>
                <a:cubicBezTo>
                  <a:pt x="0" y="51174"/>
                  <a:pt x="51174" y="0"/>
                  <a:pt x="114300" y="0"/>
                </a:cubicBezTo>
                <a:close/>
              </a:path>
            </a:pathLst>
          </a:custGeom>
          <a:solidFill>
            <a:srgbClr val="B83835">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7429500" y="4060504"/>
            <a:ext cx="1485900" cy="1143000"/>
          </a:xfrm>
          <a:prstGeom prst="roundRect">
            <a:avLst>
              <a:gd name="adj" fmla="val 10000"/>
            </a:avLst>
          </a:prstGeom>
          <a:solidFill>
            <a:srgbClr val="B83835">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object 8"/>
          <p:cNvSpPr/>
          <p:nvPr/>
        </p:nvSpPr>
        <p:spPr>
          <a:xfrm>
            <a:off x="9371255" y="5612037"/>
            <a:ext cx="644480" cy="661724"/>
          </a:xfrm>
          <a:custGeom>
            <a:avLst/>
            <a:gdLst/>
            <a:ahLst/>
            <a:cxnLst/>
            <a:rect l="l" t="t" r="r" b="b"/>
            <a:pathLst>
              <a:path w="788035" h="788035">
                <a:moveTo>
                  <a:pt x="787526" y="787539"/>
                </a:moveTo>
                <a:lnTo>
                  <a:pt x="0" y="787539"/>
                </a:lnTo>
                <a:lnTo>
                  <a:pt x="0" y="0"/>
                </a:lnTo>
                <a:lnTo>
                  <a:pt x="787526" y="0"/>
                </a:lnTo>
                <a:lnTo>
                  <a:pt x="787526" y="787539"/>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圆角矩形 21"/>
          <p:cNvSpPr/>
          <p:nvPr/>
        </p:nvSpPr>
        <p:spPr>
          <a:xfrm>
            <a:off x="5355771" y="2784154"/>
            <a:ext cx="1921329" cy="1143000"/>
          </a:xfrm>
          <a:prstGeom prst="roundRect">
            <a:avLst>
              <a:gd name="adj" fmla="val 10000"/>
            </a:avLst>
          </a:prstGeom>
          <a:solidFill>
            <a:srgbClr val="B83835">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p:cNvSpPr/>
          <p:nvPr/>
        </p:nvSpPr>
        <p:spPr>
          <a:xfrm>
            <a:off x="10706100" y="4060504"/>
            <a:ext cx="1921329" cy="1143000"/>
          </a:xfrm>
          <a:prstGeom prst="roundRect">
            <a:avLst>
              <a:gd name="adj" fmla="val 10000"/>
            </a:avLst>
          </a:prstGeom>
          <a:solidFill>
            <a:srgbClr val="B83835">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533709" y="6181629"/>
            <a:ext cx="276008" cy="276008"/>
          </a:xfrm>
          <a:prstGeom prst="ellipse">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533709" y="5827428"/>
            <a:ext cx="276008" cy="276008"/>
          </a:xfrm>
          <a:prstGeom prst="ellipse">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533709" y="5473227"/>
            <a:ext cx="276008" cy="276008"/>
          </a:xfrm>
          <a:prstGeom prst="ellipse">
            <a:avLst/>
          </a:prstGeom>
          <a:solidFill>
            <a:srgbClr val="B838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908200" y="5457977"/>
            <a:ext cx="2740383" cy="276999"/>
          </a:xfrm>
          <a:prstGeom prst="rect">
            <a:avLst/>
          </a:prstGeom>
          <a:noFill/>
        </p:spPr>
        <p:txBody>
          <a:bodyPr wrap="square" rtlCol="0">
            <a:spAutoFit/>
            <a:scene3d>
              <a:camera prst="orthographicFront"/>
              <a:lightRig rig="threePt" dir="t"/>
            </a:scene3d>
            <a:sp3d contourW="12700"/>
          </a:bodyPr>
          <a:lstStyle/>
          <a:p>
            <a:pPr marL="12700">
              <a:spcBef>
                <a:spcPts val="165"/>
              </a:spcBef>
            </a:pPr>
            <a:r>
              <a:rPr lang="zh-CN" altLang="en-US" sz="120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网</a:t>
            </a:r>
            <a:r>
              <a:rPr lang="zh-CN" altLang="en-US" sz="1200" spc="-4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 </a:t>
            </a:r>
            <a:r>
              <a:rPr lang="zh-CN" altLang="en-US" sz="1200" spc="9"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址：</a:t>
            </a:r>
            <a:r>
              <a:rPr lang="en-GB" altLang="zh-CN" sz="1200" spc="9" dirty="0" err="1">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www.yhfund.com.cn</a:t>
            </a:r>
            <a:endParaRPr lang="en-GB" altLang="zh-CN" sz="1200" spc="9"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endParaRPr>
          </a:p>
        </p:txBody>
      </p:sp>
      <p:sp>
        <p:nvSpPr>
          <p:cNvPr id="37" name="文本框 36"/>
          <p:cNvSpPr txBox="1"/>
          <p:nvPr/>
        </p:nvSpPr>
        <p:spPr>
          <a:xfrm>
            <a:off x="908200" y="5809340"/>
            <a:ext cx="3258857" cy="286425"/>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200" spc="-9"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客服中心：</a:t>
            </a:r>
            <a:r>
              <a:rPr lang="en-US" altLang="zh-CN" sz="1200" spc="-9"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400</a:t>
            </a:r>
            <a:r>
              <a:rPr lang="zh-CN" altLang="en-US" sz="1200" spc="-4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 </a:t>
            </a:r>
            <a:r>
              <a:rPr lang="en-US" altLang="zh-CN" sz="1200" spc="-15"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678</a:t>
            </a:r>
            <a:r>
              <a:rPr lang="zh-CN" altLang="en-US" sz="1200" spc="-4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 </a:t>
            </a:r>
            <a:r>
              <a:rPr lang="en-US" altLang="zh-CN" sz="1200" spc="-15"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3333</a:t>
            </a:r>
            <a:r>
              <a:rPr lang="zh-CN" altLang="en-US" sz="1200" spc="-40"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 </a:t>
            </a:r>
            <a:r>
              <a:rPr lang="en-US" altLang="zh-CN" sz="1200" spc="-15" dirty="0">
                <a:solidFill>
                  <a:schemeClr val="bg2">
                    <a:lumMod val="25000"/>
                  </a:schemeClr>
                </a:solidFill>
                <a:latin typeface="微软雅黑" panose="020B0503020204020204" pitchFamily="34" charset="-122"/>
                <a:ea typeface="微软雅黑" panose="020B0503020204020204" pitchFamily="34" charset="-122"/>
                <a:cs typeface="Arial Unicode MS" panose="020B0604020202020204" charset="-122"/>
              </a:rPr>
              <a:t>010-85186558</a:t>
            </a:r>
            <a:endParaRPr lang="en-US" altLang="zh-CN" sz="1200" dirty="0">
              <a:solidFill>
                <a:schemeClr val="bg2">
                  <a:lumMod val="25000"/>
                </a:schemeClr>
              </a:solidFill>
              <a:latin typeface="Century Gothic" panose="020B0502020202020204" pitchFamily="34" charset="0"/>
              <a:ea typeface="+mj-ea"/>
            </a:endParaRPr>
          </a:p>
        </p:txBody>
      </p:sp>
      <p:sp>
        <p:nvSpPr>
          <p:cNvPr id="38" name="椭圆 23"/>
          <p:cNvSpPr/>
          <p:nvPr/>
        </p:nvSpPr>
        <p:spPr>
          <a:xfrm>
            <a:off x="596869" y="6227598"/>
            <a:ext cx="156601" cy="156395"/>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文本框 38"/>
          <p:cNvSpPr txBox="1"/>
          <p:nvPr/>
        </p:nvSpPr>
        <p:spPr>
          <a:xfrm>
            <a:off x="908200" y="6160703"/>
            <a:ext cx="7626200" cy="497380"/>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200" dirty="0">
                <a:solidFill>
                  <a:schemeClr val="bg2">
                    <a:lumMod val="25000"/>
                  </a:schemeClr>
                </a:solidFill>
                <a:latin typeface="+mn-ea"/>
              </a:rPr>
              <a:t>地址：</a:t>
            </a:r>
            <a:r>
              <a:rPr lang="zh-CN" altLang="en-US" sz="1200" dirty="0">
                <a:solidFill>
                  <a:schemeClr val="bg2">
                    <a:lumMod val="25000"/>
                  </a:schemeClr>
                </a:solidFill>
                <a:latin typeface="+mj-ea"/>
                <a:ea typeface="+mj-ea"/>
              </a:rPr>
              <a:t>北京市东城区东长安街</a:t>
            </a:r>
            <a:r>
              <a:rPr lang="en-US" altLang="zh-CN" sz="1200" dirty="0">
                <a:solidFill>
                  <a:schemeClr val="bg2">
                    <a:lumMod val="25000"/>
                  </a:schemeClr>
                </a:solidFill>
                <a:latin typeface="+mj-ea"/>
                <a:ea typeface="+mj-ea"/>
              </a:rPr>
              <a:t>1</a:t>
            </a:r>
            <a:r>
              <a:rPr lang="zh-CN" altLang="en-US" sz="1200" dirty="0">
                <a:solidFill>
                  <a:schemeClr val="bg2">
                    <a:lumMod val="25000"/>
                  </a:schemeClr>
                </a:solidFill>
                <a:latin typeface="+mj-ea"/>
                <a:ea typeface="+mj-ea"/>
              </a:rPr>
              <a:t>号东方广场东方经贸城中二办公楼十五层</a:t>
            </a:r>
          </a:p>
          <a:p>
            <a:pPr>
              <a:lnSpc>
                <a:spcPct val="114000"/>
              </a:lnSpc>
            </a:pPr>
            <a:endParaRPr lang="zh-CN" altLang="en-US" sz="1200" dirty="0">
              <a:solidFill>
                <a:schemeClr val="bg2">
                  <a:lumMod val="25000"/>
                </a:schemeClr>
              </a:solidFill>
              <a:latin typeface="+mj-ea"/>
              <a:ea typeface="+mj-ea"/>
            </a:endParaRPr>
          </a:p>
        </p:txBody>
      </p:sp>
      <p:pic>
        <p:nvPicPr>
          <p:cNvPr id="40" name="图片 39"/>
          <p:cNvPicPr>
            <a:picLocks noChangeAspect="1"/>
          </p:cNvPicPr>
          <p:nvPr/>
        </p:nvPicPr>
        <p:blipFill>
          <a:blip r:embed="rId3" cstate="print"/>
          <a:stretch>
            <a:fillRect/>
          </a:stretch>
        </p:blipFill>
        <p:spPr>
          <a:xfrm>
            <a:off x="591801" y="5530411"/>
            <a:ext cx="161641" cy="161641"/>
          </a:xfrm>
          <a:prstGeom prst="rect">
            <a:avLst/>
          </a:prstGeom>
        </p:spPr>
      </p:pic>
      <p:pic>
        <p:nvPicPr>
          <p:cNvPr id="41" name="图片 40"/>
          <p:cNvPicPr>
            <a:picLocks noChangeAspect="1"/>
          </p:cNvPicPr>
          <p:nvPr/>
        </p:nvPicPr>
        <p:blipFill>
          <a:blip r:embed="rId4" cstate="print"/>
          <a:stretch>
            <a:fillRect/>
          </a:stretch>
        </p:blipFill>
        <p:spPr>
          <a:xfrm>
            <a:off x="586810" y="5884090"/>
            <a:ext cx="169807" cy="162684"/>
          </a:xfrm>
          <a:prstGeom prst="rect">
            <a:avLst/>
          </a:prstGeom>
        </p:spPr>
      </p:pic>
      <p:pic>
        <p:nvPicPr>
          <p:cNvPr id="42" name="图片 11" descr="00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709" y="398914"/>
            <a:ext cx="1662557" cy="42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圆角矩形 42"/>
          <p:cNvSpPr/>
          <p:nvPr/>
        </p:nvSpPr>
        <p:spPr>
          <a:xfrm rot="5400000">
            <a:off x="11819164" y="3925813"/>
            <a:ext cx="1921329" cy="1143000"/>
          </a:xfrm>
          <a:prstGeom prst="roundRect">
            <a:avLst>
              <a:gd name="adj" fmla="val 10000"/>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par>
                          <p:cTn id="17" fill="hold">
                            <p:stCondLst>
                              <p:cond delay="1000"/>
                            </p:stCondLst>
                            <p:childTnLst>
                              <p:par>
                                <p:cTn id="18" presetID="2" presetClass="entr" presetSubtype="8"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0-#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childTnLst>
                          </p:cTn>
                        </p:par>
                        <p:par>
                          <p:cTn id="47" fill="hold">
                            <p:stCondLst>
                              <p:cond delay="3500"/>
                            </p:stCondLst>
                            <p:childTnLst>
                              <p:par>
                                <p:cTn id="48" presetID="10" presetClass="entr" presetSubtype="0" fill="hold" grpId="0" nodeType="after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500"/>
                                        <p:tgtEl>
                                          <p:spTgt spid="34"/>
                                        </p:tgtEl>
                                      </p:cBhvr>
                                    </p:animEffect>
                                  </p:childTnLst>
                                </p:cTn>
                              </p:par>
                            </p:childTnLst>
                          </p:cTn>
                        </p:par>
                        <p:par>
                          <p:cTn id="51" fill="hold">
                            <p:stCondLst>
                              <p:cond delay="4000"/>
                            </p:stCondLst>
                            <p:childTnLst>
                              <p:par>
                                <p:cTn id="52" presetID="10" presetClass="entr" presetSubtype="0"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childTnLst>
                          </p:cTn>
                        </p:par>
                        <p:par>
                          <p:cTn id="55" fill="hold">
                            <p:stCondLst>
                              <p:cond delay="4500"/>
                            </p:stCondLst>
                            <p:childTnLst>
                              <p:par>
                                <p:cTn id="56" presetID="10" presetClass="entr" presetSubtype="0" fill="hold" grpId="0" nodeType="after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animBg="1"/>
      <p:bldP spid="6" grpId="0" animBg="1"/>
      <p:bldP spid="7" grpId="0" animBg="1"/>
      <p:bldP spid="22" grpId="0" animBg="1"/>
      <p:bldP spid="23" grpId="0" animBg="1"/>
      <p:bldP spid="33" grpId="0" animBg="1"/>
      <p:bldP spid="34" grpId="0" animBg="1"/>
      <p:bldP spid="35" grpId="0" animBg="1"/>
      <p:bldP spid="36" grpId="0"/>
      <p:bldP spid="37" grpId="0"/>
      <p:bldP spid="39" grpId="0"/>
      <p:bldP spid="4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资产配置</a:t>
            </a:r>
          </a:p>
        </p:txBody>
      </p:sp>
      <p:sp>
        <p:nvSpPr>
          <p:cNvPr id="3" name="Text Placeholder 2"/>
          <p:cNvSpPr>
            <a:spLocks noGrp="1"/>
          </p:cNvSpPr>
          <p:nvPr>
            <p:ph type="body" idx="1"/>
          </p:nvPr>
        </p:nvSpPr>
        <p:spPr/>
        <p:txBody>
          <a:bodyPr/>
          <a:lstStyle/>
          <a:p>
            <a:r>
              <a:t>02</a:t>
            </a:r>
          </a:p>
        </p:txBody>
      </p:sp>
      <p:sp>
        <p:nvSpPr>
          <p:cNvPr id="4" name="TextBox 3"/>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ETF轮动</a:t>
            </a:r>
          </a:p>
        </p:txBody>
      </p:sp>
      <p:sp>
        <p:nvSpPr>
          <p:cNvPr id="3" name="Text Placeholder 2"/>
          <p:cNvSpPr>
            <a:spLocks noGrp="1"/>
          </p:cNvSpPr>
          <p:nvPr>
            <p:ph type="body" idx="1"/>
          </p:nvPr>
        </p:nvSpPr>
        <p:spPr/>
        <p:txBody>
          <a:bodyPr/>
          <a:lstStyle/>
          <a:p>
            <a:r>
              <a:t>03</a:t>
            </a:r>
          </a:p>
        </p:txBody>
      </p:sp>
      <p:sp>
        <p:nvSpPr>
          <p:cNvPr id="4" name="TextBox 3"/>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ETF轮动策略：核心思路</a:t>
            </a:r>
          </a:p>
        </p:txBody>
      </p:sp>
      <p:sp>
        <p:nvSpPr>
          <p:cNvPr id="3" name="TextBox 2"/>
          <p:cNvSpPr txBox="1"/>
          <p:nvPr/>
        </p:nvSpPr>
        <p:spPr>
          <a:xfrm>
            <a:off x="548640" y="1417320"/>
            <a:ext cx="10972800" cy="4754880"/>
          </a:xfrm>
          <a:prstGeom prst="rect">
            <a:avLst/>
          </a:prstGeom>
          <a:noFill/>
        </p:spPr>
        <p:txBody>
          <a:bodyPr wrap="square">
            <a:spAutoFit/>
          </a:bodyPr>
          <a:lstStyle/>
          <a:p>
            <a:pPr>
              <a:spcAft>
                <a:spcPts val="1000"/>
              </a:spcAft>
              <a:defRPr sz="1800">
                <a:solidFill>
                  <a:srgbClr val="1F4E79"/>
                </a:solidFill>
              </a:defRPr>
            </a:pPr>
            <a:r>
              <a:t>ETF轮动策略的本质：为ETF产品配置相应权重，以战胜既定基准。</a:t>
            </a:r>
          </a:p>
          <a:p>
            <a:pPr>
              <a:spcAft>
                <a:spcPts val="1000"/>
              </a:spcAft>
              <a:defRPr sz="1800">
                <a:solidFill>
                  <a:srgbClr val="1F4E79"/>
                </a:solidFill>
              </a:defRPr>
            </a:pPr>
            <a:r>
              <a:t>核心难点：每一期如何决定ETF的配置比例。</a:t>
            </a:r>
          </a:p>
          <a:p>
            <a:pPr>
              <a:spcAft>
                <a:spcPts val="1000"/>
              </a:spcAft>
              <a:defRPr sz="1800">
                <a:solidFill>
                  <a:srgbClr val="1F4E79"/>
                </a:solidFill>
              </a:defRPr>
            </a:pPr>
            <a:r>
              <a:t>银华FOF方案：让最优秀的基金组合指引ETF配置比例，解决最难的环节。</a:t>
            </a:r>
          </a:p>
          <a:p>
            <a:pPr>
              <a:spcAft>
                <a:spcPts val="1000"/>
              </a:spcAft>
              <a:defRPr sz="1800">
                <a:solidFill>
                  <a:srgbClr val="1F4E79"/>
                </a:solidFill>
              </a:defRPr>
            </a:pPr>
            <a:r>
              <a:t>在选基模型已实盘验证稳定超额（相对930950）的基础上，</a:t>
            </a:r>
          </a:p>
          <a:p>
            <a:pPr>
              <a:spcAft>
                <a:spcPts val="1000"/>
              </a:spcAft>
              <a:defRPr sz="1800">
                <a:solidFill>
                  <a:srgbClr val="1F4E79"/>
                </a:solidFill>
              </a:defRPr>
            </a:pPr>
            <a:r>
              <a:t>开发ETF替代组合，回测对930950同样具备稳定超额，具备产品化条件。</a:t>
            </a:r>
          </a:p>
        </p:txBody>
      </p:sp>
      <p:sp>
        <p:nvSpPr>
          <p:cNvPr id="4" name="TextBox 3"/>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机器学习选基模型：评价指标</a:t>
            </a:r>
          </a:p>
        </p:txBody>
      </p:sp>
      <p:pic>
        <p:nvPicPr>
          <p:cNvPr id="3" name="Picture 2" descr="fund_model_kpi.png"/>
          <p:cNvPicPr>
            <a:picLocks noChangeAspect="1"/>
          </p:cNvPicPr>
          <p:nvPr/>
        </p:nvPicPr>
        <p:blipFill>
          <a:blip r:embed="rId2"/>
          <a:stretch>
            <a:fillRect/>
          </a:stretch>
        </p:blipFill>
        <p:spPr>
          <a:xfrm>
            <a:off x="614098" y="1415716"/>
            <a:ext cx="9663764" cy="4026568"/>
          </a:xfrm>
          <a:prstGeom prst="rect">
            <a:avLst/>
          </a:prstGeom>
        </p:spPr>
      </p:pic>
      <p:sp>
        <p:nvSpPr>
          <p:cNvPr id="4" name="TextBox 3"/>
          <p:cNvSpPr txBox="1"/>
          <p:nvPr/>
        </p:nvSpPr>
        <p:spPr>
          <a:xfrm>
            <a:off x="336332" y="6585306"/>
            <a:ext cx="8841122" cy="252730"/>
          </a:xfrm>
          <a:prstGeom prst="rect">
            <a:avLst/>
          </a:prstGeom>
          <a:noFill/>
        </p:spPr>
        <p:txBody>
          <a:bodyPr wrap="none">
            <a:spAutoFit/>
          </a:bodyPr>
          <a:lstStyle/>
          <a:p>
            <a:pPr>
              <a:defRPr sz="1000">
                <a:solidFill>
                  <a:srgbClr val="595959"/>
                </a:solidFill>
              </a:defRPr>
            </a:pPr>
            <a:r>
              <a:t>注：数据来源银华基金、Wind；行业配置上限25%。</a:t>
            </a:r>
          </a:p>
        </p:txBody>
      </p:sp>
      <p:sp>
        <p:nvSpPr>
          <p:cNvPr id="5" name="TextBox 4"/>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机器学习选基模型：逐年超额收益</a:t>
            </a:r>
          </a:p>
        </p:txBody>
      </p:sp>
      <p:pic>
        <p:nvPicPr>
          <p:cNvPr id="3" name="Picture 2" descr="fund_model_annual_excess.png"/>
          <p:cNvPicPr>
            <a:picLocks noChangeAspect="1"/>
          </p:cNvPicPr>
          <p:nvPr/>
        </p:nvPicPr>
        <p:blipFill>
          <a:blip r:embed="rId2"/>
          <a:stretch>
            <a:fillRect/>
          </a:stretch>
        </p:blipFill>
        <p:spPr>
          <a:xfrm>
            <a:off x="614098" y="1415716"/>
            <a:ext cx="9663764" cy="4026568"/>
          </a:xfrm>
          <a:prstGeom prst="rect">
            <a:avLst/>
          </a:prstGeom>
        </p:spPr>
      </p:pic>
      <p:sp>
        <p:nvSpPr>
          <p:cNvPr id="4" name="TextBox 3"/>
          <p:cNvSpPr txBox="1"/>
          <p:nvPr/>
        </p:nvSpPr>
        <p:spPr>
          <a:xfrm>
            <a:off x="336332" y="6585306"/>
            <a:ext cx="8841122" cy="252730"/>
          </a:xfrm>
          <a:prstGeom prst="rect">
            <a:avLst/>
          </a:prstGeom>
          <a:noFill/>
        </p:spPr>
        <p:txBody>
          <a:bodyPr wrap="none">
            <a:spAutoFit/>
          </a:bodyPr>
          <a:lstStyle/>
          <a:p>
            <a:pPr>
              <a:defRPr sz="1000">
                <a:solidFill>
                  <a:srgbClr val="595959"/>
                </a:solidFill>
              </a:defRPr>
            </a:pPr>
            <a:r>
              <a:t>注：2017-2026年，相对930950多数年份取得正超额。</a:t>
            </a:r>
          </a:p>
        </p:txBody>
      </p:sp>
      <p:sp>
        <p:nvSpPr>
          <p:cNvPr id="5" name="TextBox 4"/>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ETF替代组合结构：85/10/5</a:t>
            </a:r>
          </a:p>
        </p:txBody>
      </p:sp>
      <p:pic>
        <p:nvPicPr>
          <p:cNvPr id="3" name="Picture 2" descr="portfolio_structure.png"/>
          <p:cNvPicPr>
            <a:picLocks noChangeAspect="1"/>
          </p:cNvPicPr>
          <p:nvPr/>
        </p:nvPicPr>
        <p:blipFill>
          <a:blip r:embed="rId2"/>
          <a:stretch>
            <a:fillRect/>
          </a:stretch>
        </p:blipFill>
        <p:spPr>
          <a:xfrm>
            <a:off x="614098" y="1415716"/>
            <a:ext cx="9663764" cy="4026568"/>
          </a:xfrm>
          <a:prstGeom prst="rect">
            <a:avLst/>
          </a:prstGeom>
        </p:spPr>
      </p:pic>
      <p:sp>
        <p:nvSpPr>
          <p:cNvPr id="4" name="TextBox 3"/>
          <p:cNvSpPr txBox="1"/>
          <p:nvPr/>
        </p:nvSpPr>
        <p:spPr>
          <a:xfrm>
            <a:off x="336332" y="6585306"/>
            <a:ext cx="8841122" cy="252730"/>
          </a:xfrm>
          <a:prstGeom prst="rect">
            <a:avLst/>
          </a:prstGeom>
          <a:noFill/>
        </p:spPr>
        <p:txBody>
          <a:bodyPr wrap="none">
            <a:spAutoFit/>
          </a:bodyPr>
          <a:lstStyle/>
          <a:p>
            <a:pPr>
              <a:defRPr sz="1000">
                <a:solidFill>
                  <a:srgbClr val="595959"/>
                </a:solidFill>
              </a:defRPr>
            </a:pPr>
            <a:r>
              <a:t>注：核心85%+卫星10%+货币5%；仅持有行业ETF与货币ETF。</a:t>
            </a:r>
          </a:p>
        </p:txBody>
      </p:sp>
      <p:sp>
        <p:nvSpPr>
          <p:cNvPr id="5" name="TextBox 4"/>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ETF轮动策略：实施流程</a:t>
            </a:r>
          </a:p>
        </p:txBody>
      </p:sp>
      <p:pic>
        <p:nvPicPr>
          <p:cNvPr id="3" name="Picture 2" descr="etf_strategy_flow.png"/>
          <p:cNvPicPr>
            <a:picLocks noChangeAspect="1"/>
          </p:cNvPicPr>
          <p:nvPr/>
        </p:nvPicPr>
        <p:blipFill>
          <a:blip r:embed="rId2"/>
          <a:stretch>
            <a:fillRect/>
          </a:stretch>
        </p:blipFill>
        <p:spPr>
          <a:xfrm>
            <a:off x="614098" y="1415716"/>
            <a:ext cx="9663764" cy="4026568"/>
          </a:xfrm>
          <a:prstGeom prst="rect">
            <a:avLst/>
          </a:prstGeom>
        </p:spPr>
      </p:pic>
      <p:sp>
        <p:nvSpPr>
          <p:cNvPr id="4" name="TextBox 3"/>
          <p:cNvSpPr txBox="1"/>
          <p:nvPr/>
        </p:nvSpPr>
        <p:spPr>
          <a:xfrm>
            <a:off x="336332" y="6585306"/>
            <a:ext cx="8841122" cy="252730"/>
          </a:xfrm>
          <a:prstGeom prst="rect">
            <a:avLst/>
          </a:prstGeom>
          <a:noFill/>
        </p:spPr>
        <p:txBody>
          <a:bodyPr wrap="none">
            <a:spAutoFit/>
          </a:bodyPr>
          <a:lstStyle/>
          <a:p>
            <a:pPr>
              <a:defRPr sz="1000">
                <a:solidFill>
                  <a:srgbClr val="595959"/>
                </a:solidFill>
              </a:defRPr>
            </a:pPr>
            <a:r>
              <a:t>注：扩展窗口选基→行业穿透与35%上限优化→1B规则选ETF→组合落地。</a:t>
            </a:r>
          </a:p>
        </p:txBody>
      </p:sp>
      <p:sp>
        <p:nvSpPr>
          <p:cNvPr id="5" name="TextBox 4"/>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ETF替代策略：回测核心指标</a:t>
            </a:r>
          </a:p>
        </p:txBody>
      </p:sp>
      <p:pic>
        <p:nvPicPr>
          <p:cNvPr id="3" name="Picture 2" descr="etf_kpi_table.png"/>
          <p:cNvPicPr>
            <a:picLocks noChangeAspect="1"/>
          </p:cNvPicPr>
          <p:nvPr/>
        </p:nvPicPr>
        <p:blipFill>
          <a:blip r:embed="rId2"/>
          <a:stretch>
            <a:fillRect/>
          </a:stretch>
        </p:blipFill>
        <p:spPr>
          <a:xfrm>
            <a:off x="614098" y="1415716"/>
            <a:ext cx="9663764" cy="4026568"/>
          </a:xfrm>
          <a:prstGeom prst="rect">
            <a:avLst/>
          </a:prstGeom>
        </p:spPr>
      </p:pic>
      <p:sp>
        <p:nvSpPr>
          <p:cNvPr id="4" name="TextBox 3"/>
          <p:cNvSpPr txBox="1"/>
          <p:nvPr/>
        </p:nvSpPr>
        <p:spPr>
          <a:xfrm>
            <a:off x="336332" y="6585306"/>
            <a:ext cx="8841122" cy="252730"/>
          </a:xfrm>
          <a:prstGeom prst="rect">
            <a:avLst/>
          </a:prstGeom>
          <a:noFill/>
        </p:spPr>
        <p:txBody>
          <a:bodyPr wrap="none">
            <a:spAutoFit/>
          </a:bodyPr>
          <a:lstStyle/>
          <a:p>
            <a:pPr>
              <a:defRPr sz="1000">
                <a:solidFill>
                  <a:srgbClr val="595959"/>
                </a:solidFill>
              </a:defRPr>
            </a:pPr>
            <a:r>
              <a:t>注：扩展窗口|上限35%|85/10/5|1B穿透；单只ETF≤20%。</a:t>
            </a:r>
          </a:p>
        </p:txBody>
      </p:sp>
      <p:sp>
        <p:nvSpPr>
          <p:cNvPr id="5" name="TextBox 4"/>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ETF替代策略：逐年超额收益（2021起）</a:t>
            </a:r>
          </a:p>
        </p:txBody>
      </p:sp>
      <p:pic>
        <p:nvPicPr>
          <p:cNvPr id="3" name="Picture 2" descr="etf_annual_excess_compare.png"/>
          <p:cNvPicPr>
            <a:picLocks noChangeAspect="1"/>
          </p:cNvPicPr>
          <p:nvPr/>
        </p:nvPicPr>
        <p:blipFill>
          <a:blip r:embed="rId2"/>
          <a:stretch>
            <a:fillRect/>
          </a:stretch>
        </p:blipFill>
        <p:spPr>
          <a:xfrm>
            <a:off x="614098" y="1415716"/>
            <a:ext cx="9663764" cy="4026568"/>
          </a:xfrm>
          <a:prstGeom prst="rect">
            <a:avLst/>
          </a:prstGeom>
        </p:spPr>
      </p:pic>
      <p:sp>
        <p:nvSpPr>
          <p:cNvPr id="4" name="TextBox 3"/>
          <p:cNvSpPr txBox="1"/>
          <p:nvPr/>
        </p:nvSpPr>
        <p:spPr>
          <a:xfrm>
            <a:off x="336332" y="6585306"/>
            <a:ext cx="8841122" cy="252730"/>
          </a:xfrm>
          <a:prstGeom prst="rect">
            <a:avLst/>
          </a:prstGeom>
          <a:noFill/>
        </p:spPr>
        <p:txBody>
          <a:bodyPr wrap="none">
            <a:spAutoFit/>
          </a:bodyPr>
          <a:lstStyle/>
          <a:p>
            <a:pPr>
              <a:defRPr sz="1000">
                <a:solidFill>
                  <a:srgbClr val="595959"/>
                </a:solidFill>
              </a:defRPr>
            </a:pPr>
            <a:r>
              <a:t>注：固定窗口与扩展窗口均对930950具备正超额。</a:t>
            </a:r>
          </a:p>
        </p:txBody>
      </p:sp>
      <p:sp>
        <p:nvSpPr>
          <p:cNvPr id="5" name="TextBox 4"/>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ETF替代策略：操作要点</a:t>
            </a:r>
          </a:p>
        </p:txBody>
      </p:sp>
      <p:sp>
        <p:nvSpPr>
          <p:cNvPr id="3" name="TextBox 2"/>
          <p:cNvSpPr txBox="1"/>
          <p:nvPr/>
        </p:nvSpPr>
        <p:spPr>
          <a:xfrm>
            <a:off x="548640" y="1417320"/>
            <a:ext cx="10972800" cy="4754880"/>
          </a:xfrm>
          <a:prstGeom prst="rect">
            <a:avLst/>
          </a:prstGeom>
          <a:noFill/>
        </p:spPr>
        <p:txBody>
          <a:bodyPr wrap="square">
            <a:spAutoFit/>
          </a:bodyPr>
          <a:lstStyle/>
          <a:p>
            <a:pPr>
              <a:spcAft>
                <a:spcPts val="1000"/>
              </a:spcAft>
              <a:defRPr sz="1800">
                <a:solidFill>
                  <a:srgbClr val="1F4E79"/>
                </a:solidFill>
              </a:defRPr>
            </a:pPr>
            <a:r>
              <a:t>选基模型：扩展窗口-30天间隔，每期Top20基金，单行业≤35%优化。</a:t>
            </a:r>
          </a:p>
          <a:p>
            <a:pPr>
              <a:spcAft>
                <a:spcPts val="1000"/>
              </a:spcAft>
              <a:defRPr sz="1800">
                <a:solidFill>
                  <a:srgbClr val="1F4E79"/>
                </a:solidFill>
              </a:defRPr>
            </a:pPr>
            <a:r>
              <a:t>核心袖套（85%）：优化后行业权重 → 1B规则映射行业ETF（250日收益优选）。</a:t>
            </a:r>
          </a:p>
          <a:p>
            <a:pPr>
              <a:spcAft>
                <a:spcPts val="1000"/>
              </a:spcAft>
              <a:defRPr sz="1800">
                <a:solidFill>
                  <a:srgbClr val="1F4E79"/>
                </a:solidFill>
              </a:defRPr>
            </a:pPr>
            <a:r>
              <a:t>卫星袖套（10%）：TOP20穿透行业权重 → 同一套ETF映射规则。</a:t>
            </a:r>
          </a:p>
          <a:p>
            <a:pPr>
              <a:spcAft>
                <a:spcPts val="1000"/>
              </a:spcAft>
              <a:defRPr sz="1800">
                <a:solidFill>
                  <a:srgbClr val="1F4E79"/>
                </a:solidFill>
              </a:defRPr>
            </a:pPr>
            <a:r>
              <a:t>货币袖套（5%）：511990.SH，满足开放式基金现金约束。</a:t>
            </a:r>
          </a:p>
          <a:p>
            <a:pPr>
              <a:spcAft>
                <a:spcPts val="1000"/>
              </a:spcAft>
              <a:defRPr sz="1800">
                <a:solidFill>
                  <a:srgbClr val="1F4E79"/>
                </a:solidFill>
              </a:defRPr>
            </a:pPr>
            <a:r>
              <a:t>FOF合规：单只ETF持仓上限20%，超额权重溢向次优候选。</a:t>
            </a:r>
          </a:p>
          <a:p>
            <a:pPr>
              <a:spcAft>
                <a:spcPts val="1000"/>
              </a:spcAft>
              <a:defRPr sz="1800">
                <a:solidFill>
                  <a:srgbClr val="1F4E79"/>
                </a:solidFill>
              </a:defRPr>
            </a:pPr>
            <a:r>
              <a:t>调仓频率约30天；组合层仅行业ETF+货币ETF，不持有主动基金。</a:t>
            </a:r>
          </a:p>
        </p:txBody>
      </p:sp>
      <p:sp>
        <p:nvSpPr>
          <p:cNvPr id="4" name="TextBox 3"/>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3430" y="318990"/>
            <a:ext cx="7795192" cy="430887"/>
          </a:xfrm>
          <a:prstGeom prst="rect">
            <a:avLst/>
          </a:prstGeom>
          <a:noFill/>
        </p:spPr>
        <p:txBody>
          <a:bodyPr wrap="none">
            <a:spAutoFit/>
          </a:bodyPr>
          <a:lstStyle/>
          <a:p>
            <a:pPr>
              <a:defRPr sz="2800" b="1">
                <a:solidFill>
                  <a:srgbClr val="1F4E79"/>
                </a:solidFill>
              </a:defRPr>
            </a:pPr>
            <a:r>
              <a:t>策略产品化与实盘可行性</a:t>
            </a:r>
          </a:p>
        </p:txBody>
      </p:sp>
      <p:sp>
        <p:nvSpPr>
          <p:cNvPr id="3" name="TextBox 2"/>
          <p:cNvSpPr txBox="1"/>
          <p:nvPr/>
        </p:nvSpPr>
        <p:spPr>
          <a:xfrm>
            <a:off x="548640" y="1417320"/>
            <a:ext cx="10972800" cy="4754880"/>
          </a:xfrm>
          <a:prstGeom prst="rect">
            <a:avLst/>
          </a:prstGeom>
          <a:noFill/>
        </p:spPr>
        <p:txBody>
          <a:bodyPr wrap="square">
            <a:spAutoFit/>
          </a:bodyPr>
          <a:lstStyle/>
          <a:p>
            <a:pPr>
              <a:spcAft>
                <a:spcPts val="1000"/>
              </a:spcAft>
              <a:defRPr sz="1800">
                <a:solidFill>
                  <a:srgbClr val="1F4E79"/>
                </a:solidFill>
              </a:defRPr>
            </a:pPr>
            <a:r>
              <a:t>选基模型：已实盘检验，相对930950年化超额约10%，超额回撤修复能力强。</a:t>
            </a:r>
          </a:p>
          <a:p>
            <a:pPr>
              <a:spcAft>
                <a:spcPts val="1000"/>
              </a:spcAft>
              <a:defRPr sz="1800">
                <a:solidFill>
                  <a:srgbClr val="1F4E79"/>
                </a:solidFill>
              </a:defRPr>
            </a:pPr>
            <a:r>
              <a:t>ETF替代组合：回测CAGR超额+2.07%（全样本），2021起超额+4.92%。</a:t>
            </a:r>
          </a:p>
          <a:p>
            <a:pPr>
              <a:spcAft>
                <a:spcPts val="1000"/>
              </a:spcAft>
              <a:defRPr sz="1800">
                <a:solidFill>
                  <a:srgbClr val="1F4E79"/>
                </a:solidFill>
              </a:defRPr>
            </a:pPr>
            <a:r>
              <a:t>持仓透明：全部为ETF，便于券商FOF产品发行与日常运作。</a:t>
            </a:r>
          </a:p>
          <a:p>
            <a:pPr>
              <a:spcAft>
                <a:spcPts val="1000"/>
              </a:spcAft>
              <a:defRPr sz="1800">
                <a:solidFill>
                  <a:srgbClr val="1F4E79"/>
                </a:solidFill>
              </a:defRPr>
            </a:pPr>
            <a:r>
              <a:t>规则清晰：调仓日、行业权重、ETF映射均有完整数据链路，可系统化执行。</a:t>
            </a:r>
          </a:p>
          <a:p>
            <a:pPr>
              <a:spcAft>
                <a:spcPts val="1000"/>
              </a:spcAft>
              <a:defRPr sz="1800">
                <a:solidFill>
                  <a:srgbClr val="1F4E79"/>
                </a:solidFill>
              </a:defRPr>
            </a:pPr>
            <a:r>
              <a:t>风控完备：行业上限35%、单券上限20%、现金比例5%，符合FOF合规要求。</a:t>
            </a:r>
          </a:p>
        </p:txBody>
      </p:sp>
      <p:sp>
        <p:nvSpPr>
          <p:cNvPr id="4" name="TextBox 3"/>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ETF收益增强</a:t>
            </a:r>
          </a:p>
        </p:txBody>
      </p:sp>
      <p:sp>
        <p:nvSpPr>
          <p:cNvPr id="3" name="Text Placeholder 2"/>
          <p:cNvSpPr>
            <a:spLocks noGrp="1"/>
          </p:cNvSpPr>
          <p:nvPr>
            <p:ph type="body" idx="1"/>
          </p:nvPr>
        </p:nvSpPr>
        <p:spPr/>
        <p:txBody>
          <a:bodyPr/>
          <a:lstStyle/>
          <a:p>
            <a:r>
              <a:t>04</a:t>
            </a:r>
          </a:p>
        </p:txBody>
      </p:sp>
      <p:sp>
        <p:nvSpPr>
          <p:cNvPr id="4" name="TextBox 3"/>
          <p:cNvSpPr txBox="1"/>
          <p:nvPr/>
        </p:nvSpPr>
        <p:spPr>
          <a:xfrm>
            <a:off x="226244" y="6556585"/>
            <a:ext cx="6096000" cy="245110"/>
          </a:xfrm>
          <a:prstGeom prst="rect">
            <a:avLst/>
          </a:prstGeom>
          <a:noFill/>
        </p:spPr>
        <p:txBody>
          <a:bodyPr wrap="none">
            <a:spAutoFit/>
          </a:bodyPr>
          <a:lstStyle/>
          <a:p>
            <a:pPr>
              <a:defRPr sz="900">
                <a:solidFill>
                  <a:srgbClr val="808080"/>
                </a:solidFill>
              </a:defRPr>
            </a:pPr>
            <a:r>
              <a:t>基金有风险，投资需谨慎。禁止第三方机构摘引、截取或以其他不恰当方式转播。</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32.4,&quot;left&quot;:58.9,&quot;top&quot;:202.3,&quot;width&quot;:852.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85.95,&quot;left&quot;:24.95,&quot;top&quot;:106.25,&quot;width&quot;:435.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95.203937007874,&quot;left&quot;:481.8,&quot;top&quot;:108.35,&quot;width&quot;:451.6039370078739}"/>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TotalTime>
  <Words>7762</Words>
  <Application>Microsoft Office PowerPoint</Application>
  <PresentationFormat>宽屏</PresentationFormat>
  <Paragraphs>441</Paragraphs>
  <Slides>22</Slides>
  <Notes>16</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22</vt:i4>
      </vt:variant>
    </vt:vector>
  </HeadingPairs>
  <TitlesOfParts>
    <vt:vector size="40" baseType="lpstr">
      <vt:lpstr>Arial Unicode MS</vt:lpstr>
      <vt:lpstr>Inter</vt:lpstr>
      <vt:lpstr>Microsoft JhengHei</vt:lpstr>
      <vt:lpstr>OPPOSans R</vt:lpstr>
      <vt:lpstr>等线</vt:lpstr>
      <vt:lpstr>等线 Light</vt:lpstr>
      <vt:lpstr>方正清刻本悦宋简体</vt:lpstr>
      <vt:lpstr>黑体</vt:lpstr>
      <vt:lpstr>宋体</vt:lpstr>
      <vt:lpstr>微软雅黑</vt:lpstr>
      <vt:lpstr>新宋体</vt:lpstr>
      <vt:lpstr>Arial</vt:lpstr>
      <vt:lpstr>Arial Black</vt:lpstr>
      <vt:lpstr>Century Gothic</vt:lpstr>
      <vt:lpstr>Times New Roman</vt:lpstr>
      <vt:lpstr>Wingdings</vt:lpstr>
      <vt:lpstr>自定义设计方案</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声明页</vt:lpstr>
      <vt:lpstr>风险提示</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cp:lastModifiedBy>
  <cp:revision>382</cp:revision>
  <cp:lastPrinted>2018-05-30T02:01:00Z</cp:lastPrinted>
  <dcterms:created xsi:type="dcterms:W3CDTF">2018-01-28T11:43:00Z</dcterms:created>
  <dcterms:modified xsi:type="dcterms:W3CDTF">2026-08-28T05:54:17Z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178F23C9F60749DABAF49D7F5025EF9D_12</vt:lpwstr>
  </property>
</Properties>
</file>